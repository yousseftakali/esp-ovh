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8" r:id="rId2"/>
  </p:sldIdLst>
  <p:sldSz cx="6858000" cy="12192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B6A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588"/>
    <p:restoredTop sz="94632"/>
  </p:normalViewPr>
  <p:slideViewPr>
    <p:cSldViewPr snapToGrid="0">
      <p:cViewPr>
        <p:scale>
          <a:sx n="150" d="100"/>
          <a:sy n="150" d="100"/>
        </p:scale>
        <p:origin x="139" y="-59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DD0F35-2838-124D-BFAA-F86900E7DFE2}" type="datetimeFigureOut">
              <a:rPr lang="fr-FR" smtClean="0"/>
              <a:t>08/04/2026</a:t>
            </a:fld>
            <a:endParaRPr lang="fr-FR"/>
          </a:p>
        </p:txBody>
      </p:sp>
      <p:sp>
        <p:nvSpPr>
          <p:cNvPr id="4" name="Slide Image Placeholder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FD4AAD-3C3B-E343-993F-57DAA6EA5845}" type="slidenum">
              <a:rPr lang="fr-FR" smtClean="0"/>
              <a:t>‹N°›</a:t>
            </a:fld>
            <a:endParaRPr lang="fr-FR"/>
          </a:p>
        </p:txBody>
      </p:sp>
    </p:spTree>
    <p:extLst>
      <p:ext uri="{BB962C8B-B14F-4D97-AF65-F5344CB8AC3E}">
        <p14:creationId xmlns:p14="http://schemas.microsoft.com/office/powerpoint/2010/main" val="3247511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72806-EEAE-B778-AA4A-EA2094476D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C3B82-A199-093F-269B-56E8AA3B0B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BCFE26-9BD1-2BFF-B35F-18998C8350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6D710C-5DDD-689A-88FD-A0C1D570D326}"/>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4158427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857250" y="1995312"/>
            <a:ext cx="5143500" cy="4244622"/>
          </a:xfrm>
        </p:spPr>
        <p:txBody>
          <a:bodyPr anchor="b"/>
          <a:lstStyle>
            <a:lvl1pPr algn="ctr">
              <a:defRPr sz="3375"/>
            </a:lvl1pPr>
          </a:lstStyle>
          <a:p>
            <a:r>
              <a:rPr lang="fr-FR"/>
              <a:t>Modifiez le style du titre</a:t>
            </a:r>
          </a:p>
        </p:txBody>
      </p:sp>
      <p:sp>
        <p:nvSpPr>
          <p:cNvPr id="3" name="Sous-titre 2"/>
          <p:cNvSpPr>
            <a:spLocks noGrp="1"/>
          </p:cNvSpPr>
          <p:nvPr>
            <p:ph type="subTitle" idx="1"/>
          </p:nvPr>
        </p:nvSpPr>
        <p:spPr>
          <a:xfrm>
            <a:off x="857250" y="6403623"/>
            <a:ext cx="5143500" cy="2943577"/>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08/04/2026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1049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08/04/2026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84179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467916" y="3039535"/>
            <a:ext cx="5915025" cy="5071532"/>
          </a:xfrm>
        </p:spPr>
        <p:txBody>
          <a:bodyPr anchor="b"/>
          <a:lstStyle>
            <a:lvl1pPr>
              <a:defRPr sz="3375"/>
            </a:lvl1pPr>
          </a:lstStyle>
          <a:p>
            <a:r>
              <a:rPr lang="fr-FR"/>
              <a:t>Modifiez le style du titre</a:t>
            </a:r>
          </a:p>
        </p:txBody>
      </p:sp>
      <p:sp>
        <p:nvSpPr>
          <p:cNvPr id="3" name="Espace réservé du texte 2"/>
          <p:cNvSpPr>
            <a:spLocks noGrp="1"/>
          </p:cNvSpPr>
          <p:nvPr>
            <p:ph type="body" idx="1"/>
          </p:nvPr>
        </p:nvSpPr>
        <p:spPr>
          <a:xfrm>
            <a:off x="467916" y="8159046"/>
            <a:ext cx="5915025" cy="2666999"/>
          </a:xfrm>
        </p:spPr>
        <p:txBody>
          <a:bodyPr/>
          <a:lstStyle>
            <a:lvl1pPr marL="0" indent="0">
              <a:buNone/>
              <a:defRPr sz="1350">
                <a:solidFill>
                  <a:schemeClr val="tx1">
                    <a:tint val="82000"/>
                  </a:schemeClr>
                </a:solidFill>
              </a:defRPr>
            </a:lvl1pPr>
            <a:lvl2pPr marL="257175" indent="0">
              <a:buNone/>
              <a:defRPr sz="1125">
                <a:solidFill>
                  <a:schemeClr val="tx1">
                    <a:tint val="82000"/>
                  </a:schemeClr>
                </a:solidFill>
              </a:defRPr>
            </a:lvl2pPr>
            <a:lvl3pPr marL="514350" indent="0">
              <a:buNone/>
              <a:defRPr sz="1013">
                <a:solidFill>
                  <a:schemeClr val="tx1">
                    <a:tint val="82000"/>
                  </a:schemeClr>
                </a:solidFill>
              </a:defRPr>
            </a:lvl3pPr>
            <a:lvl4pPr marL="771525" indent="0">
              <a:buNone/>
              <a:defRPr sz="900">
                <a:solidFill>
                  <a:schemeClr val="tx1">
                    <a:tint val="82000"/>
                  </a:schemeClr>
                </a:solidFill>
              </a:defRPr>
            </a:lvl4pPr>
            <a:lvl5pPr marL="1028700" indent="0">
              <a:buNone/>
              <a:defRPr sz="900">
                <a:solidFill>
                  <a:schemeClr val="tx1">
                    <a:tint val="82000"/>
                  </a:schemeClr>
                </a:solidFill>
              </a:defRPr>
            </a:lvl5pPr>
            <a:lvl6pPr marL="1285875" indent="0">
              <a:buNone/>
              <a:defRPr sz="900">
                <a:solidFill>
                  <a:schemeClr val="tx1">
                    <a:tint val="82000"/>
                  </a:schemeClr>
                </a:solidFill>
              </a:defRPr>
            </a:lvl6pPr>
            <a:lvl7pPr marL="1543050" indent="0">
              <a:buNone/>
              <a:defRPr sz="900">
                <a:solidFill>
                  <a:schemeClr val="tx1">
                    <a:tint val="82000"/>
                  </a:schemeClr>
                </a:solidFill>
              </a:defRPr>
            </a:lvl7pPr>
            <a:lvl8pPr marL="1800225" indent="0">
              <a:buNone/>
              <a:defRPr sz="900">
                <a:solidFill>
                  <a:schemeClr val="tx1">
                    <a:tint val="82000"/>
                  </a:schemeClr>
                </a:solidFill>
              </a:defRPr>
            </a:lvl8pPr>
            <a:lvl9pPr marL="2057400" indent="0">
              <a:buNone/>
              <a:defRPr sz="900">
                <a:solidFill>
                  <a:schemeClr val="tx1">
                    <a:tint val="82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08/04/2026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466923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71488" y="3245556"/>
            <a:ext cx="2914650" cy="7735712"/>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3471863" y="3245556"/>
            <a:ext cx="2914650" cy="7735712"/>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38941B0-F4D5-4460-BCAD-F7E2B41A8257}" type="datetimeFigureOut">
              <a:rPr lang="fr-FR" smtClean="0"/>
              <a:t>08/04/2026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74763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72381" y="649112"/>
            <a:ext cx="5915025" cy="2356556"/>
          </a:xfrm>
        </p:spPr>
        <p:txBody>
          <a:bodyPr/>
          <a:lstStyle/>
          <a:p>
            <a:r>
              <a:rPr lang="fr-FR"/>
              <a:t>Modifiez le style du titre</a:t>
            </a:r>
          </a:p>
        </p:txBody>
      </p:sp>
      <p:sp>
        <p:nvSpPr>
          <p:cNvPr id="3" name="Espace réservé du texte 2"/>
          <p:cNvSpPr>
            <a:spLocks noGrp="1"/>
          </p:cNvSpPr>
          <p:nvPr>
            <p:ph type="body" idx="1"/>
          </p:nvPr>
        </p:nvSpPr>
        <p:spPr>
          <a:xfrm>
            <a:off x="472381" y="2988734"/>
            <a:ext cx="2901255" cy="146473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Modifiez les styles du texte du masque</a:t>
            </a:r>
          </a:p>
        </p:txBody>
      </p:sp>
      <p:sp>
        <p:nvSpPr>
          <p:cNvPr id="4" name="Espace réservé du contenu 3"/>
          <p:cNvSpPr>
            <a:spLocks noGrp="1"/>
          </p:cNvSpPr>
          <p:nvPr>
            <p:ph sz="half" idx="2"/>
          </p:nvPr>
        </p:nvSpPr>
        <p:spPr>
          <a:xfrm>
            <a:off x="472381" y="4453467"/>
            <a:ext cx="2901255" cy="6550379"/>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3471863" y="2988734"/>
            <a:ext cx="2915543" cy="146473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Modifiez les styles du texte du masque</a:t>
            </a:r>
          </a:p>
        </p:txBody>
      </p:sp>
      <p:sp>
        <p:nvSpPr>
          <p:cNvPr id="6" name="Espace réservé du contenu 5"/>
          <p:cNvSpPr>
            <a:spLocks noGrp="1"/>
          </p:cNvSpPr>
          <p:nvPr>
            <p:ph sz="quarter" idx="4"/>
          </p:nvPr>
        </p:nvSpPr>
        <p:spPr>
          <a:xfrm>
            <a:off x="3471863" y="4453467"/>
            <a:ext cx="2915543" cy="6550379"/>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38941B0-F4D5-4460-BCAD-F7E2B41A8257}" type="datetimeFigureOut">
              <a:rPr lang="fr-FR" smtClean="0"/>
              <a:t>08/04/2026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61186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38941B0-F4D5-4460-BCAD-F7E2B41A8257}" type="datetimeFigureOut">
              <a:rPr lang="fr-FR" smtClean="0"/>
              <a:t>08/04/2026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95854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38941B0-F4D5-4460-BCAD-F7E2B41A8257}" type="datetimeFigureOut">
              <a:rPr lang="fr-FR" smtClean="0"/>
              <a:t>08/04/2026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04020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72381" y="812800"/>
            <a:ext cx="2211883" cy="2844800"/>
          </a:xfrm>
        </p:spPr>
        <p:txBody>
          <a:bodyPr anchor="b"/>
          <a:lstStyle>
            <a:lvl1pPr>
              <a:defRPr sz="1800"/>
            </a:lvl1pPr>
          </a:lstStyle>
          <a:p>
            <a:r>
              <a:rPr lang="fr-FR"/>
              <a:t>Modifiez le style du titre</a:t>
            </a:r>
          </a:p>
        </p:txBody>
      </p:sp>
      <p:sp>
        <p:nvSpPr>
          <p:cNvPr id="3" name="Espace réservé du contenu 2"/>
          <p:cNvSpPr>
            <a:spLocks noGrp="1"/>
          </p:cNvSpPr>
          <p:nvPr>
            <p:ph idx="1"/>
          </p:nvPr>
        </p:nvSpPr>
        <p:spPr>
          <a:xfrm>
            <a:off x="2915543" y="1755423"/>
            <a:ext cx="3471863" cy="8664222"/>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72381" y="3657600"/>
            <a:ext cx="2211883" cy="6776156"/>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08/04/2026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706407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72381" y="812800"/>
            <a:ext cx="2211883" cy="2844800"/>
          </a:xfrm>
        </p:spPr>
        <p:txBody>
          <a:bodyPr anchor="b"/>
          <a:lstStyle>
            <a:lvl1pPr>
              <a:defRPr sz="1800"/>
            </a:lvl1pPr>
          </a:lstStyle>
          <a:p>
            <a:r>
              <a:rPr lang="fr-FR"/>
              <a:t>Modifiez le style du titre</a:t>
            </a:r>
          </a:p>
        </p:txBody>
      </p:sp>
      <p:sp>
        <p:nvSpPr>
          <p:cNvPr id="3" name="Espace réservé pour une image  2"/>
          <p:cNvSpPr>
            <a:spLocks noGrp="1"/>
          </p:cNvSpPr>
          <p:nvPr>
            <p:ph type="pic" idx="1"/>
          </p:nvPr>
        </p:nvSpPr>
        <p:spPr>
          <a:xfrm>
            <a:off x="2915543" y="1755423"/>
            <a:ext cx="3471863" cy="8664222"/>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fr-FR"/>
          </a:p>
        </p:txBody>
      </p:sp>
      <p:sp>
        <p:nvSpPr>
          <p:cNvPr id="4" name="Espace réservé du texte 3"/>
          <p:cNvSpPr>
            <a:spLocks noGrp="1"/>
          </p:cNvSpPr>
          <p:nvPr>
            <p:ph type="body" sz="half" idx="2"/>
          </p:nvPr>
        </p:nvSpPr>
        <p:spPr>
          <a:xfrm>
            <a:off x="472381" y="3657600"/>
            <a:ext cx="2211883" cy="6776156"/>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08/04/2026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61090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08/04/2026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17278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4907756" y="649111"/>
            <a:ext cx="1478756" cy="10332156"/>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71487" y="649111"/>
            <a:ext cx="4350544" cy="10332156"/>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08/04/2026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902177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28325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71488" y="649112"/>
            <a:ext cx="5915025" cy="2356556"/>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71488" y="11300179"/>
            <a:ext cx="1543050" cy="649111"/>
          </a:xfrm>
          <a:prstGeom prst="rect">
            <a:avLst/>
          </a:prstGeom>
        </p:spPr>
        <p:txBody>
          <a:bodyPr vert="horz" lIns="91440" tIns="45720" rIns="91440" bIns="45720" rtlCol="0" anchor="ctr"/>
          <a:lstStyle>
            <a:lvl1pPr algn="l">
              <a:defRPr sz="675">
                <a:solidFill>
                  <a:schemeClr val="tx1">
                    <a:tint val="82000"/>
                  </a:schemeClr>
                </a:solidFill>
              </a:defRPr>
            </a:lvl1pPr>
          </a:lstStyle>
          <a:p>
            <a:fld id="{638941B0-F4D5-4460-BCAD-F7E2B41A8257}" type="datetimeFigureOut">
              <a:rPr lang="fr-FR" smtClean="0"/>
              <a:t>08/04/2026</a:t>
            </a:fld>
            <a:endParaRPr lang="fr-FR"/>
          </a:p>
        </p:txBody>
      </p:sp>
      <p:sp>
        <p:nvSpPr>
          <p:cNvPr id="5" name="Espace réservé du pied de page 4"/>
          <p:cNvSpPr>
            <a:spLocks noGrp="1"/>
          </p:cNvSpPr>
          <p:nvPr>
            <p:ph type="ftr" sz="quarter" idx="3"/>
          </p:nvPr>
        </p:nvSpPr>
        <p:spPr>
          <a:xfrm>
            <a:off x="2271713" y="11300179"/>
            <a:ext cx="2314575" cy="649111"/>
          </a:xfrm>
          <a:prstGeom prst="rect">
            <a:avLst/>
          </a:prstGeom>
        </p:spPr>
        <p:txBody>
          <a:bodyPr vert="horz" lIns="91440" tIns="45720" rIns="91440" bIns="45720" rtlCol="0" anchor="ctr"/>
          <a:lstStyle>
            <a:lvl1pPr algn="ctr">
              <a:defRPr sz="675">
                <a:solidFill>
                  <a:schemeClr val="tx1">
                    <a:tint val="82000"/>
                  </a:schemeClr>
                </a:solidFill>
              </a:defRPr>
            </a:lvl1pPr>
          </a:lstStyle>
          <a:p>
            <a:endParaRPr lang="fr-FR"/>
          </a:p>
        </p:txBody>
      </p:sp>
      <p:sp>
        <p:nvSpPr>
          <p:cNvPr id="6" name="Espace réservé du numéro de diapositive 5"/>
          <p:cNvSpPr>
            <a:spLocks noGrp="1"/>
          </p:cNvSpPr>
          <p:nvPr>
            <p:ph type="sldNum" sz="quarter" idx="4"/>
          </p:nvPr>
        </p:nvSpPr>
        <p:spPr>
          <a:xfrm>
            <a:off x="4843463" y="11300179"/>
            <a:ext cx="1543050" cy="649111"/>
          </a:xfrm>
          <a:prstGeom prst="rect">
            <a:avLst/>
          </a:prstGeom>
        </p:spPr>
        <p:txBody>
          <a:bodyPr vert="horz" lIns="91440" tIns="45720" rIns="91440" bIns="45720" rtlCol="0" anchor="ctr"/>
          <a:lstStyle>
            <a:lvl1pPr algn="r">
              <a:defRPr sz="675">
                <a:solidFill>
                  <a:schemeClr val="tx1">
                    <a:tint val="82000"/>
                  </a:schemeClr>
                </a:solidFill>
              </a:defRPr>
            </a:lvl1pPr>
          </a:lstStyle>
          <a:p>
            <a:fld id="{27C6CCC6-2BE5-4E42-96A4-D1E8E81A3D8E}" type="slidenum">
              <a:rPr lang="fr-FR" smtClean="0"/>
              <a:t>‹N°›</a:t>
            </a:fld>
            <a:endParaRPr lang="fr-FR"/>
          </a:p>
        </p:txBody>
      </p:sp>
    </p:spTree>
    <p:extLst>
      <p:ext uri="{BB962C8B-B14F-4D97-AF65-F5344CB8AC3E}">
        <p14:creationId xmlns:p14="http://schemas.microsoft.com/office/powerpoint/2010/main" val="307112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3754C-6CF0-E86C-5BB8-A41EF0943574}"/>
            </a:ext>
          </a:extLst>
        </p:cNvPr>
        <p:cNvGrpSpPr/>
        <p:nvPr/>
      </p:nvGrpSpPr>
      <p:grpSpPr>
        <a:xfrm>
          <a:off x="0" y="0"/>
          <a:ext cx="0" cy="0"/>
          <a:chOff x="0" y="0"/>
          <a:chExt cx="0" cy="0"/>
        </a:xfrm>
      </p:grpSpPr>
      <p:sp>
        <p:nvSpPr>
          <p:cNvPr id="10" name="Text 7">
            <a:extLst>
              <a:ext uri="{FF2B5EF4-FFF2-40B4-BE49-F238E27FC236}">
                <a16:creationId xmlns:a16="http://schemas.microsoft.com/office/drawing/2014/main" id="{66C7C670-EBDB-74B2-76E1-3EF36373D6A0}"/>
              </a:ext>
            </a:extLst>
          </p:cNvPr>
          <p:cNvSpPr/>
          <p:nvPr/>
        </p:nvSpPr>
        <p:spPr>
          <a:xfrm>
            <a:off x="689287" y="441451"/>
            <a:ext cx="5451564" cy="550956"/>
          </a:xfrm>
          <a:prstGeom prst="rect">
            <a:avLst/>
          </a:prstGeom>
          <a:noFill/>
          <a:ln/>
        </p:spPr>
        <p:txBody>
          <a:bodyPr wrap="square" lIns="0" tIns="0" rIns="0" bIns="0" rtlCol="0" anchor="ctr"/>
          <a:lstStyle/>
          <a:p>
            <a:pPr algn="ctr"/>
            <a:r>
              <a:rPr lang="fr-FR" sz="1400" b="1" dirty="0" err="1"/>
              <a:t>EspriHub</a:t>
            </a:r>
            <a:r>
              <a:rPr lang="fr-FR" sz="1400" b="1" dirty="0"/>
              <a:t>: A Git-</a:t>
            </a:r>
            <a:r>
              <a:rPr lang="fr-FR" sz="1400" b="1" dirty="0" err="1"/>
              <a:t>based</a:t>
            </a:r>
            <a:r>
              <a:rPr lang="fr-FR" sz="1400" b="1" dirty="0"/>
              <a:t> Academic Platform for Project and Evaluation Management</a:t>
            </a:r>
            <a:endParaRPr lang="fr-FR" sz="1400" dirty="0"/>
          </a:p>
        </p:txBody>
      </p:sp>
      <p:sp>
        <p:nvSpPr>
          <p:cNvPr id="11" name="Shape 8">
            <a:extLst>
              <a:ext uri="{FF2B5EF4-FFF2-40B4-BE49-F238E27FC236}">
                <a16:creationId xmlns:a16="http://schemas.microsoft.com/office/drawing/2014/main" id="{A9CB875E-1CBE-6FC9-C05F-38121EBE5DFD}"/>
              </a:ext>
            </a:extLst>
          </p:cNvPr>
          <p:cNvSpPr/>
          <p:nvPr/>
        </p:nvSpPr>
        <p:spPr>
          <a:xfrm>
            <a:off x="1275897" y="918064"/>
            <a:ext cx="4306154" cy="12277"/>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12" name="Text 9">
            <a:extLst>
              <a:ext uri="{FF2B5EF4-FFF2-40B4-BE49-F238E27FC236}">
                <a16:creationId xmlns:a16="http://schemas.microsoft.com/office/drawing/2014/main" id="{5CB85314-B871-2204-8E9F-E7E3F6A8351B}"/>
              </a:ext>
            </a:extLst>
          </p:cNvPr>
          <p:cNvSpPr/>
          <p:nvPr/>
        </p:nvSpPr>
        <p:spPr>
          <a:xfrm>
            <a:off x="1225152" y="948865"/>
            <a:ext cx="4306154" cy="449464"/>
          </a:xfrm>
          <a:prstGeom prst="rect">
            <a:avLst/>
          </a:prstGeom>
          <a:noFill/>
          <a:ln/>
        </p:spPr>
        <p:txBody>
          <a:bodyPr wrap="square" lIns="0" tIns="0" rIns="0" bIns="0" rtlCol="0" anchor="t"/>
          <a:lstStyle/>
          <a:p>
            <a:pPr algn="ctr"/>
            <a:r>
              <a:rPr lang="en-US" sz="1000" b="1" dirty="0">
                <a:solidFill>
                  <a:srgbClr val="2C2C2C"/>
                </a:solidFill>
                <a:latin typeface="Calibri" pitchFamily="34" charset="0"/>
                <a:ea typeface="Calibri" pitchFamily="34" charset="-122"/>
                <a:cs typeface="Calibri" pitchFamily="34" charset="-120"/>
              </a:rPr>
              <a:t>Author Name¹, Co-Author Name², Third Author¹</a:t>
            </a:r>
            <a:endParaRPr lang="en-US" sz="1000" dirty="0"/>
          </a:p>
          <a:p>
            <a:pPr algn="ctr"/>
            <a:r>
              <a:rPr lang="en-US" sz="1000" dirty="0" err="1">
                <a:solidFill>
                  <a:srgbClr val="C8102E"/>
                </a:solidFill>
                <a:latin typeface="Calibri" pitchFamily="34" charset="0"/>
                <a:ea typeface="Calibri" pitchFamily="34" charset="-122"/>
                <a:cs typeface="Calibri" pitchFamily="34" charset="-120"/>
              </a:rPr>
              <a:t>contact@esprit.tn</a:t>
            </a:r>
            <a:r>
              <a:rPr lang="en-US" sz="1000" b="1" dirty="0">
                <a:solidFill>
                  <a:srgbClr val="2C2C2C"/>
                </a:solidFill>
                <a:latin typeface="Calibri" pitchFamily="34" charset="0"/>
                <a:ea typeface="Calibri" pitchFamily="34" charset="-122"/>
                <a:cs typeface="Calibri" pitchFamily="34" charset="-120"/>
              </a:rPr>
              <a:t>, </a:t>
            </a:r>
            <a:r>
              <a:rPr lang="en-US" sz="1000" dirty="0" err="1">
                <a:solidFill>
                  <a:srgbClr val="C8102E"/>
                </a:solidFill>
                <a:latin typeface="Calibri" pitchFamily="34" charset="0"/>
                <a:ea typeface="Calibri" pitchFamily="34" charset="-122"/>
                <a:cs typeface="Calibri" pitchFamily="34" charset="-120"/>
              </a:rPr>
              <a:t>contact@esprit.tn</a:t>
            </a:r>
            <a:r>
              <a:rPr lang="en-US" sz="1000" b="1" dirty="0">
                <a:solidFill>
                  <a:srgbClr val="2C2C2C"/>
                </a:solidFill>
                <a:latin typeface="Calibri" pitchFamily="34" charset="0"/>
                <a:ea typeface="Calibri" pitchFamily="34" charset="-122"/>
                <a:cs typeface="Calibri" pitchFamily="34" charset="-120"/>
              </a:rPr>
              <a:t>, </a:t>
            </a:r>
            <a:r>
              <a:rPr lang="en-US" sz="1000" dirty="0" err="1">
                <a:solidFill>
                  <a:srgbClr val="C8102E"/>
                </a:solidFill>
                <a:latin typeface="Calibri" pitchFamily="34" charset="0"/>
                <a:ea typeface="Calibri" pitchFamily="34" charset="-122"/>
                <a:cs typeface="Calibri" pitchFamily="34" charset="-120"/>
              </a:rPr>
              <a:t>contact@esprit.tn</a:t>
            </a:r>
            <a:r>
              <a:rPr lang="en-US" sz="1000" b="1" dirty="0">
                <a:solidFill>
                  <a:srgbClr val="2C2C2C"/>
                </a:solidFill>
                <a:latin typeface="Calibri" pitchFamily="34" charset="0"/>
                <a:ea typeface="Calibri" pitchFamily="34" charset="-122"/>
                <a:cs typeface="Calibri" pitchFamily="34" charset="-120"/>
              </a:rPr>
              <a:t> </a:t>
            </a:r>
            <a:r>
              <a:rPr lang="en-US" sz="1000" dirty="0">
                <a:solidFill>
                  <a:srgbClr val="C8102E"/>
                </a:solidFill>
                <a:latin typeface="Calibri" pitchFamily="34" charset="0"/>
                <a:ea typeface="Calibri" pitchFamily="34" charset="-122"/>
                <a:cs typeface="Calibri" pitchFamily="34" charset="-120"/>
              </a:rPr>
              <a:t>   </a:t>
            </a:r>
          </a:p>
          <a:p>
            <a:pPr algn="ctr"/>
            <a:r>
              <a:rPr lang="en-US" sz="1000" dirty="0">
                <a:solidFill>
                  <a:srgbClr val="C8102E"/>
                </a:solidFill>
                <a:latin typeface="Calibri" pitchFamily="34" charset="0"/>
                <a:ea typeface="Calibri" pitchFamily="34" charset="-122"/>
                <a:cs typeface="Calibri" pitchFamily="34" charset="-120"/>
              </a:rPr>
              <a:t>ESPRIT School of Business</a:t>
            </a:r>
            <a:r>
              <a:rPr lang="en-US" sz="1000" b="1" dirty="0">
                <a:solidFill>
                  <a:srgbClr val="2C2C2C"/>
                </a:solidFill>
                <a:latin typeface="Calibri" pitchFamily="34" charset="0"/>
                <a:ea typeface="Calibri" pitchFamily="34" charset="-122"/>
                <a:cs typeface="Calibri" pitchFamily="34" charset="-120"/>
              </a:rPr>
              <a:t>¹</a:t>
            </a:r>
            <a:r>
              <a:rPr lang="en-US" sz="1000" dirty="0">
                <a:solidFill>
                  <a:srgbClr val="C8102E"/>
                </a:solidFill>
                <a:latin typeface="Calibri" pitchFamily="34" charset="0"/>
                <a:ea typeface="Calibri" pitchFamily="34" charset="-122"/>
                <a:cs typeface="Calibri" pitchFamily="34" charset="-120"/>
              </a:rPr>
              <a:t>, ESPRIT School of Engineering  </a:t>
            </a:r>
            <a:endParaRPr lang="en-US" sz="1000" dirty="0"/>
          </a:p>
        </p:txBody>
      </p:sp>
      <p:sp>
        <p:nvSpPr>
          <p:cNvPr id="13" name="Shape 10">
            <a:extLst>
              <a:ext uri="{FF2B5EF4-FFF2-40B4-BE49-F238E27FC236}">
                <a16:creationId xmlns:a16="http://schemas.microsoft.com/office/drawing/2014/main" id="{D610663D-2467-E11D-EAAD-45E97CCFED2F}"/>
              </a:ext>
            </a:extLst>
          </p:cNvPr>
          <p:cNvSpPr/>
          <p:nvPr/>
        </p:nvSpPr>
        <p:spPr>
          <a:xfrm>
            <a:off x="130514" y="1505757"/>
            <a:ext cx="6596971" cy="1039759"/>
          </a:xfrm>
          <a:prstGeom prst="rect">
            <a:avLst/>
          </a:prstGeom>
          <a:solidFill>
            <a:srgbClr val="FFFFFF"/>
          </a:solidFill>
          <a:ln w="7620">
            <a:solidFill>
              <a:srgbClr val="E8E8E8"/>
            </a:solidFill>
            <a:prstDash val="solid"/>
          </a:ln>
          <a:effectLst>
            <a:outerShdw blurRad="63500" dist="12700" dir="8100000" algn="bl" rotWithShape="0">
              <a:srgbClr val="000000">
                <a:alpha val="6000"/>
              </a:srgbClr>
            </a:outerShdw>
          </a:effectLst>
        </p:spPr>
        <p:txBody>
          <a:bodyPr/>
          <a:lstStyle/>
          <a:p>
            <a:endParaRPr lang="fr-FR" sz="1427"/>
          </a:p>
        </p:txBody>
      </p:sp>
      <p:sp>
        <p:nvSpPr>
          <p:cNvPr id="14" name="Shape 11">
            <a:extLst>
              <a:ext uri="{FF2B5EF4-FFF2-40B4-BE49-F238E27FC236}">
                <a16:creationId xmlns:a16="http://schemas.microsoft.com/office/drawing/2014/main" id="{3A4531CD-42A8-9137-039F-40D6687C79CF}"/>
              </a:ext>
            </a:extLst>
          </p:cNvPr>
          <p:cNvSpPr/>
          <p:nvPr/>
        </p:nvSpPr>
        <p:spPr>
          <a:xfrm>
            <a:off x="130514" y="1444797"/>
            <a:ext cx="6596971"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15" name="Shape 12">
            <a:extLst>
              <a:ext uri="{FF2B5EF4-FFF2-40B4-BE49-F238E27FC236}">
                <a16:creationId xmlns:a16="http://schemas.microsoft.com/office/drawing/2014/main" id="{5AD0BEA8-1F18-0AD7-210B-EB610D68E450}"/>
              </a:ext>
            </a:extLst>
          </p:cNvPr>
          <p:cNvSpPr/>
          <p:nvPr/>
        </p:nvSpPr>
        <p:spPr>
          <a:xfrm>
            <a:off x="210258" y="1507502"/>
            <a:ext cx="195734" cy="195734"/>
          </a:xfrm>
          <a:prstGeom prst="ellipse">
            <a:avLst/>
          </a:prstGeom>
          <a:solidFill>
            <a:srgbClr val="46B6AE"/>
          </a:solidFill>
          <a:ln w="12700">
            <a:solidFill>
              <a:srgbClr val="46B6AE"/>
            </a:solidFill>
            <a:prstDash val="solid"/>
          </a:ln>
        </p:spPr>
        <p:txBody>
          <a:bodyPr/>
          <a:lstStyle/>
          <a:p>
            <a:endParaRPr lang="fr-FR" sz="1427"/>
          </a:p>
        </p:txBody>
      </p:sp>
      <p:sp>
        <p:nvSpPr>
          <p:cNvPr id="16" name="Text 13">
            <a:extLst>
              <a:ext uri="{FF2B5EF4-FFF2-40B4-BE49-F238E27FC236}">
                <a16:creationId xmlns:a16="http://schemas.microsoft.com/office/drawing/2014/main" id="{DEB9354A-198D-3ADC-AC05-5F69499152F1}"/>
              </a:ext>
            </a:extLst>
          </p:cNvPr>
          <p:cNvSpPr/>
          <p:nvPr/>
        </p:nvSpPr>
        <p:spPr>
          <a:xfrm>
            <a:off x="-49445" y="1492941"/>
            <a:ext cx="715085" cy="188482"/>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7" name="Text 14">
            <a:extLst>
              <a:ext uri="{FF2B5EF4-FFF2-40B4-BE49-F238E27FC236}">
                <a16:creationId xmlns:a16="http://schemas.microsoft.com/office/drawing/2014/main" id="{F40E217E-E6CC-13E8-837A-B19F2A3D91D0}"/>
              </a:ext>
            </a:extLst>
          </p:cNvPr>
          <p:cNvSpPr/>
          <p:nvPr/>
        </p:nvSpPr>
        <p:spPr>
          <a:xfrm>
            <a:off x="449489" y="1490992"/>
            <a:ext cx="6191003" cy="202984"/>
          </a:xfrm>
          <a:prstGeom prst="rect">
            <a:avLst/>
          </a:prstGeom>
          <a:noFill/>
          <a:ln/>
        </p:spPr>
        <p:txBody>
          <a:bodyPr wrap="square" lIns="0" tIns="0" rIns="0" bIns="0" rtlCol="0" anchor="ctr"/>
          <a:lstStyle/>
          <a:p>
            <a:r>
              <a:rPr lang="en-US" sz="1200" b="1" dirty="0">
                <a:solidFill>
                  <a:srgbClr val="2C2C2C"/>
                </a:solidFill>
                <a:latin typeface="Calibri" pitchFamily="34" charset="0"/>
                <a:ea typeface="Calibri" pitchFamily="34" charset="-122"/>
                <a:cs typeface="Calibri" pitchFamily="34" charset="-120"/>
              </a:rPr>
              <a:t>Context &amp; Problem</a:t>
            </a:r>
            <a:endParaRPr lang="en-US" sz="1200" dirty="0"/>
          </a:p>
        </p:txBody>
      </p:sp>
      <p:sp>
        <p:nvSpPr>
          <p:cNvPr id="18" name="Shape 15">
            <a:extLst>
              <a:ext uri="{FF2B5EF4-FFF2-40B4-BE49-F238E27FC236}">
                <a16:creationId xmlns:a16="http://schemas.microsoft.com/office/drawing/2014/main" id="{23699B90-7A56-A505-4946-A6FBB471920B}"/>
              </a:ext>
            </a:extLst>
          </p:cNvPr>
          <p:cNvSpPr/>
          <p:nvPr/>
        </p:nvSpPr>
        <p:spPr>
          <a:xfrm>
            <a:off x="210258" y="1720275"/>
            <a:ext cx="6437483" cy="0"/>
          </a:xfrm>
          <a:prstGeom prst="line">
            <a:avLst/>
          </a:prstGeom>
          <a:noFill/>
          <a:ln w="6350">
            <a:solidFill>
              <a:srgbClr val="E8E8E8"/>
            </a:solidFill>
            <a:prstDash val="solid"/>
          </a:ln>
        </p:spPr>
        <p:txBody>
          <a:bodyPr/>
          <a:lstStyle/>
          <a:p>
            <a:endParaRPr lang="fr-FR" sz="1427"/>
          </a:p>
        </p:txBody>
      </p:sp>
      <p:sp>
        <p:nvSpPr>
          <p:cNvPr id="19" name="Text 16">
            <a:extLst>
              <a:ext uri="{FF2B5EF4-FFF2-40B4-BE49-F238E27FC236}">
                <a16:creationId xmlns:a16="http://schemas.microsoft.com/office/drawing/2014/main" id="{47549292-B7C2-AEA3-7D3E-5C5E53B5281A}"/>
              </a:ext>
            </a:extLst>
          </p:cNvPr>
          <p:cNvSpPr/>
          <p:nvPr/>
        </p:nvSpPr>
        <p:spPr>
          <a:xfrm>
            <a:off x="196327" y="1709504"/>
            <a:ext cx="6437483" cy="420466"/>
          </a:xfrm>
          <a:prstGeom prst="rect">
            <a:avLst/>
          </a:prstGeom>
          <a:noFill/>
          <a:ln/>
        </p:spPr>
        <p:txBody>
          <a:bodyPr wrap="square" lIns="0" tIns="0" rIns="0" bIns="0" rtlCol="0" anchor="t"/>
          <a:lstStyle/>
          <a:p>
            <a:pPr algn="just">
              <a:spcAft>
                <a:spcPts val="159"/>
              </a:spcAft>
              <a:buSzPct val="100000"/>
            </a:pPr>
            <a:r>
              <a:rPr lang="en-US" sz="1000" dirty="0">
                <a:solidFill>
                  <a:srgbClr val="5A5A5A"/>
                </a:solidFill>
                <a:latin typeface="Calibri" pitchFamily="34" charset="0"/>
                <a:ea typeface="Calibri" pitchFamily="34" charset="-122"/>
                <a:cs typeface="Calibri" pitchFamily="34" charset="-120"/>
              </a:rPr>
              <a:t>P</a:t>
            </a:r>
            <a:r>
              <a:rPr lang="en-US" sz="900" dirty="0">
                <a:solidFill>
                  <a:srgbClr val="5A5A5A"/>
                </a:solidFill>
                <a:latin typeface="Calibri" pitchFamily="34" charset="0"/>
                <a:ea typeface="Calibri" pitchFamily="34" charset="-122"/>
                <a:cs typeface="Calibri" pitchFamily="34" charset="-120"/>
              </a:rPr>
              <a:t>roject-based learning is central to engineering education at Esprit University, involving large cohorts of students working collaboratively on software projects. While platforms such as GitHub and GitLab are widely used for version control, they are not designed for academic evaluation workflows. Teachers face fragmented processes for repository creation, submission tracking, contribution monitoring, and grading. These limitations increase administrative workload and reduce assessment transparency. </a:t>
            </a:r>
            <a:r>
              <a:rPr lang="en-US" sz="900" dirty="0" err="1">
                <a:solidFill>
                  <a:srgbClr val="5A5A5A"/>
                </a:solidFill>
                <a:latin typeface="Calibri" pitchFamily="34" charset="0"/>
                <a:ea typeface="Calibri" pitchFamily="34" charset="-122"/>
                <a:cs typeface="Calibri" pitchFamily="34" charset="-120"/>
              </a:rPr>
              <a:t>EspriHub</a:t>
            </a:r>
            <a:r>
              <a:rPr lang="en-US" sz="900" dirty="0">
                <a:solidFill>
                  <a:srgbClr val="5A5A5A"/>
                </a:solidFill>
                <a:latin typeface="Calibri" pitchFamily="34" charset="0"/>
                <a:ea typeface="Calibri" pitchFamily="34" charset="-122"/>
                <a:cs typeface="Calibri" pitchFamily="34" charset="-120"/>
              </a:rPr>
              <a:t> is a platform that integrate software development tools with institutional structures, pedagogical requirements, and scalable evaluation mechanisms.</a:t>
            </a:r>
            <a:endParaRPr lang="en-US" sz="900" dirty="0"/>
          </a:p>
        </p:txBody>
      </p:sp>
      <p:sp>
        <p:nvSpPr>
          <p:cNvPr id="20" name="Shape 17">
            <a:extLst>
              <a:ext uri="{FF2B5EF4-FFF2-40B4-BE49-F238E27FC236}">
                <a16:creationId xmlns:a16="http://schemas.microsoft.com/office/drawing/2014/main" id="{82DC8142-9A1E-C3E3-5133-68CC926D39CB}"/>
              </a:ext>
            </a:extLst>
          </p:cNvPr>
          <p:cNvSpPr/>
          <p:nvPr/>
        </p:nvSpPr>
        <p:spPr>
          <a:xfrm>
            <a:off x="130490" y="2647702"/>
            <a:ext cx="3247739" cy="2041646"/>
          </a:xfrm>
          <a:prstGeom prst="rect">
            <a:avLst/>
          </a:prstGeom>
          <a:solidFill>
            <a:srgbClr val="FFFFFF"/>
          </a:solidFill>
          <a:ln w="7620">
            <a:solidFill>
              <a:srgbClr val="E8E8E8"/>
            </a:solidFill>
            <a:prstDash val="solid"/>
          </a:ln>
          <a:effectLst>
            <a:outerShdw blurRad="63500" dist="12700" dir="8100000" algn="bl" rotWithShape="0">
              <a:srgbClr val="000000">
                <a:alpha val="6000"/>
              </a:srgbClr>
            </a:outerShdw>
          </a:effectLst>
        </p:spPr>
        <p:txBody>
          <a:bodyPr/>
          <a:lstStyle/>
          <a:p>
            <a:endParaRPr lang="fr-FR" sz="1427"/>
          </a:p>
        </p:txBody>
      </p:sp>
      <p:sp>
        <p:nvSpPr>
          <p:cNvPr id="21" name="Shape 18">
            <a:extLst>
              <a:ext uri="{FF2B5EF4-FFF2-40B4-BE49-F238E27FC236}">
                <a16:creationId xmlns:a16="http://schemas.microsoft.com/office/drawing/2014/main" id="{2F840FEE-AEBA-8DEF-FCD3-BEE06577DE2D}"/>
              </a:ext>
            </a:extLst>
          </p:cNvPr>
          <p:cNvSpPr/>
          <p:nvPr/>
        </p:nvSpPr>
        <p:spPr>
          <a:xfrm>
            <a:off x="130490" y="2647703"/>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24" name="Text 21">
            <a:extLst>
              <a:ext uri="{FF2B5EF4-FFF2-40B4-BE49-F238E27FC236}">
                <a16:creationId xmlns:a16="http://schemas.microsoft.com/office/drawing/2014/main" id="{52FE9C5C-5F84-1555-234D-30E780D7EC76}"/>
              </a:ext>
            </a:extLst>
          </p:cNvPr>
          <p:cNvSpPr/>
          <p:nvPr/>
        </p:nvSpPr>
        <p:spPr>
          <a:xfrm>
            <a:off x="449464" y="2712947"/>
            <a:ext cx="2841772" cy="202984"/>
          </a:xfrm>
          <a:prstGeom prst="rect">
            <a:avLst/>
          </a:prstGeom>
          <a:noFill/>
          <a:ln/>
        </p:spPr>
        <p:txBody>
          <a:bodyPr wrap="square" lIns="0" tIns="0" rIns="0" bIns="0" rtlCol="0" anchor="ctr"/>
          <a:lstStyle/>
          <a:p>
            <a:r>
              <a:rPr lang="en-US" sz="1200" b="1" dirty="0">
                <a:solidFill>
                  <a:srgbClr val="2C2C2C"/>
                </a:solidFill>
                <a:latin typeface="Calibri" pitchFamily="34" charset="0"/>
                <a:ea typeface="Calibri" pitchFamily="34" charset="-122"/>
                <a:cs typeface="Calibri" pitchFamily="34" charset="-120"/>
              </a:rPr>
              <a:t>Research Problem: Importance &amp; Relevance</a:t>
            </a:r>
            <a:endParaRPr lang="en-US" sz="1200" dirty="0"/>
          </a:p>
        </p:txBody>
      </p:sp>
      <p:sp>
        <p:nvSpPr>
          <p:cNvPr id="25" name="Shape 22">
            <a:extLst>
              <a:ext uri="{FF2B5EF4-FFF2-40B4-BE49-F238E27FC236}">
                <a16:creationId xmlns:a16="http://schemas.microsoft.com/office/drawing/2014/main" id="{B8C472B3-C4CE-1312-C67F-2F6A37B0498A}"/>
              </a:ext>
            </a:extLst>
          </p:cNvPr>
          <p:cNvSpPr/>
          <p:nvPr/>
        </p:nvSpPr>
        <p:spPr>
          <a:xfrm>
            <a:off x="210233" y="2923181"/>
            <a:ext cx="3088252" cy="0"/>
          </a:xfrm>
          <a:prstGeom prst="line">
            <a:avLst/>
          </a:prstGeom>
          <a:noFill/>
          <a:ln w="6350">
            <a:solidFill>
              <a:srgbClr val="E8E8E8"/>
            </a:solidFill>
            <a:prstDash val="solid"/>
          </a:ln>
        </p:spPr>
        <p:txBody>
          <a:bodyPr/>
          <a:lstStyle/>
          <a:p>
            <a:endParaRPr lang="fr-FR" sz="1427"/>
          </a:p>
        </p:txBody>
      </p:sp>
      <p:sp>
        <p:nvSpPr>
          <p:cNvPr id="26" name="Text 23">
            <a:extLst>
              <a:ext uri="{FF2B5EF4-FFF2-40B4-BE49-F238E27FC236}">
                <a16:creationId xmlns:a16="http://schemas.microsoft.com/office/drawing/2014/main" id="{13ABFA43-90A4-F39E-3704-C469B67A1924}"/>
              </a:ext>
            </a:extLst>
          </p:cNvPr>
          <p:cNvSpPr/>
          <p:nvPr/>
        </p:nvSpPr>
        <p:spPr>
          <a:xfrm>
            <a:off x="150092" y="2987892"/>
            <a:ext cx="3208527" cy="1087413"/>
          </a:xfrm>
          <a:prstGeom prst="rect">
            <a:avLst/>
          </a:prstGeom>
          <a:noFill/>
          <a:ln/>
        </p:spPr>
        <p:txBody>
          <a:bodyPr wrap="square" lIns="0" tIns="0" rIns="0" bIns="0" rtlCol="0" anchor="t"/>
          <a:lstStyle/>
          <a:p>
            <a:pPr marL="271851" indent="-271851">
              <a:spcAft>
                <a:spcPts val="159"/>
              </a:spcAft>
              <a:buSzPct val="100000"/>
              <a:buFontTx/>
              <a:buChar char="•"/>
            </a:pPr>
            <a:r>
              <a:rPr lang="fr-FR" sz="900" dirty="0" err="1">
                <a:solidFill>
                  <a:srgbClr val="5A5A5A"/>
                </a:solidFill>
                <a:latin typeface="Calibri" pitchFamily="34" charset="0"/>
                <a:ea typeface="Calibri" pitchFamily="34" charset="-122"/>
                <a:cs typeface="Calibri" pitchFamily="34" charset="-120"/>
              </a:rPr>
              <a:t>Reduces</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manual</a:t>
            </a:r>
            <a:r>
              <a:rPr lang="fr-FR" sz="900" dirty="0">
                <a:solidFill>
                  <a:srgbClr val="5A5A5A"/>
                </a:solidFill>
                <a:latin typeface="Calibri" pitchFamily="34" charset="0"/>
                <a:ea typeface="Calibri" pitchFamily="34" charset="-122"/>
                <a:cs typeface="Calibri" pitchFamily="34" charset="-120"/>
              </a:rPr>
              <a:t> repository </a:t>
            </a:r>
            <a:r>
              <a:rPr lang="fr-FR" sz="900" dirty="0" err="1">
                <a:solidFill>
                  <a:srgbClr val="5A5A5A"/>
                </a:solidFill>
                <a:latin typeface="Calibri" pitchFamily="34" charset="0"/>
                <a:ea typeface="Calibri" pitchFamily="34" charset="-122"/>
                <a:cs typeface="Calibri" pitchFamily="34" charset="-120"/>
              </a:rPr>
              <a:t>creation</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submission</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tracking</a:t>
            </a:r>
            <a:r>
              <a:rPr lang="fr-FR" sz="900" dirty="0">
                <a:solidFill>
                  <a:srgbClr val="5A5A5A"/>
                </a:solidFill>
                <a:latin typeface="Calibri" pitchFamily="34" charset="0"/>
                <a:ea typeface="Calibri" pitchFamily="34" charset="-122"/>
                <a:cs typeface="Calibri" pitchFamily="34" charset="-120"/>
              </a:rPr>
              <a:t>, and monitoring </a:t>
            </a:r>
            <a:r>
              <a:rPr lang="fr-FR" sz="900" dirty="0" err="1">
                <a:solidFill>
                  <a:srgbClr val="5A5A5A"/>
                </a:solidFill>
                <a:latin typeface="Calibri" pitchFamily="34" charset="0"/>
                <a:ea typeface="Calibri" pitchFamily="34" charset="-122"/>
                <a:cs typeface="Calibri" pitchFamily="34" charset="-120"/>
              </a:rPr>
              <a:t>workload</a:t>
            </a:r>
            <a:endParaRPr lang="fr-FR" sz="900" dirty="0">
              <a:solidFill>
                <a:srgbClr val="5A5A5A"/>
              </a:solidFill>
              <a:latin typeface="Calibri" pitchFamily="34" charset="0"/>
              <a:ea typeface="Calibri" pitchFamily="34" charset="-122"/>
              <a:cs typeface="Calibri" pitchFamily="34" charset="-120"/>
            </a:endParaRPr>
          </a:p>
          <a:p>
            <a:pPr marL="271851" indent="-271851">
              <a:spcAft>
                <a:spcPts val="159"/>
              </a:spcAft>
              <a:buSzPct val="100000"/>
              <a:buFontTx/>
              <a:buChar char="•"/>
            </a:pPr>
            <a:r>
              <a:rPr lang="fr-FR" sz="900" dirty="0" err="1">
                <a:solidFill>
                  <a:srgbClr val="5A5A5A"/>
                </a:solidFill>
                <a:latin typeface="Calibri" pitchFamily="34" charset="0"/>
                <a:ea typeface="Calibri" pitchFamily="34" charset="-122"/>
                <a:cs typeface="Calibri" pitchFamily="34" charset="-120"/>
              </a:rPr>
              <a:t>Improves</a:t>
            </a:r>
            <a:r>
              <a:rPr lang="fr-FR" sz="900" dirty="0">
                <a:solidFill>
                  <a:srgbClr val="5A5A5A"/>
                </a:solidFill>
                <a:latin typeface="Calibri" pitchFamily="34" charset="0"/>
                <a:ea typeface="Calibri" pitchFamily="34" charset="-122"/>
                <a:cs typeface="Calibri" pitchFamily="34" charset="-120"/>
              </a:rPr>
              <a:t> feedback </a:t>
            </a:r>
            <a:r>
              <a:rPr lang="fr-FR" sz="900" dirty="0" err="1">
                <a:solidFill>
                  <a:srgbClr val="5A5A5A"/>
                </a:solidFill>
                <a:latin typeface="Calibri" pitchFamily="34" charset="0"/>
                <a:ea typeface="Calibri" pitchFamily="34" charset="-122"/>
                <a:cs typeface="Calibri" pitchFamily="34" charset="-120"/>
              </a:rPr>
              <a:t>timeliness</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transparency</a:t>
            </a:r>
            <a:r>
              <a:rPr lang="fr-FR" sz="900" dirty="0">
                <a:solidFill>
                  <a:srgbClr val="5A5A5A"/>
                </a:solidFill>
                <a:latin typeface="Calibri" pitchFamily="34" charset="0"/>
                <a:ea typeface="Calibri" pitchFamily="34" charset="-122"/>
                <a:cs typeface="Calibri" pitchFamily="34" charset="-120"/>
              </a:rPr>
              <a:t>, and </a:t>
            </a:r>
            <a:r>
              <a:rPr lang="fr-FR" sz="900" dirty="0" err="1">
                <a:solidFill>
                  <a:srgbClr val="5A5A5A"/>
                </a:solidFill>
                <a:latin typeface="Calibri" pitchFamily="34" charset="0"/>
                <a:ea typeface="Calibri" pitchFamily="34" charset="-122"/>
                <a:cs typeface="Calibri" pitchFamily="34" charset="-120"/>
              </a:rPr>
              <a:t>visibility</a:t>
            </a:r>
            <a:r>
              <a:rPr lang="fr-FR" sz="900" dirty="0">
                <a:solidFill>
                  <a:srgbClr val="5A5A5A"/>
                </a:solidFill>
                <a:latin typeface="Calibri" pitchFamily="34" charset="0"/>
                <a:ea typeface="Calibri" pitchFamily="34" charset="-122"/>
                <a:cs typeface="Calibri" pitchFamily="34" charset="-120"/>
              </a:rPr>
              <a:t> of </a:t>
            </a:r>
            <a:r>
              <a:rPr lang="fr-FR" sz="900" dirty="0" err="1">
                <a:solidFill>
                  <a:srgbClr val="5A5A5A"/>
                </a:solidFill>
                <a:latin typeface="Calibri" pitchFamily="34" charset="0"/>
                <a:ea typeface="Calibri" pitchFamily="34" charset="-122"/>
                <a:cs typeface="Calibri" pitchFamily="34" charset="-120"/>
              </a:rPr>
              <a:t>individual</a:t>
            </a:r>
            <a:r>
              <a:rPr lang="fr-FR" sz="900" dirty="0">
                <a:solidFill>
                  <a:srgbClr val="5A5A5A"/>
                </a:solidFill>
                <a:latin typeface="Calibri" pitchFamily="34" charset="0"/>
                <a:ea typeface="Calibri" pitchFamily="34" charset="-122"/>
                <a:cs typeface="Calibri" pitchFamily="34" charset="-120"/>
              </a:rPr>
              <a:t> contributions</a:t>
            </a:r>
          </a:p>
          <a:p>
            <a:pPr marL="271851" indent="-271851">
              <a:spcAft>
                <a:spcPts val="159"/>
              </a:spcAft>
              <a:buSzPct val="100000"/>
              <a:buFontTx/>
              <a:buChar char="•"/>
            </a:pPr>
            <a:r>
              <a:rPr lang="fr-FR" sz="900" dirty="0">
                <a:solidFill>
                  <a:srgbClr val="5A5A5A"/>
                </a:solidFill>
                <a:latin typeface="Calibri" pitchFamily="34" charset="0"/>
                <a:ea typeface="Calibri" pitchFamily="34" charset="-122"/>
                <a:cs typeface="Calibri" pitchFamily="34" charset="-120"/>
              </a:rPr>
              <a:t>Supports scalable management of </a:t>
            </a:r>
            <a:r>
              <a:rPr lang="fr-FR" sz="900" dirty="0" err="1">
                <a:solidFill>
                  <a:srgbClr val="5A5A5A"/>
                </a:solidFill>
                <a:latin typeface="Calibri" pitchFamily="34" charset="0"/>
                <a:ea typeface="Calibri" pitchFamily="34" charset="-122"/>
                <a:cs typeface="Calibri" pitchFamily="34" charset="-120"/>
              </a:rPr>
              <a:t>project-based</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learning</a:t>
            </a:r>
            <a:r>
              <a:rPr lang="fr-FR" sz="900" dirty="0">
                <a:solidFill>
                  <a:srgbClr val="5A5A5A"/>
                </a:solidFill>
                <a:latin typeface="Calibri" pitchFamily="34" charset="0"/>
                <a:ea typeface="Calibri" pitchFamily="34" charset="-122"/>
                <a:cs typeface="Calibri" pitchFamily="34" charset="-120"/>
              </a:rPr>
              <a:t> in high-</a:t>
            </a:r>
            <a:r>
              <a:rPr lang="fr-FR" sz="900" dirty="0" err="1">
                <a:solidFill>
                  <a:srgbClr val="5A5A5A"/>
                </a:solidFill>
                <a:latin typeface="Calibri" pitchFamily="34" charset="0"/>
                <a:ea typeface="Calibri" pitchFamily="34" charset="-122"/>
                <a:cs typeface="Calibri" pitchFamily="34" charset="-120"/>
              </a:rPr>
              <a:t>enrollment</a:t>
            </a:r>
            <a:r>
              <a:rPr lang="fr-FR" sz="900" dirty="0">
                <a:solidFill>
                  <a:srgbClr val="5A5A5A"/>
                </a:solidFill>
                <a:latin typeface="Calibri" pitchFamily="34" charset="0"/>
                <a:ea typeface="Calibri" pitchFamily="34" charset="-122"/>
                <a:cs typeface="Calibri" pitchFamily="34" charset="-120"/>
              </a:rPr>
              <a:t> programmes.</a:t>
            </a:r>
          </a:p>
          <a:p>
            <a:pPr marL="271851" indent="-271851">
              <a:spcAft>
                <a:spcPts val="159"/>
              </a:spcAft>
              <a:buSzPct val="100000"/>
              <a:buFontTx/>
              <a:buChar char="•"/>
            </a:pPr>
            <a:r>
              <a:rPr lang="fr-FR" sz="900" dirty="0" err="1">
                <a:solidFill>
                  <a:srgbClr val="5A5A5A"/>
                </a:solidFill>
                <a:latin typeface="Calibri" pitchFamily="34" charset="0"/>
                <a:ea typeface="Calibri" pitchFamily="34" charset="-122"/>
                <a:cs typeface="Calibri" pitchFamily="34" charset="-120"/>
              </a:rPr>
              <a:t>Leverages</a:t>
            </a:r>
            <a:r>
              <a:rPr lang="fr-FR" sz="900" dirty="0">
                <a:solidFill>
                  <a:srgbClr val="5A5A5A"/>
                </a:solidFill>
                <a:latin typeface="Calibri" pitchFamily="34" charset="0"/>
                <a:ea typeface="Calibri" pitchFamily="34" charset="-122"/>
                <a:cs typeface="Calibri" pitchFamily="34" charset="-120"/>
              </a:rPr>
              <a:t> AI-</a:t>
            </a:r>
            <a:r>
              <a:rPr lang="fr-FR" sz="900" dirty="0" err="1">
                <a:solidFill>
                  <a:srgbClr val="5A5A5A"/>
                </a:solidFill>
                <a:latin typeface="Calibri" pitchFamily="34" charset="0"/>
                <a:ea typeface="Calibri" pitchFamily="34" charset="-122"/>
                <a:cs typeface="Calibri" pitchFamily="34" charset="-120"/>
              </a:rPr>
              <a:t>assisted</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evaluation</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while</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preserving</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human</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decision-making</a:t>
            </a:r>
            <a:endParaRPr lang="fr-FR" sz="900" dirty="0">
              <a:solidFill>
                <a:srgbClr val="5A5A5A"/>
              </a:solidFill>
              <a:latin typeface="Calibri" pitchFamily="34" charset="0"/>
              <a:ea typeface="Calibri" pitchFamily="34" charset="-122"/>
              <a:cs typeface="Calibri" pitchFamily="34" charset="-120"/>
            </a:endParaRPr>
          </a:p>
          <a:p>
            <a:pPr marL="271851" indent="-271851">
              <a:spcAft>
                <a:spcPts val="159"/>
              </a:spcAft>
              <a:buSzPct val="100000"/>
              <a:buFontTx/>
              <a:buChar char="•"/>
            </a:pPr>
            <a:r>
              <a:rPr lang="fr-FR" sz="900" dirty="0" err="1">
                <a:solidFill>
                  <a:srgbClr val="5A5A5A"/>
                </a:solidFill>
                <a:latin typeface="Calibri" pitchFamily="34" charset="0"/>
                <a:ea typeface="Calibri" pitchFamily="34" charset="-122"/>
                <a:cs typeface="Calibri" pitchFamily="34" charset="-120"/>
              </a:rPr>
              <a:t>EspriHub</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aligns</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with</a:t>
            </a:r>
            <a:r>
              <a:rPr lang="fr-FR" sz="900" dirty="0">
                <a:solidFill>
                  <a:srgbClr val="5A5A5A"/>
                </a:solidFill>
                <a:latin typeface="Calibri" pitchFamily="34" charset="0"/>
                <a:ea typeface="Calibri" pitchFamily="34" charset="-122"/>
                <a:cs typeface="Calibri" pitchFamily="34" charset="-120"/>
              </a:rPr>
              <a:t> the future-</a:t>
            </a:r>
            <a:r>
              <a:rPr lang="fr-FR" sz="900" dirty="0" err="1">
                <a:solidFill>
                  <a:srgbClr val="5A5A5A"/>
                </a:solidFill>
                <a:latin typeface="Calibri" pitchFamily="34" charset="0"/>
                <a:ea typeface="Calibri" pitchFamily="34" charset="-122"/>
                <a:cs typeface="Calibri" pitchFamily="34" charset="-120"/>
              </a:rPr>
              <a:t>oriented</a:t>
            </a:r>
            <a:r>
              <a:rPr lang="fr-FR" sz="900" dirty="0">
                <a:solidFill>
                  <a:srgbClr val="5A5A5A"/>
                </a:solidFill>
                <a:latin typeface="Calibri" pitchFamily="34" charset="0"/>
                <a:ea typeface="Calibri" pitchFamily="34" charset="-122"/>
                <a:cs typeface="Calibri" pitchFamily="34" charset="-120"/>
              </a:rPr>
              <a:t> agenda of building efficient, intelligent, and </a:t>
            </a:r>
            <a:r>
              <a:rPr lang="fr-FR" sz="900" dirty="0" err="1">
                <a:solidFill>
                  <a:srgbClr val="5A5A5A"/>
                </a:solidFill>
                <a:latin typeface="Calibri" pitchFamily="34" charset="0"/>
                <a:ea typeface="Calibri" pitchFamily="34" charset="-122"/>
                <a:cs typeface="Calibri" pitchFamily="34" charset="-120"/>
              </a:rPr>
              <a:t>human-centered</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higher</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education</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systems</a:t>
            </a:r>
            <a:r>
              <a:rPr lang="fr-FR" sz="900" dirty="0">
                <a:solidFill>
                  <a:srgbClr val="5A5A5A"/>
                </a:solidFill>
                <a:latin typeface="Calibri" pitchFamily="34" charset="0"/>
                <a:ea typeface="Calibri" pitchFamily="34" charset="-122"/>
                <a:cs typeface="Calibri" pitchFamily="34" charset="-120"/>
              </a:rPr>
              <a:t>.</a:t>
            </a:r>
          </a:p>
          <a:p>
            <a:pPr marL="271851" indent="-271851">
              <a:spcAft>
                <a:spcPts val="159"/>
              </a:spcAft>
              <a:buSzPct val="100000"/>
              <a:buFontTx/>
              <a:buChar char="•"/>
            </a:pPr>
            <a:endParaRPr lang="fr-FR" sz="1000" dirty="0">
              <a:solidFill>
                <a:srgbClr val="5A5A5A"/>
              </a:solidFill>
              <a:latin typeface="Calibri" pitchFamily="34" charset="0"/>
              <a:ea typeface="Calibri" pitchFamily="34" charset="-122"/>
              <a:cs typeface="Calibri" pitchFamily="34" charset="-120"/>
            </a:endParaRPr>
          </a:p>
          <a:p>
            <a:pPr marL="271851" indent="-271851">
              <a:spcAft>
                <a:spcPts val="159"/>
              </a:spcAft>
              <a:buSzPct val="100000"/>
              <a:buChar char="•"/>
            </a:pPr>
            <a:endParaRPr lang="en-US" sz="1000" dirty="0"/>
          </a:p>
        </p:txBody>
      </p:sp>
      <p:sp>
        <p:nvSpPr>
          <p:cNvPr id="27" name="Shape 24">
            <a:extLst>
              <a:ext uri="{FF2B5EF4-FFF2-40B4-BE49-F238E27FC236}">
                <a16:creationId xmlns:a16="http://schemas.microsoft.com/office/drawing/2014/main" id="{269C1247-7EDD-299D-6681-C69A5EA724E3}"/>
              </a:ext>
            </a:extLst>
          </p:cNvPr>
          <p:cNvSpPr/>
          <p:nvPr/>
        </p:nvSpPr>
        <p:spPr>
          <a:xfrm>
            <a:off x="3479721" y="2647702"/>
            <a:ext cx="3247739" cy="2041646"/>
          </a:xfrm>
          <a:prstGeom prst="rect">
            <a:avLst/>
          </a:prstGeom>
          <a:solidFill>
            <a:srgbClr val="FFFFFF"/>
          </a:solidFill>
          <a:ln w="7620">
            <a:solidFill>
              <a:srgbClr val="E8E8E8"/>
            </a:solidFill>
            <a:prstDash val="solid"/>
          </a:ln>
          <a:effectLst>
            <a:outerShdw blurRad="63500" dist="12700" dir="8100000" algn="bl" rotWithShape="0">
              <a:srgbClr val="000000">
                <a:alpha val="6000"/>
              </a:srgbClr>
            </a:outerShdw>
          </a:effectLst>
        </p:spPr>
        <p:txBody>
          <a:bodyPr/>
          <a:lstStyle/>
          <a:p>
            <a:endParaRPr lang="fr-FR" sz="1427"/>
          </a:p>
        </p:txBody>
      </p:sp>
      <p:sp>
        <p:nvSpPr>
          <p:cNvPr id="28" name="Shape 25">
            <a:extLst>
              <a:ext uri="{FF2B5EF4-FFF2-40B4-BE49-F238E27FC236}">
                <a16:creationId xmlns:a16="http://schemas.microsoft.com/office/drawing/2014/main" id="{B2BCD0EA-2E7F-934C-7C94-44FED456A232}"/>
              </a:ext>
            </a:extLst>
          </p:cNvPr>
          <p:cNvSpPr/>
          <p:nvPr/>
        </p:nvSpPr>
        <p:spPr>
          <a:xfrm>
            <a:off x="3479721" y="2647703"/>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31" name="Text 28">
            <a:extLst>
              <a:ext uri="{FF2B5EF4-FFF2-40B4-BE49-F238E27FC236}">
                <a16:creationId xmlns:a16="http://schemas.microsoft.com/office/drawing/2014/main" id="{F8D5877D-8A67-5D6B-752C-D9E80E6DC396}"/>
              </a:ext>
            </a:extLst>
          </p:cNvPr>
          <p:cNvSpPr/>
          <p:nvPr/>
        </p:nvSpPr>
        <p:spPr>
          <a:xfrm>
            <a:off x="3798695" y="2712947"/>
            <a:ext cx="2841772" cy="202984"/>
          </a:xfrm>
          <a:prstGeom prst="rect">
            <a:avLst/>
          </a:prstGeom>
          <a:noFill/>
          <a:ln/>
        </p:spPr>
        <p:txBody>
          <a:bodyPr wrap="square" lIns="0" tIns="0" rIns="0" bIns="0" rtlCol="0" anchor="ctr"/>
          <a:lstStyle/>
          <a:p>
            <a:r>
              <a:rPr lang="en-US" sz="1200" b="1" dirty="0">
                <a:solidFill>
                  <a:srgbClr val="2C2C2C"/>
                </a:solidFill>
                <a:latin typeface="Calibri" pitchFamily="34" charset="0"/>
                <a:ea typeface="Calibri" pitchFamily="34" charset="-122"/>
                <a:cs typeface="Calibri" pitchFamily="34" charset="-120"/>
              </a:rPr>
              <a:t>Approach &amp; Methodology</a:t>
            </a:r>
            <a:endParaRPr lang="en-US" sz="1200" dirty="0"/>
          </a:p>
        </p:txBody>
      </p:sp>
      <p:sp>
        <p:nvSpPr>
          <p:cNvPr id="32" name="Shape 29">
            <a:extLst>
              <a:ext uri="{FF2B5EF4-FFF2-40B4-BE49-F238E27FC236}">
                <a16:creationId xmlns:a16="http://schemas.microsoft.com/office/drawing/2014/main" id="{C0C3297C-9646-8936-557C-16BC91F4F08B}"/>
              </a:ext>
            </a:extLst>
          </p:cNvPr>
          <p:cNvSpPr/>
          <p:nvPr/>
        </p:nvSpPr>
        <p:spPr>
          <a:xfrm>
            <a:off x="3428974" y="2923181"/>
            <a:ext cx="3088252" cy="0"/>
          </a:xfrm>
          <a:prstGeom prst="line">
            <a:avLst/>
          </a:prstGeom>
          <a:noFill/>
          <a:ln w="6350">
            <a:solidFill>
              <a:srgbClr val="E8E8E8"/>
            </a:solidFill>
            <a:prstDash val="solid"/>
          </a:ln>
        </p:spPr>
        <p:txBody>
          <a:bodyPr/>
          <a:lstStyle/>
          <a:p>
            <a:endParaRPr lang="fr-FR" sz="1427"/>
          </a:p>
        </p:txBody>
      </p:sp>
      <p:sp>
        <p:nvSpPr>
          <p:cNvPr id="33" name="Text 30">
            <a:extLst>
              <a:ext uri="{FF2B5EF4-FFF2-40B4-BE49-F238E27FC236}">
                <a16:creationId xmlns:a16="http://schemas.microsoft.com/office/drawing/2014/main" id="{0A0E625A-DF52-9981-2BCC-C38E40FA36EB}"/>
              </a:ext>
            </a:extLst>
          </p:cNvPr>
          <p:cNvSpPr/>
          <p:nvPr/>
        </p:nvSpPr>
        <p:spPr>
          <a:xfrm>
            <a:off x="3552212" y="3056470"/>
            <a:ext cx="3088252" cy="159487"/>
          </a:xfrm>
          <a:prstGeom prst="rect">
            <a:avLst/>
          </a:prstGeom>
          <a:noFill/>
          <a:ln/>
        </p:spPr>
        <p:txBody>
          <a:bodyPr wrap="square" lIns="0" tIns="0" rIns="0" bIns="0" rtlCol="0" anchor="t"/>
          <a:lstStyle/>
          <a:p>
            <a:r>
              <a:rPr lang="en-US" sz="1000" i="1" dirty="0">
                <a:solidFill>
                  <a:srgbClr val="8C8C8C"/>
                </a:solidFill>
                <a:latin typeface="Calibri" pitchFamily="34" charset="0"/>
                <a:ea typeface="Calibri" pitchFamily="34" charset="-122"/>
                <a:cs typeface="Calibri" pitchFamily="34" charset="-120"/>
              </a:rPr>
              <a:t>Preferred formats: diagram · workflow · pedagogical schema — avoid dense text.</a:t>
            </a:r>
            <a:endParaRPr lang="en-US" sz="1000" dirty="0"/>
          </a:p>
        </p:txBody>
      </p:sp>
      <p:sp>
        <p:nvSpPr>
          <p:cNvPr id="34" name="Shape 31">
            <a:extLst>
              <a:ext uri="{FF2B5EF4-FFF2-40B4-BE49-F238E27FC236}">
                <a16:creationId xmlns:a16="http://schemas.microsoft.com/office/drawing/2014/main" id="{616C38B5-A4BD-FC70-1586-FD2A8F5038E2}"/>
              </a:ext>
            </a:extLst>
          </p:cNvPr>
          <p:cNvSpPr/>
          <p:nvPr/>
        </p:nvSpPr>
        <p:spPr>
          <a:xfrm>
            <a:off x="3559461" y="3439365"/>
            <a:ext cx="3088252" cy="1107510"/>
          </a:xfrm>
          <a:prstGeom prst="rect">
            <a:avLst/>
          </a:prstGeom>
          <a:solidFill>
            <a:srgbClr val="EEEEEE"/>
          </a:solidFill>
          <a:ln w="6350">
            <a:solidFill>
              <a:srgbClr val="E8E8E8"/>
            </a:solidFill>
            <a:prstDash val="solid"/>
          </a:ln>
        </p:spPr>
        <p:txBody>
          <a:bodyPr wrap="square"/>
          <a:lstStyle/>
          <a:p>
            <a:r>
              <a:rPr sz="1400"/>
              <a:t>System design and workflow:</a:t>
            </a:r>
            <a:br/>
            <a:r>
              <a:rPr sz="1400"/>
              <a:t>1) Full-stack architecture: Angular frontend + Spring Boot backend + PostgreSQL/Redis via Docker for scalable classroom deployment.</a:t>
            </a:r>
            <a:br/>
            <a:r>
              <a:rPr sz="1400"/>
              <a:t>2) Academic domain model: role-based modules (ADMIN, CHIEF, TEACHER, STUDENT), task entities, group/class assignment, and submission lifecycle tracking.</a:t>
            </a:r>
            <a:br/>
            <a:r>
              <a:rPr sz="1400"/>
              <a:t>3) GitHub integration pipeline: OAuth authentication, repository linking, webhook subscription, signature validation (HMAC SHA-256), and event-driven data sync.</a:t>
            </a:r>
            <a:br/>
            <a:r>
              <a:rPr sz="1400"/>
              <a:t>4) Automation layer: schedulers for webhook health checks, failed-subscription retry, and stale webhook cleanup to ensure reliability over time.</a:t>
            </a:r>
            <a:br/>
            <a:r>
              <a:rPr sz="1400"/>
              <a:t>5) AI-assisted evaluation support: submission file ingestion, commit-context visibility, and teacher-centered grading support (human-in-the-loop).</a:t>
            </a:r>
            <a:br/>
            <a:r>
              <a:rPr sz="1400"/>
              <a:t>6) Governance and security: JWT stateless auth, endpoint authorization by role, secure headers, and validation of OAuth state and institutional email constraints.</a:t>
            </a:r>
            <a:endParaRPr lang="fr-FR" sz="1427"/>
          </a:p>
        </p:txBody>
      </p:sp>
      <p:sp>
        <p:nvSpPr>
          <p:cNvPr id="35" name="Text 32">
            <a:extLst>
              <a:ext uri="{FF2B5EF4-FFF2-40B4-BE49-F238E27FC236}">
                <a16:creationId xmlns:a16="http://schemas.microsoft.com/office/drawing/2014/main" id="{FAF73C2B-80E8-2385-E8A1-A053CF55C1D8}"/>
              </a:ext>
            </a:extLst>
          </p:cNvPr>
          <p:cNvSpPr/>
          <p:nvPr/>
        </p:nvSpPr>
        <p:spPr>
          <a:xfrm>
            <a:off x="3559464" y="3155162"/>
            <a:ext cx="3088252" cy="884429"/>
          </a:xfrm>
          <a:prstGeom prst="rect">
            <a:avLst/>
          </a:prstGeom>
          <a:noFill/>
          <a:ln/>
        </p:spPr>
        <p:txBody>
          <a:bodyPr wrap="square" lIns="0" tIns="0" rIns="0" bIns="0" rtlCol="0" anchor="ctr"/>
          <a:lstStyle/>
          <a:p>
            <a:pPr algn="ctr"/>
            <a:r>
              <a:rPr lang="en-US" sz="555" i="1" dirty="0">
                <a:solidFill>
                  <a:srgbClr val="8C8C8C"/>
                </a:solidFill>
                <a:latin typeface="Calibri" pitchFamily="34" charset="0"/>
                <a:ea typeface="Calibri" pitchFamily="34" charset="-122"/>
                <a:cs typeface="Calibri" pitchFamily="34" charset="-120"/>
              </a:rPr>
              <a:t>[ Insert: Diagram / Workflow / Pedagogical Schema / AI Tools Map ]</a:t>
            </a:r>
            <a:endParaRPr lang="en-US" sz="555" dirty="0"/>
          </a:p>
        </p:txBody>
      </p:sp>
      <p:sp>
        <p:nvSpPr>
          <p:cNvPr id="36" name="Shape 33">
            <a:extLst>
              <a:ext uri="{FF2B5EF4-FFF2-40B4-BE49-F238E27FC236}">
                <a16:creationId xmlns:a16="http://schemas.microsoft.com/office/drawing/2014/main" id="{0D234056-CFE2-E38F-86EB-CB7C218B0B5F}"/>
              </a:ext>
            </a:extLst>
          </p:cNvPr>
          <p:cNvSpPr/>
          <p:nvPr/>
        </p:nvSpPr>
        <p:spPr>
          <a:xfrm>
            <a:off x="43493" y="4783473"/>
            <a:ext cx="6596971" cy="1231815"/>
          </a:xfrm>
          <a:prstGeom prst="rect">
            <a:avLst/>
          </a:prstGeom>
          <a:solidFill>
            <a:srgbClr val="FFFFFF">
              <a:alpha val="60000"/>
            </a:srgbClr>
          </a:solidFill>
          <a:ln w="12700">
            <a:noFill/>
            <a:prstDash val="solid"/>
          </a:ln>
          <a:effectLst>
            <a:outerShdw blurRad="63500" dist="12700" dir="8100000" algn="bl" rotWithShape="0">
              <a:srgbClr val="000000">
                <a:alpha val="6000"/>
              </a:srgbClr>
            </a:outerShdw>
          </a:effectLst>
        </p:spPr>
        <p:txBody>
          <a:bodyPr/>
          <a:lstStyle/>
          <a:p>
            <a:endParaRPr lang="fr-FR" sz="1427" dirty="0"/>
          </a:p>
        </p:txBody>
      </p:sp>
      <p:sp>
        <p:nvSpPr>
          <p:cNvPr id="37" name="Shape 34">
            <a:extLst>
              <a:ext uri="{FF2B5EF4-FFF2-40B4-BE49-F238E27FC236}">
                <a16:creationId xmlns:a16="http://schemas.microsoft.com/office/drawing/2014/main" id="{D5827D74-3DB5-CC38-83F4-F01D980C8FF5}"/>
              </a:ext>
            </a:extLst>
          </p:cNvPr>
          <p:cNvSpPr/>
          <p:nvPr/>
        </p:nvSpPr>
        <p:spPr>
          <a:xfrm>
            <a:off x="130488" y="4783474"/>
            <a:ext cx="6596971" cy="50746"/>
          </a:xfrm>
          <a:prstGeom prst="rect">
            <a:avLst/>
          </a:prstGeom>
          <a:solidFill>
            <a:srgbClr val="46B6AE"/>
          </a:solidFill>
          <a:ln w="12700">
            <a:solidFill>
              <a:srgbClr val="46B6AE"/>
            </a:solidFill>
            <a:prstDash val="solid"/>
          </a:ln>
        </p:spPr>
        <p:txBody>
          <a:bodyPr/>
          <a:lstStyle/>
          <a:p>
            <a:endParaRPr lang="fr-FR" sz="1427"/>
          </a:p>
        </p:txBody>
      </p:sp>
      <p:sp>
        <p:nvSpPr>
          <p:cNvPr id="38" name="Shape 35">
            <a:extLst>
              <a:ext uri="{FF2B5EF4-FFF2-40B4-BE49-F238E27FC236}">
                <a16:creationId xmlns:a16="http://schemas.microsoft.com/office/drawing/2014/main" id="{F80785FB-3645-7A00-A6CC-874BE0045B4C}"/>
              </a:ext>
            </a:extLst>
          </p:cNvPr>
          <p:cNvSpPr/>
          <p:nvPr/>
        </p:nvSpPr>
        <p:spPr>
          <a:xfrm>
            <a:off x="210232" y="4848719"/>
            <a:ext cx="195734" cy="195734"/>
          </a:xfrm>
          <a:prstGeom prst="ellipse">
            <a:avLst/>
          </a:prstGeom>
          <a:solidFill>
            <a:srgbClr val="46B6AE"/>
          </a:solidFill>
          <a:ln w="12700">
            <a:solidFill>
              <a:srgbClr val="46B6AE"/>
            </a:solidFill>
            <a:prstDash val="solid"/>
          </a:ln>
        </p:spPr>
        <p:txBody>
          <a:bodyPr/>
          <a:lstStyle/>
          <a:p>
            <a:endParaRPr lang="fr-FR" sz="1427"/>
          </a:p>
        </p:txBody>
      </p:sp>
      <p:sp>
        <p:nvSpPr>
          <p:cNvPr id="39" name="Text 36">
            <a:extLst>
              <a:ext uri="{FF2B5EF4-FFF2-40B4-BE49-F238E27FC236}">
                <a16:creationId xmlns:a16="http://schemas.microsoft.com/office/drawing/2014/main" id="{0CA2681D-B844-BFD8-EB8C-842D5C009E68}"/>
              </a:ext>
            </a:extLst>
          </p:cNvPr>
          <p:cNvSpPr/>
          <p:nvPr/>
        </p:nvSpPr>
        <p:spPr>
          <a:xfrm>
            <a:off x="210232" y="4848719"/>
            <a:ext cx="195734" cy="195734"/>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0" name="Text 37">
            <a:extLst>
              <a:ext uri="{FF2B5EF4-FFF2-40B4-BE49-F238E27FC236}">
                <a16:creationId xmlns:a16="http://schemas.microsoft.com/office/drawing/2014/main" id="{DF4E05DB-3D21-2351-C7B0-9ADCA11F43C1}"/>
              </a:ext>
            </a:extLst>
          </p:cNvPr>
          <p:cNvSpPr/>
          <p:nvPr/>
        </p:nvSpPr>
        <p:spPr>
          <a:xfrm>
            <a:off x="449463" y="4848718"/>
            <a:ext cx="6191003" cy="202984"/>
          </a:xfrm>
          <a:prstGeom prst="rect">
            <a:avLst/>
          </a:prstGeom>
          <a:noFill/>
          <a:ln/>
        </p:spPr>
        <p:txBody>
          <a:bodyPr wrap="square" lIns="0" tIns="0" rIns="0" bIns="0" rtlCol="0" anchor="ctr"/>
          <a:lstStyle/>
          <a:p>
            <a:r>
              <a:rPr lang="en-US" sz="1200" b="1" dirty="0">
                <a:solidFill>
                  <a:srgbClr val="002060"/>
                </a:solidFill>
                <a:latin typeface="Calibri" pitchFamily="34" charset="0"/>
                <a:ea typeface="Calibri" pitchFamily="34" charset="-122"/>
                <a:cs typeface="Calibri" pitchFamily="34" charset="-120"/>
              </a:rPr>
              <a:t>Innovation &amp; Contribution ⭐  —  What is new?</a:t>
            </a:r>
            <a:endParaRPr lang="en-US" sz="1200" dirty="0">
              <a:solidFill>
                <a:srgbClr val="002060"/>
              </a:solidFill>
            </a:endParaRPr>
          </a:p>
        </p:txBody>
      </p:sp>
      <p:sp>
        <p:nvSpPr>
          <p:cNvPr id="41" name="Shape 38">
            <a:extLst>
              <a:ext uri="{FF2B5EF4-FFF2-40B4-BE49-F238E27FC236}">
                <a16:creationId xmlns:a16="http://schemas.microsoft.com/office/drawing/2014/main" id="{E4CB103A-9917-4598-825A-A4B69A2BBB40}"/>
              </a:ext>
            </a:extLst>
          </p:cNvPr>
          <p:cNvSpPr/>
          <p:nvPr/>
        </p:nvSpPr>
        <p:spPr>
          <a:xfrm>
            <a:off x="210232" y="5066201"/>
            <a:ext cx="6437483" cy="0"/>
          </a:xfrm>
          <a:prstGeom prst="line">
            <a:avLst/>
          </a:prstGeom>
          <a:noFill/>
          <a:ln w="6350">
            <a:solidFill>
              <a:srgbClr val="555555"/>
            </a:solidFill>
            <a:prstDash val="solid"/>
          </a:ln>
        </p:spPr>
        <p:txBody>
          <a:bodyPr/>
          <a:lstStyle/>
          <a:p>
            <a:endParaRPr lang="fr-FR" sz="1427"/>
          </a:p>
        </p:txBody>
      </p:sp>
      <p:sp>
        <p:nvSpPr>
          <p:cNvPr id="42" name="Text 39">
            <a:extLst>
              <a:ext uri="{FF2B5EF4-FFF2-40B4-BE49-F238E27FC236}">
                <a16:creationId xmlns:a16="http://schemas.microsoft.com/office/drawing/2014/main" id="{4137EAA5-4FA6-BE69-5261-41DA24F1966A}"/>
              </a:ext>
            </a:extLst>
          </p:cNvPr>
          <p:cNvSpPr/>
          <p:nvPr/>
        </p:nvSpPr>
        <p:spPr>
          <a:xfrm>
            <a:off x="289975" y="5102448"/>
            <a:ext cx="2049169" cy="144988"/>
          </a:xfrm>
          <a:prstGeom prst="rect">
            <a:avLst/>
          </a:prstGeom>
          <a:noFill/>
          <a:ln/>
        </p:spPr>
        <p:txBody>
          <a:bodyPr wrap="square" lIns="0" tIns="0" rIns="0" bIns="0" rtlCol="0" anchor="t"/>
          <a:lstStyle/>
          <a:p>
            <a:r>
              <a:rPr lang="en-US" sz="1000" b="1" dirty="0">
                <a:solidFill>
                  <a:srgbClr val="002060"/>
                </a:solidFill>
                <a:latin typeface="Calibri" pitchFamily="34" charset="0"/>
                <a:ea typeface="Calibri" pitchFamily="34" charset="-122"/>
                <a:cs typeface="Calibri" pitchFamily="34" charset="-120"/>
              </a:rPr>
              <a:t>Pedagogical Innovation</a:t>
            </a:r>
            <a:endParaRPr lang="en-US" sz="1000" dirty="0">
              <a:solidFill>
                <a:srgbClr val="002060"/>
              </a:solidFill>
            </a:endParaRPr>
          </a:p>
        </p:txBody>
      </p:sp>
      <p:sp>
        <p:nvSpPr>
          <p:cNvPr id="43" name="Text 40">
            <a:extLst>
              <a:ext uri="{FF2B5EF4-FFF2-40B4-BE49-F238E27FC236}">
                <a16:creationId xmlns:a16="http://schemas.microsoft.com/office/drawing/2014/main" id="{E2189642-120E-7366-6282-C67B89AA85A6}"/>
              </a:ext>
            </a:extLst>
          </p:cNvPr>
          <p:cNvSpPr/>
          <p:nvPr/>
        </p:nvSpPr>
        <p:spPr>
          <a:xfrm>
            <a:off x="210231" y="5247437"/>
            <a:ext cx="1962397" cy="318974"/>
          </a:xfrm>
          <a:prstGeom prst="rect">
            <a:avLst/>
          </a:prstGeom>
          <a:noFill/>
          <a:ln/>
        </p:spPr>
        <p:txBody>
          <a:bodyPr wrap="square" lIns="0" tIns="0" rIns="0" bIns="0" rtlCol="0" anchor="t"/>
          <a:lstStyle/>
          <a:p>
            <a:pPr algn="just"/>
            <a:r>
              <a:rPr lang="en-US" sz="1000" dirty="0">
                <a:latin typeface="Calibri" pitchFamily="34" charset="0"/>
                <a:ea typeface="Calibri" pitchFamily="34" charset="-122"/>
                <a:cs typeface="Calibri" pitchFamily="34" charset="-120"/>
              </a:rPr>
              <a:t>Integrating version control  enables transparent assessment in project-based learning. It improves the visibility of individual contributions within group projects.</a:t>
            </a:r>
            <a:endParaRPr lang="en-US" sz="1000" dirty="0"/>
          </a:p>
        </p:txBody>
      </p:sp>
      <p:sp>
        <p:nvSpPr>
          <p:cNvPr id="44" name="Shape 41">
            <a:extLst>
              <a:ext uri="{FF2B5EF4-FFF2-40B4-BE49-F238E27FC236}">
                <a16:creationId xmlns:a16="http://schemas.microsoft.com/office/drawing/2014/main" id="{5749A0E0-E0C6-DACD-C171-A546580B67A8}"/>
              </a:ext>
            </a:extLst>
          </p:cNvPr>
          <p:cNvSpPr/>
          <p:nvPr/>
        </p:nvSpPr>
        <p:spPr>
          <a:xfrm flipH="1">
            <a:off x="2360948" y="5102447"/>
            <a:ext cx="14444" cy="699117"/>
          </a:xfrm>
          <a:prstGeom prst="line">
            <a:avLst/>
          </a:prstGeom>
          <a:noFill/>
          <a:ln w="6350">
            <a:solidFill>
              <a:srgbClr val="555555"/>
            </a:solidFill>
            <a:prstDash val="solid"/>
          </a:ln>
        </p:spPr>
        <p:txBody>
          <a:bodyPr/>
          <a:lstStyle/>
          <a:p>
            <a:endParaRPr lang="fr-FR" sz="1427"/>
          </a:p>
        </p:txBody>
      </p:sp>
      <p:sp>
        <p:nvSpPr>
          <p:cNvPr id="45" name="Text 42">
            <a:extLst>
              <a:ext uri="{FF2B5EF4-FFF2-40B4-BE49-F238E27FC236}">
                <a16:creationId xmlns:a16="http://schemas.microsoft.com/office/drawing/2014/main" id="{31156BA5-2E5C-D532-3EA7-A5FD660568E0}"/>
              </a:ext>
            </a:extLst>
          </p:cNvPr>
          <p:cNvSpPr/>
          <p:nvPr/>
        </p:nvSpPr>
        <p:spPr>
          <a:xfrm>
            <a:off x="2411639" y="5102448"/>
            <a:ext cx="2049169" cy="144988"/>
          </a:xfrm>
          <a:prstGeom prst="rect">
            <a:avLst/>
          </a:prstGeom>
          <a:noFill/>
          <a:ln/>
        </p:spPr>
        <p:txBody>
          <a:bodyPr wrap="square" lIns="0" tIns="0" rIns="0" bIns="0" rtlCol="0" anchor="t"/>
          <a:lstStyle/>
          <a:p>
            <a:r>
              <a:rPr lang="en-US" sz="1000" b="1" dirty="0">
                <a:solidFill>
                  <a:srgbClr val="002060"/>
                </a:solidFill>
                <a:latin typeface="Calibri" pitchFamily="34" charset="0"/>
                <a:ea typeface="Calibri" pitchFamily="34" charset="-122"/>
                <a:cs typeface="Calibri" pitchFamily="34" charset="-120"/>
              </a:rPr>
              <a:t>Scientific Contribution</a:t>
            </a:r>
            <a:endParaRPr lang="en-US" sz="1000" dirty="0">
              <a:solidFill>
                <a:srgbClr val="002060"/>
              </a:solidFill>
            </a:endParaRPr>
          </a:p>
        </p:txBody>
      </p:sp>
      <p:sp>
        <p:nvSpPr>
          <p:cNvPr id="46" name="Text 43">
            <a:extLst>
              <a:ext uri="{FF2B5EF4-FFF2-40B4-BE49-F238E27FC236}">
                <a16:creationId xmlns:a16="http://schemas.microsoft.com/office/drawing/2014/main" id="{44361E9B-D3E5-EBB9-975C-7A91C32A5383}"/>
              </a:ext>
            </a:extLst>
          </p:cNvPr>
          <p:cNvSpPr/>
          <p:nvPr/>
        </p:nvSpPr>
        <p:spPr>
          <a:xfrm>
            <a:off x="2411639" y="5247437"/>
            <a:ext cx="2049169" cy="318974"/>
          </a:xfrm>
          <a:prstGeom prst="rect">
            <a:avLst/>
          </a:prstGeom>
          <a:noFill/>
          <a:ln/>
        </p:spPr>
        <p:txBody>
          <a:bodyPr wrap="square" lIns="0" tIns="0" rIns="0" bIns="0" rtlCol="0" anchor="t"/>
          <a:lstStyle/>
          <a:p>
            <a:pPr algn="just"/>
            <a:r>
              <a:rPr lang="en-US" sz="1000" dirty="0">
                <a:latin typeface="Calibri" pitchFamily="34" charset="0"/>
                <a:ea typeface="Calibri" pitchFamily="34" charset="-122"/>
                <a:cs typeface="Calibri" pitchFamily="34" charset="-120"/>
              </a:rPr>
              <a:t>An AI-enabled academic Git platform that bridges software engineering tools with pedagogy while offering insights into scalable academic project management.</a:t>
            </a:r>
          </a:p>
        </p:txBody>
      </p:sp>
      <p:sp>
        <p:nvSpPr>
          <p:cNvPr id="47" name="Shape 44">
            <a:extLst>
              <a:ext uri="{FF2B5EF4-FFF2-40B4-BE49-F238E27FC236}">
                <a16:creationId xmlns:a16="http://schemas.microsoft.com/office/drawing/2014/main" id="{9A3A556F-0EF3-DD5C-C947-4B3535C36780}"/>
              </a:ext>
            </a:extLst>
          </p:cNvPr>
          <p:cNvSpPr/>
          <p:nvPr/>
        </p:nvSpPr>
        <p:spPr>
          <a:xfrm flipH="1">
            <a:off x="4497053" y="5102447"/>
            <a:ext cx="2" cy="713171"/>
          </a:xfrm>
          <a:prstGeom prst="line">
            <a:avLst/>
          </a:prstGeom>
          <a:noFill/>
          <a:ln w="6350">
            <a:solidFill>
              <a:srgbClr val="555555"/>
            </a:solidFill>
            <a:prstDash val="solid"/>
          </a:ln>
        </p:spPr>
        <p:txBody>
          <a:bodyPr/>
          <a:lstStyle/>
          <a:p>
            <a:endParaRPr lang="fr-FR" sz="1427"/>
          </a:p>
        </p:txBody>
      </p:sp>
      <p:sp>
        <p:nvSpPr>
          <p:cNvPr id="48" name="Text 45">
            <a:extLst>
              <a:ext uri="{FF2B5EF4-FFF2-40B4-BE49-F238E27FC236}">
                <a16:creationId xmlns:a16="http://schemas.microsoft.com/office/drawing/2014/main" id="{58F238C9-3A93-A740-3E2B-C33814FB855B}"/>
              </a:ext>
            </a:extLst>
          </p:cNvPr>
          <p:cNvSpPr/>
          <p:nvPr/>
        </p:nvSpPr>
        <p:spPr>
          <a:xfrm>
            <a:off x="4533302" y="5102448"/>
            <a:ext cx="2049169" cy="144988"/>
          </a:xfrm>
          <a:prstGeom prst="rect">
            <a:avLst/>
          </a:prstGeom>
          <a:noFill/>
          <a:ln/>
        </p:spPr>
        <p:txBody>
          <a:bodyPr wrap="square" lIns="0" tIns="0" rIns="0" bIns="0" rtlCol="0" anchor="t"/>
          <a:lstStyle/>
          <a:p>
            <a:r>
              <a:rPr lang="en-US" sz="1000" b="1" dirty="0">
                <a:solidFill>
                  <a:srgbClr val="002060"/>
                </a:solidFill>
                <a:latin typeface="Calibri" pitchFamily="34" charset="0"/>
                <a:ea typeface="Calibri" pitchFamily="34" charset="-122"/>
                <a:cs typeface="Calibri" pitchFamily="34" charset="-120"/>
              </a:rPr>
              <a:t>Originality vs. Existing Practice</a:t>
            </a:r>
            <a:endParaRPr lang="en-US" sz="1000" dirty="0">
              <a:solidFill>
                <a:srgbClr val="002060"/>
              </a:solidFill>
            </a:endParaRPr>
          </a:p>
        </p:txBody>
      </p:sp>
      <p:sp>
        <p:nvSpPr>
          <p:cNvPr id="49" name="Text 46">
            <a:extLst>
              <a:ext uri="{FF2B5EF4-FFF2-40B4-BE49-F238E27FC236}">
                <a16:creationId xmlns:a16="http://schemas.microsoft.com/office/drawing/2014/main" id="{BB5D32A2-0E0C-FBEF-123D-EA6555FC195D}"/>
              </a:ext>
            </a:extLst>
          </p:cNvPr>
          <p:cNvSpPr/>
          <p:nvPr/>
        </p:nvSpPr>
        <p:spPr>
          <a:xfrm>
            <a:off x="4544189" y="5247437"/>
            <a:ext cx="2038282" cy="318974"/>
          </a:xfrm>
          <a:prstGeom prst="rect">
            <a:avLst/>
          </a:prstGeom>
          <a:noFill/>
          <a:ln/>
        </p:spPr>
        <p:txBody>
          <a:bodyPr wrap="square" lIns="0" tIns="0" rIns="0" bIns="0" rtlCol="0" anchor="t"/>
          <a:lstStyle/>
          <a:p>
            <a:pPr algn="just"/>
            <a:r>
              <a:rPr lang="en-US" sz="1000" dirty="0">
                <a:latin typeface="Calibri" pitchFamily="34" charset="0"/>
                <a:ea typeface="Calibri" pitchFamily="34" charset="-122"/>
                <a:cs typeface="Calibri" pitchFamily="34" charset="-120"/>
              </a:rPr>
              <a:t>Unlike GitHub or GitLab, </a:t>
            </a:r>
            <a:r>
              <a:rPr lang="en-US" sz="1000" dirty="0" err="1">
                <a:latin typeface="Calibri" pitchFamily="34" charset="0"/>
                <a:ea typeface="Calibri" pitchFamily="34" charset="-122"/>
                <a:cs typeface="Calibri" pitchFamily="34" charset="-120"/>
              </a:rPr>
              <a:t>EspriHub</a:t>
            </a:r>
            <a:r>
              <a:rPr lang="en-US" sz="1000" dirty="0">
                <a:latin typeface="Calibri" pitchFamily="34" charset="0"/>
                <a:ea typeface="Calibri" pitchFamily="34" charset="-122"/>
                <a:cs typeface="Calibri" pitchFamily="34" charset="-120"/>
              </a:rPr>
              <a:t> natively supports academic structures, automated submissions, deadline enforcement, and AI-powered grading assistance tailored to higher education.</a:t>
            </a:r>
            <a:endParaRPr lang="en-US" sz="1000" dirty="0"/>
          </a:p>
        </p:txBody>
      </p:sp>
      <p:sp>
        <p:nvSpPr>
          <p:cNvPr id="50" name="Shape 47">
            <a:extLst>
              <a:ext uri="{FF2B5EF4-FFF2-40B4-BE49-F238E27FC236}">
                <a16:creationId xmlns:a16="http://schemas.microsoft.com/office/drawing/2014/main" id="{FB1EA278-B0F5-EF8A-3410-9DD77D6F66DA}"/>
              </a:ext>
            </a:extLst>
          </p:cNvPr>
          <p:cNvSpPr/>
          <p:nvPr/>
        </p:nvSpPr>
        <p:spPr>
          <a:xfrm>
            <a:off x="130487" y="6180342"/>
            <a:ext cx="3247739" cy="2645999"/>
          </a:xfrm>
          <a:prstGeom prst="rect">
            <a:avLst/>
          </a:prstGeom>
          <a:solidFill>
            <a:srgbClr val="FFFFFF"/>
          </a:solidFill>
          <a:ln w="7620">
            <a:solidFill>
              <a:srgbClr val="E8E8E8"/>
            </a:solidFill>
            <a:prstDash val="solid"/>
          </a:ln>
          <a:effectLst>
            <a:outerShdw blurRad="63500" dist="12700" dir="8100000" algn="bl" rotWithShape="0">
              <a:srgbClr val="000000">
                <a:alpha val="6000"/>
              </a:srgbClr>
            </a:outerShdw>
          </a:effectLst>
        </p:spPr>
        <p:txBody>
          <a:bodyPr/>
          <a:lstStyle/>
          <a:p>
            <a:endParaRPr lang="fr-FR" sz="1427"/>
          </a:p>
        </p:txBody>
      </p:sp>
      <p:sp>
        <p:nvSpPr>
          <p:cNvPr id="51" name="Shape 48">
            <a:extLst>
              <a:ext uri="{FF2B5EF4-FFF2-40B4-BE49-F238E27FC236}">
                <a16:creationId xmlns:a16="http://schemas.microsoft.com/office/drawing/2014/main" id="{C57D1F22-AA28-78FF-B218-63CEFD1694A0}"/>
              </a:ext>
            </a:extLst>
          </p:cNvPr>
          <p:cNvSpPr/>
          <p:nvPr/>
        </p:nvSpPr>
        <p:spPr>
          <a:xfrm>
            <a:off x="130487" y="6153165"/>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54" name="Text 51">
            <a:extLst>
              <a:ext uri="{FF2B5EF4-FFF2-40B4-BE49-F238E27FC236}">
                <a16:creationId xmlns:a16="http://schemas.microsoft.com/office/drawing/2014/main" id="{901BE0FF-7282-77F6-AD4A-5A92D3EEE552}"/>
              </a:ext>
            </a:extLst>
          </p:cNvPr>
          <p:cNvSpPr/>
          <p:nvPr/>
        </p:nvSpPr>
        <p:spPr>
          <a:xfrm>
            <a:off x="449461" y="6218409"/>
            <a:ext cx="2841772" cy="202984"/>
          </a:xfrm>
          <a:prstGeom prst="rect">
            <a:avLst/>
          </a:prstGeom>
          <a:noFill/>
          <a:ln/>
        </p:spPr>
        <p:txBody>
          <a:bodyPr wrap="square" lIns="0" tIns="0" rIns="0" bIns="0" rtlCol="0" anchor="ctr"/>
          <a:lstStyle/>
          <a:p>
            <a:r>
              <a:rPr lang="en-US" sz="1200" b="1" dirty="0">
                <a:solidFill>
                  <a:srgbClr val="2C2C2C"/>
                </a:solidFill>
                <a:latin typeface="Calibri" pitchFamily="34" charset="0"/>
                <a:ea typeface="Calibri" pitchFamily="34" charset="-122"/>
                <a:cs typeface="Calibri" pitchFamily="34" charset="-120"/>
              </a:rPr>
              <a:t>Results &amp; Evidence</a:t>
            </a:r>
            <a:endParaRPr lang="en-US" sz="1200" dirty="0"/>
          </a:p>
        </p:txBody>
      </p:sp>
      <p:sp>
        <p:nvSpPr>
          <p:cNvPr id="55" name="Shape 52">
            <a:extLst>
              <a:ext uri="{FF2B5EF4-FFF2-40B4-BE49-F238E27FC236}">
                <a16:creationId xmlns:a16="http://schemas.microsoft.com/office/drawing/2014/main" id="{03E1B11E-C072-40F3-DEF0-BBAA220BD280}"/>
              </a:ext>
            </a:extLst>
          </p:cNvPr>
          <p:cNvSpPr/>
          <p:nvPr/>
        </p:nvSpPr>
        <p:spPr>
          <a:xfrm>
            <a:off x="210230" y="6428643"/>
            <a:ext cx="3088252" cy="0"/>
          </a:xfrm>
          <a:prstGeom prst="line">
            <a:avLst/>
          </a:prstGeom>
          <a:noFill/>
          <a:ln w="6350">
            <a:solidFill>
              <a:srgbClr val="E8E8E8"/>
            </a:solidFill>
            <a:prstDash val="solid"/>
          </a:ln>
        </p:spPr>
        <p:txBody>
          <a:bodyPr/>
          <a:lstStyle/>
          <a:p>
            <a:endParaRPr lang="fr-FR" sz="1427"/>
          </a:p>
        </p:txBody>
      </p:sp>
      <p:sp>
        <p:nvSpPr>
          <p:cNvPr id="56" name="Text 53">
            <a:extLst>
              <a:ext uri="{FF2B5EF4-FFF2-40B4-BE49-F238E27FC236}">
                <a16:creationId xmlns:a16="http://schemas.microsoft.com/office/drawing/2014/main" id="{EBF62CD1-4604-A186-E030-C3C29480C196}"/>
              </a:ext>
            </a:extLst>
          </p:cNvPr>
          <p:cNvSpPr/>
          <p:nvPr/>
        </p:nvSpPr>
        <p:spPr>
          <a:xfrm>
            <a:off x="210230" y="6653376"/>
            <a:ext cx="3088252" cy="304476"/>
          </a:xfrm>
          <a:prstGeom prst="rect">
            <a:avLst/>
          </a:prstGeom>
          <a:noFill/>
          <a:ln/>
        </p:spPr>
        <p:txBody>
          <a:bodyPr wrap="square" lIns="0" tIns="0" rIns="0" bIns="0" rtlCol="0" anchor="t"/>
          <a:lstStyle/>
          <a:p>
            <a:r>
              <a:rPr lang="en-US" sz="1000" b="1" dirty="0">
                <a:solidFill>
                  <a:srgbClr val="2C2C2C"/>
                </a:solidFill>
                <a:latin typeface="Calibri" pitchFamily="34" charset="0"/>
                <a:ea typeface="Calibri" pitchFamily="34" charset="-122"/>
                <a:cs typeface="Calibri" pitchFamily="34" charset="-120"/>
              </a:rPr>
              <a:t>Early-stage work: </a:t>
            </a:r>
            <a:r>
              <a:rPr lang="en-US" sz="1000" dirty="0">
                <a:solidFill>
                  <a:srgbClr val="5A5A5A"/>
                </a:solidFill>
                <a:latin typeface="Calibri" pitchFamily="34" charset="0"/>
                <a:ea typeface="Calibri" pitchFamily="34" charset="-122"/>
                <a:cs typeface="Calibri" pitchFamily="34" charset="-120"/>
              </a:rPr>
              <a:t>preliminary observations, student feedback, prototype.</a:t>
            </a:r>
            <a:endParaRPr lang="en-US" sz="1000" dirty="0"/>
          </a:p>
          <a:p>
            <a:r>
              <a:rPr lang="en-US" sz="1000" b="1" dirty="0">
                <a:solidFill>
                  <a:srgbClr val="2C2C2C"/>
                </a:solidFill>
                <a:latin typeface="Calibri" pitchFamily="34" charset="0"/>
                <a:ea typeface="Calibri" pitchFamily="34" charset="-122"/>
                <a:cs typeface="Calibri" pitchFamily="34" charset="-120"/>
              </a:rPr>
              <a:t>Practice-based work: </a:t>
            </a:r>
            <a:r>
              <a:rPr lang="en-US" sz="1000" dirty="0">
                <a:solidFill>
                  <a:srgbClr val="5A5A5A"/>
                </a:solidFill>
                <a:latin typeface="Calibri" pitchFamily="34" charset="0"/>
                <a:ea typeface="Calibri" pitchFamily="34" charset="-122"/>
                <a:cs typeface="Calibri" pitchFamily="34" charset="-120"/>
              </a:rPr>
              <a:t>results, impact metrics, concrete examples.</a:t>
            </a:r>
            <a:endParaRPr lang="en-US" sz="1000" dirty="0"/>
          </a:p>
        </p:txBody>
      </p:sp>
      <p:sp>
        <p:nvSpPr>
          <p:cNvPr id="57" name="Shape 54">
            <a:extLst>
              <a:ext uri="{FF2B5EF4-FFF2-40B4-BE49-F238E27FC236}">
                <a16:creationId xmlns:a16="http://schemas.microsoft.com/office/drawing/2014/main" id="{F05D9E90-0E3E-1E12-7691-DD1E058EA3F7}"/>
              </a:ext>
            </a:extLst>
          </p:cNvPr>
          <p:cNvSpPr/>
          <p:nvPr/>
        </p:nvSpPr>
        <p:spPr>
          <a:xfrm>
            <a:off x="202981" y="7286775"/>
            <a:ext cx="3088252" cy="1352205"/>
          </a:xfrm>
          <a:prstGeom prst="rect">
            <a:avLst/>
          </a:prstGeom>
          <a:solidFill>
            <a:srgbClr val="EEEEEE"/>
          </a:solidFill>
          <a:ln w="6350">
            <a:solidFill>
              <a:srgbClr val="E8E8E8"/>
            </a:solidFill>
            <a:prstDash val="solid"/>
          </a:ln>
        </p:spPr>
        <p:txBody>
          <a:bodyPr wrap="square"/>
          <a:lstStyle/>
          <a:p>
            <a:r>
              <a:rPr sz="1400"/>
              <a:t>Evidence from implemented prototype and platform behavior:</a:t>
            </a:r>
            <a:br/>
            <a:r>
              <a:rPr sz="1400"/>
              <a:t>1) End-to-end operational prototype delivered: repository browsing, commit/history tracking, submission workflows, notifications, and admin management are integrated in one platform.</a:t>
            </a:r>
            <a:br/>
            <a:r>
              <a:rPr sz="1400"/>
              <a:t>2) Webhook reliability improved through self-healing operations: automatic subscription, periodic health checks, retry policies, and cleanup routines reduce manual intervention needs.</a:t>
            </a:r>
            <a:br/>
            <a:r>
              <a:rPr sz="1400"/>
              <a:t>3) Monitoring visibility strengthened: admin views expose webhook status, failures, and repository-level synchronization signals for faster troubleshooting.</a:t>
            </a:r>
            <a:br/>
            <a:r>
              <a:rPr sz="1400"/>
              <a:t>4) Assessment traceability increased: task assignment, submission attempts, commit hashes, and grading metadata are centrally recorded for auditability.</a:t>
            </a:r>
            <a:br/>
            <a:r>
              <a:rPr sz="1400"/>
              <a:t>5) Risk analytics capability added: a Deadline Risk Radar endpoint aggregates overdue tasks, due-soon tasks, repository staleness, token availability, and inactivity signals.</a:t>
            </a:r>
            <a:br/>
            <a:r>
              <a:rPr sz="1400"/>
              <a:t>6) Security posture established for academic deployment: signature-verified webhooks, role-based access control, JWT flows, and production hardening checklist documented.</a:t>
            </a:r>
            <a:br/>
            <a:r>
              <a:rPr sz="1400"/>
              <a:t>7) Practical impact observed (qualitative): reduced repetitive manual coordination for teachers, improved transparency of student contribution signals, and better readiness for large-cohort project monitoring.</a:t>
            </a:r>
            <a:endParaRPr lang="fr-FR" sz="1427"/>
          </a:p>
        </p:txBody>
      </p:sp>
      <p:sp>
        <p:nvSpPr>
          <p:cNvPr id="58" name="Text 55">
            <a:extLst>
              <a:ext uri="{FF2B5EF4-FFF2-40B4-BE49-F238E27FC236}">
                <a16:creationId xmlns:a16="http://schemas.microsoft.com/office/drawing/2014/main" id="{84447B5F-E84A-1FEE-4788-F93B8931422B}"/>
              </a:ext>
            </a:extLst>
          </p:cNvPr>
          <p:cNvSpPr/>
          <p:nvPr/>
        </p:nvSpPr>
        <p:spPr>
          <a:xfrm>
            <a:off x="210230" y="7805298"/>
            <a:ext cx="3088252" cy="826434"/>
          </a:xfrm>
          <a:prstGeom prst="rect">
            <a:avLst/>
          </a:prstGeom>
          <a:noFill/>
          <a:ln/>
        </p:spPr>
        <p:txBody>
          <a:bodyPr wrap="square" lIns="0" tIns="0" rIns="0" bIns="0" rtlCol="0" anchor="ctr"/>
          <a:lstStyle/>
          <a:p>
            <a:pPr algn="ctr"/>
            <a:r>
              <a:rPr lang="en-US" sz="555" i="1" dirty="0">
                <a:solidFill>
                  <a:srgbClr val="8C8C8C"/>
                </a:solidFill>
                <a:latin typeface="Calibri" pitchFamily="34" charset="0"/>
                <a:ea typeface="Calibri" pitchFamily="34" charset="-122"/>
                <a:cs typeface="Calibri" pitchFamily="34" charset="-120"/>
              </a:rPr>
              <a:t>[ Chart · Table · Key Metrics · Student Quotes ]</a:t>
            </a:r>
            <a:endParaRPr lang="en-US" sz="555" dirty="0"/>
          </a:p>
        </p:txBody>
      </p:sp>
      <p:sp>
        <p:nvSpPr>
          <p:cNvPr id="59" name="Shape 56">
            <a:extLst>
              <a:ext uri="{FF2B5EF4-FFF2-40B4-BE49-F238E27FC236}">
                <a16:creationId xmlns:a16="http://schemas.microsoft.com/office/drawing/2014/main" id="{95252F8A-ABC8-6356-6709-5A29E78E1143}"/>
              </a:ext>
            </a:extLst>
          </p:cNvPr>
          <p:cNvSpPr/>
          <p:nvPr/>
        </p:nvSpPr>
        <p:spPr>
          <a:xfrm>
            <a:off x="3479718" y="6153164"/>
            <a:ext cx="3247739" cy="2645999"/>
          </a:xfrm>
          <a:prstGeom prst="rect">
            <a:avLst/>
          </a:prstGeom>
          <a:solidFill>
            <a:srgbClr val="FFFFFF"/>
          </a:solidFill>
          <a:ln w="7620">
            <a:solidFill>
              <a:srgbClr val="E8E8E8"/>
            </a:solidFill>
            <a:prstDash val="solid"/>
          </a:ln>
          <a:effectLst>
            <a:outerShdw blurRad="63500" dist="12700" dir="8100000" algn="bl" rotWithShape="0">
              <a:srgbClr val="000000">
                <a:alpha val="6000"/>
              </a:srgbClr>
            </a:outerShdw>
          </a:effectLst>
        </p:spPr>
        <p:txBody>
          <a:bodyPr/>
          <a:lstStyle/>
          <a:p>
            <a:endParaRPr lang="fr-FR" sz="1427"/>
          </a:p>
        </p:txBody>
      </p:sp>
      <p:sp>
        <p:nvSpPr>
          <p:cNvPr id="60" name="Shape 57">
            <a:extLst>
              <a:ext uri="{FF2B5EF4-FFF2-40B4-BE49-F238E27FC236}">
                <a16:creationId xmlns:a16="http://schemas.microsoft.com/office/drawing/2014/main" id="{01291D6B-31D2-669A-3EC0-3B68B671D1AF}"/>
              </a:ext>
            </a:extLst>
          </p:cNvPr>
          <p:cNvSpPr/>
          <p:nvPr/>
        </p:nvSpPr>
        <p:spPr>
          <a:xfrm>
            <a:off x="3479718" y="6153165"/>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61" name="Shape 58">
            <a:extLst>
              <a:ext uri="{FF2B5EF4-FFF2-40B4-BE49-F238E27FC236}">
                <a16:creationId xmlns:a16="http://schemas.microsoft.com/office/drawing/2014/main" id="{80AD8576-52A8-0225-6C1E-8DB1EEF29BDA}"/>
              </a:ext>
            </a:extLst>
          </p:cNvPr>
          <p:cNvSpPr/>
          <p:nvPr/>
        </p:nvSpPr>
        <p:spPr>
          <a:xfrm>
            <a:off x="3559461" y="6218410"/>
            <a:ext cx="195734" cy="195734"/>
          </a:xfrm>
          <a:prstGeom prst="ellipse">
            <a:avLst/>
          </a:prstGeom>
          <a:solidFill>
            <a:srgbClr val="46B6AE"/>
          </a:solidFill>
          <a:ln w="12700">
            <a:solidFill>
              <a:srgbClr val="46B6AE"/>
            </a:solidFill>
            <a:prstDash val="solid"/>
          </a:ln>
        </p:spPr>
        <p:txBody>
          <a:bodyPr/>
          <a:lstStyle/>
          <a:p>
            <a:endParaRPr lang="fr-FR" sz="1000"/>
          </a:p>
        </p:txBody>
      </p:sp>
      <p:sp>
        <p:nvSpPr>
          <p:cNvPr id="62" name="Text 59">
            <a:extLst>
              <a:ext uri="{FF2B5EF4-FFF2-40B4-BE49-F238E27FC236}">
                <a16:creationId xmlns:a16="http://schemas.microsoft.com/office/drawing/2014/main" id="{67B11C2D-19BC-89B9-AF24-3C894B059305}"/>
              </a:ext>
            </a:extLst>
          </p:cNvPr>
          <p:cNvSpPr/>
          <p:nvPr/>
        </p:nvSpPr>
        <p:spPr>
          <a:xfrm>
            <a:off x="3559461" y="6218410"/>
            <a:ext cx="195734" cy="195734"/>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63" name="Text 60">
            <a:extLst>
              <a:ext uri="{FF2B5EF4-FFF2-40B4-BE49-F238E27FC236}">
                <a16:creationId xmlns:a16="http://schemas.microsoft.com/office/drawing/2014/main" id="{90BBBC28-A2A1-9D9D-C2AF-519D622242D8}"/>
              </a:ext>
            </a:extLst>
          </p:cNvPr>
          <p:cNvSpPr/>
          <p:nvPr/>
        </p:nvSpPr>
        <p:spPr>
          <a:xfrm>
            <a:off x="3798692" y="6218409"/>
            <a:ext cx="2841772" cy="202984"/>
          </a:xfrm>
          <a:prstGeom prst="rect">
            <a:avLst/>
          </a:prstGeom>
          <a:noFill/>
          <a:ln/>
        </p:spPr>
        <p:txBody>
          <a:bodyPr wrap="square" lIns="0" tIns="0" rIns="0" bIns="0" rtlCol="0" anchor="ctr"/>
          <a:lstStyle/>
          <a:p>
            <a:r>
              <a:rPr lang="en-US" sz="1200" b="1" dirty="0">
                <a:solidFill>
                  <a:srgbClr val="2C2C2C"/>
                </a:solidFill>
                <a:latin typeface="Calibri" pitchFamily="34" charset="0"/>
                <a:ea typeface="Calibri" pitchFamily="34" charset="-122"/>
                <a:cs typeface="Calibri" pitchFamily="34" charset="-120"/>
              </a:rPr>
              <a:t>Implications &amp; Best Practices</a:t>
            </a:r>
            <a:endParaRPr lang="en-US" sz="1200" dirty="0"/>
          </a:p>
        </p:txBody>
      </p:sp>
      <p:sp>
        <p:nvSpPr>
          <p:cNvPr id="64" name="Shape 61">
            <a:extLst>
              <a:ext uri="{FF2B5EF4-FFF2-40B4-BE49-F238E27FC236}">
                <a16:creationId xmlns:a16="http://schemas.microsoft.com/office/drawing/2014/main" id="{3784FE32-DF0B-CF0A-BA50-ECAAB5AC279C}"/>
              </a:ext>
            </a:extLst>
          </p:cNvPr>
          <p:cNvSpPr/>
          <p:nvPr/>
        </p:nvSpPr>
        <p:spPr>
          <a:xfrm>
            <a:off x="3559461" y="6428643"/>
            <a:ext cx="3088252" cy="0"/>
          </a:xfrm>
          <a:prstGeom prst="line">
            <a:avLst/>
          </a:prstGeom>
          <a:noFill/>
          <a:ln w="6350">
            <a:solidFill>
              <a:srgbClr val="E8E8E8"/>
            </a:solidFill>
            <a:prstDash val="solid"/>
          </a:ln>
        </p:spPr>
        <p:txBody>
          <a:bodyPr/>
          <a:lstStyle/>
          <a:p>
            <a:endParaRPr lang="fr-FR" sz="1200"/>
          </a:p>
        </p:txBody>
      </p:sp>
      <p:sp>
        <p:nvSpPr>
          <p:cNvPr id="65" name="Text 62">
            <a:extLst>
              <a:ext uri="{FF2B5EF4-FFF2-40B4-BE49-F238E27FC236}">
                <a16:creationId xmlns:a16="http://schemas.microsoft.com/office/drawing/2014/main" id="{8D14342C-2943-9815-DC80-2B85F12F7D3E}"/>
              </a:ext>
            </a:extLst>
          </p:cNvPr>
          <p:cNvSpPr/>
          <p:nvPr/>
        </p:nvSpPr>
        <p:spPr>
          <a:xfrm>
            <a:off x="3559461" y="6472139"/>
            <a:ext cx="3088252" cy="1188905"/>
          </a:xfrm>
          <a:prstGeom prst="rect">
            <a:avLst/>
          </a:prstGeom>
          <a:noFill/>
          <a:ln/>
        </p:spPr>
        <p:txBody>
          <a:bodyPr wrap="square" lIns="0" tIns="0" rIns="0" bIns="0" rtlCol="0" anchor="t"/>
          <a:lstStyle/>
          <a:p>
            <a:pPr marL="271851" indent="-271851" algn="just">
              <a:spcAft>
                <a:spcPts val="159"/>
              </a:spcAft>
              <a:buSzPct val="100000"/>
              <a:buFontTx/>
              <a:buChar char="•"/>
            </a:pPr>
            <a:r>
              <a:rPr lang="fr-FR" sz="1000" dirty="0">
                <a:solidFill>
                  <a:srgbClr val="5A5A5A"/>
                </a:solidFill>
                <a:latin typeface="Calibri" pitchFamily="34" charset="0"/>
                <a:ea typeface="Calibri" pitchFamily="34" charset="-122"/>
                <a:cs typeface="Calibri" pitchFamily="34" charset="-120"/>
              </a:rPr>
              <a:t>Start </a:t>
            </a:r>
            <a:r>
              <a:rPr lang="fr-FR" sz="1000" dirty="0" err="1">
                <a:solidFill>
                  <a:srgbClr val="5A5A5A"/>
                </a:solidFill>
                <a:latin typeface="Calibri" pitchFamily="34" charset="0"/>
                <a:ea typeface="Calibri" pitchFamily="34" charset="-122"/>
                <a:cs typeface="Calibri" pitchFamily="34" charset="-120"/>
              </a:rPr>
              <a:t>with</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institutional</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alignment</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before</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technical</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deployment</a:t>
            </a:r>
            <a:endParaRPr lang="fr-FR" sz="1000" dirty="0">
              <a:solidFill>
                <a:srgbClr val="5A5A5A"/>
              </a:solidFill>
              <a:latin typeface="Calibri" pitchFamily="34" charset="0"/>
              <a:ea typeface="Calibri" pitchFamily="34" charset="-122"/>
              <a:cs typeface="Calibri" pitchFamily="34" charset="-120"/>
            </a:endParaRPr>
          </a:p>
          <a:p>
            <a:pPr marL="271851" indent="-271851" algn="just">
              <a:spcAft>
                <a:spcPts val="159"/>
              </a:spcAft>
              <a:buSzPct val="100000"/>
              <a:buFontTx/>
              <a:buChar char="•"/>
            </a:pPr>
            <a:r>
              <a:rPr lang="fr-FR" sz="1000" dirty="0" err="1">
                <a:solidFill>
                  <a:srgbClr val="5A5A5A"/>
                </a:solidFill>
                <a:latin typeface="Calibri" pitchFamily="34" charset="0"/>
                <a:ea typeface="Calibri" pitchFamily="34" charset="-122"/>
                <a:cs typeface="Calibri" pitchFamily="34" charset="-120"/>
              </a:rPr>
              <a:t>Maintain</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human</a:t>
            </a:r>
            <a:r>
              <a:rPr lang="fr-FR" sz="1000" dirty="0">
                <a:solidFill>
                  <a:srgbClr val="5A5A5A"/>
                </a:solidFill>
                <a:latin typeface="Calibri" pitchFamily="34" charset="0"/>
                <a:ea typeface="Calibri" pitchFamily="34" charset="-122"/>
                <a:cs typeface="Calibri" pitchFamily="34" charset="-120"/>
              </a:rPr>
              <a:t>-in-the-</a:t>
            </a:r>
            <a:r>
              <a:rPr lang="fr-FR" sz="1000" dirty="0" err="1">
                <a:solidFill>
                  <a:srgbClr val="5A5A5A"/>
                </a:solidFill>
                <a:latin typeface="Calibri" pitchFamily="34" charset="0"/>
                <a:ea typeface="Calibri" pitchFamily="34" charset="-122"/>
                <a:cs typeface="Calibri" pitchFamily="34" charset="-120"/>
              </a:rPr>
              <a:t>loop</a:t>
            </a:r>
            <a:r>
              <a:rPr lang="fr-FR" sz="1000" dirty="0">
                <a:solidFill>
                  <a:srgbClr val="5A5A5A"/>
                </a:solidFill>
                <a:latin typeface="Calibri" pitchFamily="34" charset="0"/>
                <a:ea typeface="Calibri" pitchFamily="34" charset="-122"/>
                <a:cs typeface="Calibri" pitchFamily="34" charset="-120"/>
              </a:rPr>
              <a:t> for AI-</a:t>
            </a:r>
            <a:r>
              <a:rPr lang="fr-FR" sz="1000" dirty="0" err="1">
                <a:solidFill>
                  <a:srgbClr val="5A5A5A"/>
                </a:solidFill>
                <a:latin typeface="Calibri" pitchFamily="34" charset="0"/>
                <a:ea typeface="Calibri" pitchFamily="34" charset="-122"/>
                <a:cs typeface="Calibri" pitchFamily="34" charset="-120"/>
              </a:rPr>
              <a:t>based</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grading</a:t>
            </a:r>
            <a:endParaRPr lang="en-US" sz="1000" dirty="0"/>
          </a:p>
          <a:p>
            <a:pPr marL="271851" indent="-271851" algn="just">
              <a:spcAft>
                <a:spcPts val="159"/>
              </a:spcAft>
              <a:buSzPct val="100000"/>
              <a:buFontTx/>
              <a:buChar char="•"/>
            </a:pPr>
            <a:r>
              <a:rPr lang="fr-FR" sz="1000" dirty="0" err="1">
                <a:solidFill>
                  <a:srgbClr val="5A5A5A"/>
                </a:solidFill>
                <a:latin typeface="Calibri" pitchFamily="34" charset="0"/>
                <a:ea typeface="Calibri" pitchFamily="34" charset="-122"/>
                <a:cs typeface="Calibri" pitchFamily="34" charset="-120"/>
              </a:rPr>
              <a:t>Ensure</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clear</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role</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definitions</a:t>
            </a:r>
            <a:r>
              <a:rPr lang="fr-FR" sz="1000" dirty="0">
                <a:solidFill>
                  <a:srgbClr val="5A5A5A"/>
                </a:solidFill>
                <a:latin typeface="Calibri" pitchFamily="34" charset="0"/>
                <a:ea typeface="Calibri" pitchFamily="34" charset="-122"/>
                <a:cs typeface="Calibri" pitchFamily="34" charset="-120"/>
              </a:rPr>
              <a:t> and </a:t>
            </a:r>
            <a:r>
              <a:rPr lang="fr-FR" sz="1000" dirty="0" err="1">
                <a:solidFill>
                  <a:srgbClr val="5A5A5A"/>
                </a:solidFill>
                <a:latin typeface="Calibri" pitchFamily="34" charset="0"/>
                <a:ea typeface="Calibri" pitchFamily="34" charset="-122"/>
                <a:cs typeface="Calibri" pitchFamily="34" charset="-120"/>
              </a:rPr>
              <a:t>access</a:t>
            </a:r>
            <a:r>
              <a:rPr lang="fr-FR" sz="1000" dirty="0">
                <a:solidFill>
                  <a:srgbClr val="5A5A5A"/>
                </a:solidFill>
                <a:latin typeface="Calibri" pitchFamily="34" charset="0"/>
                <a:ea typeface="Calibri" pitchFamily="34" charset="-122"/>
                <a:cs typeface="Calibri" pitchFamily="34" charset="-120"/>
              </a:rPr>
              <a:t> control</a:t>
            </a:r>
          </a:p>
          <a:p>
            <a:pPr marL="271851" indent="-271851" algn="just">
              <a:spcAft>
                <a:spcPts val="159"/>
              </a:spcAft>
              <a:buSzPct val="100000"/>
              <a:buFontTx/>
              <a:buChar char="•"/>
            </a:pPr>
            <a:r>
              <a:rPr lang="fr-FR" sz="1000" dirty="0" err="1">
                <a:solidFill>
                  <a:srgbClr val="5A5A5A"/>
                </a:solidFill>
                <a:latin typeface="Calibri" pitchFamily="34" charset="0"/>
                <a:ea typeface="Calibri" pitchFamily="34" charset="-122"/>
                <a:cs typeface="Calibri" pitchFamily="34" charset="-120"/>
              </a:rPr>
              <a:t>Easily</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transferable</a:t>
            </a:r>
            <a:r>
              <a:rPr lang="fr-FR" sz="1000" dirty="0">
                <a:solidFill>
                  <a:srgbClr val="5A5A5A"/>
                </a:solidFill>
                <a:latin typeface="Calibri" pitchFamily="34" charset="0"/>
                <a:ea typeface="Calibri" pitchFamily="34" charset="-122"/>
                <a:cs typeface="Calibri" pitchFamily="34" charset="-120"/>
              </a:rPr>
              <a:t> to </a:t>
            </a:r>
            <a:r>
              <a:rPr lang="fr-FR" sz="1000" dirty="0" err="1">
                <a:solidFill>
                  <a:srgbClr val="5A5A5A"/>
                </a:solidFill>
                <a:latin typeface="Calibri" pitchFamily="34" charset="0"/>
                <a:ea typeface="Calibri" pitchFamily="34" charset="-122"/>
                <a:cs typeface="Calibri" pitchFamily="34" charset="-120"/>
              </a:rPr>
              <a:t>other</a:t>
            </a:r>
            <a:r>
              <a:rPr lang="fr-FR" sz="1000" dirty="0">
                <a:solidFill>
                  <a:srgbClr val="5A5A5A"/>
                </a:solidFill>
                <a:latin typeface="Calibri" pitchFamily="34" charset="0"/>
                <a:ea typeface="Calibri" pitchFamily="34" charset="-122"/>
                <a:cs typeface="Calibri" pitchFamily="34" charset="-120"/>
              </a:rPr>
              <a:t> engineering programs</a:t>
            </a:r>
          </a:p>
          <a:p>
            <a:pPr marL="271851" indent="-271851" algn="just">
              <a:spcAft>
                <a:spcPts val="159"/>
              </a:spcAft>
              <a:buSzPct val="100000"/>
              <a:buFontTx/>
              <a:buChar char="•"/>
            </a:pPr>
            <a:r>
              <a:rPr lang="fr-FR" sz="1000" dirty="0">
                <a:solidFill>
                  <a:srgbClr val="5A5A5A"/>
                </a:solidFill>
                <a:latin typeface="Calibri" pitchFamily="34" charset="0"/>
                <a:ea typeface="Calibri" pitchFamily="34" charset="-122"/>
                <a:cs typeface="Calibri" pitchFamily="34" charset="-120"/>
              </a:rPr>
              <a:t>Use </a:t>
            </a:r>
            <a:r>
              <a:rPr lang="fr-FR" sz="1000" dirty="0" err="1">
                <a:solidFill>
                  <a:srgbClr val="5A5A5A"/>
                </a:solidFill>
                <a:latin typeface="Calibri" pitchFamily="34" charset="0"/>
                <a:ea typeface="Calibri" pitchFamily="34" charset="-122"/>
                <a:cs typeface="Calibri" pitchFamily="34" charset="-120"/>
              </a:rPr>
              <a:t>dashboards</a:t>
            </a:r>
            <a:r>
              <a:rPr lang="fr-FR" sz="1000" dirty="0">
                <a:solidFill>
                  <a:srgbClr val="5A5A5A"/>
                </a:solidFill>
                <a:latin typeface="Calibri" pitchFamily="34" charset="0"/>
                <a:ea typeface="Calibri" pitchFamily="34" charset="-122"/>
                <a:cs typeface="Calibri" pitchFamily="34" charset="-120"/>
              </a:rPr>
              <a:t> ti support </a:t>
            </a:r>
            <a:r>
              <a:rPr lang="fr-FR" sz="1000" dirty="0" err="1">
                <a:solidFill>
                  <a:srgbClr val="5A5A5A"/>
                </a:solidFill>
                <a:latin typeface="Calibri" pitchFamily="34" charset="0"/>
                <a:ea typeface="Calibri" pitchFamily="34" charset="-122"/>
                <a:cs typeface="Calibri" pitchFamily="34" charset="-120"/>
              </a:rPr>
              <a:t>both</a:t>
            </a:r>
            <a:r>
              <a:rPr lang="fr-FR" sz="1000" dirty="0">
                <a:solidFill>
                  <a:srgbClr val="5A5A5A"/>
                </a:solidFill>
                <a:latin typeface="Calibri" pitchFamily="34" charset="0"/>
                <a:ea typeface="Calibri" pitchFamily="34" charset="-122"/>
                <a:cs typeface="Calibri" pitchFamily="34" charset="-120"/>
              </a:rPr>
              <a:t> formative and </a:t>
            </a:r>
            <a:r>
              <a:rPr lang="fr-FR" sz="1000" dirty="0" err="1">
                <a:solidFill>
                  <a:srgbClr val="5A5A5A"/>
                </a:solidFill>
                <a:latin typeface="Calibri" pitchFamily="34" charset="0"/>
                <a:ea typeface="Calibri" pitchFamily="34" charset="-122"/>
                <a:cs typeface="Calibri" pitchFamily="34" charset="-120"/>
              </a:rPr>
              <a:t>summative</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assessement</a:t>
            </a:r>
            <a:endParaRPr lang="fr-FR" sz="1000" dirty="0">
              <a:solidFill>
                <a:srgbClr val="5A5A5A"/>
              </a:solidFill>
              <a:latin typeface="Calibri" pitchFamily="34" charset="0"/>
              <a:ea typeface="Calibri" pitchFamily="34" charset="-122"/>
              <a:cs typeface="Calibri" pitchFamily="34" charset="-120"/>
            </a:endParaRPr>
          </a:p>
          <a:p>
            <a:pPr marL="271851" indent="-271851" algn="just">
              <a:spcAft>
                <a:spcPts val="159"/>
              </a:spcAft>
              <a:buSzPct val="100000"/>
              <a:buFontTx/>
              <a:buChar char="•"/>
            </a:pPr>
            <a:r>
              <a:rPr lang="fr-FR" sz="1000" dirty="0">
                <a:solidFill>
                  <a:srgbClr val="5A5A5A"/>
                </a:solidFill>
                <a:latin typeface="Calibri" pitchFamily="34" charset="0"/>
                <a:ea typeface="Calibri" pitchFamily="34" charset="-122"/>
                <a:cs typeface="Calibri" pitchFamily="34" charset="-120"/>
              </a:rPr>
              <a:t>Design for </a:t>
            </a:r>
            <a:r>
              <a:rPr lang="fr-FR" sz="1000" dirty="0" err="1">
                <a:solidFill>
                  <a:srgbClr val="5A5A5A"/>
                </a:solidFill>
                <a:latin typeface="Calibri" pitchFamily="34" charset="0"/>
                <a:ea typeface="Calibri" pitchFamily="34" charset="-122"/>
                <a:cs typeface="Calibri" pitchFamily="34" charset="-120"/>
              </a:rPr>
              <a:t>scalability</a:t>
            </a:r>
            <a:r>
              <a:rPr lang="fr-FR" sz="1000" dirty="0">
                <a:solidFill>
                  <a:srgbClr val="5A5A5A"/>
                </a:solidFill>
                <a:latin typeface="Calibri" pitchFamily="34" charset="0"/>
                <a:ea typeface="Calibri" pitchFamily="34" charset="-122"/>
                <a:cs typeface="Calibri" pitchFamily="34" charset="-120"/>
              </a:rPr>
              <a:t> , </a:t>
            </a:r>
            <a:r>
              <a:rPr lang="fr-FR" sz="1000" dirty="0" err="1">
                <a:solidFill>
                  <a:srgbClr val="5A5A5A"/>
                </a:solidFill>
                <a:latin typeface="Calibri" pitchFamily="34" charset="0"/>
                <a:ea typeface="Calibri" pitchFamily="34" charset="-122"/>
                <a:cs typeface="Calibri" pitchFamily="34" charset="-120"/>
              </a:rPr>
              <a:t>especially</a:t>
            </a:r>
            <a:r>
              <a:rPr lang="fr-FR" sz="1000" dirty="0">
                <a:solidFill>
                  <a:srgbClr val="5A5A5A"/>
                </a:solidFill>
                <a:latin typeface="Calibri" pitchFamily="34" charset="0"/>
                <a:ea typeface="Calibri" pitchFamily="34" charset="-122"/>
                <a:cs typeface="Calibri" pitchFamily="34" charset="-120"/>
              </a:rPr>
              <a:t> in programmes </a:t>
            </a:r>
            <a:r>
              <a:rPr lang="fr-FR" sz="1000" dirty="0" err="1">
                <a:solidFill>
                  <a:srgbClr val="5A5A5A"/>
                </a:solidFill>
                <a:latin typeface="Calibri" pitchFamily="34" charset="0"/>
                <a:ea typeface="Calibri" pitchFamily="34" charset="-122"/>
                <a:cs typeface="Calibri" pitchFamily="34" charset="-120"/>
              </a:rPr>
              <a:t>with</a:t>
            </a:r>
            <a:r>
              <a:rPr lang="fr-FR" sz="1000" dirty="0">
                <a:solidFill>
                  <a:srgbClr val="5A5A5A"/>
                </a:solidFill>
                <a:latin typeface="Calibri" pitchFamily="34" charset="0"/>
                <a:ea typeface="Calibri" pitchFamily="34" charset="-122"/>
                <a:cs typeface="Calibri" pitchFamily="34" charset="-120"/>
              </a:rPr>
              <a:t> large </a:t>
            </a:r>
            <a:r>
              <a:rPr lang="fr-FR" sz="1000" dirty="0" err="1">
                <a:solidFill>
                  <a:srgbClr val="5A5A5A"/>
                </a:solidFill>
                <a:latin typeface="Calibri" pitchFamily="34" charset="0"/>
                <a:ea typeface="Calibri" pitchFamily="34" charset="-122"/>
                <a:cs typeface="Calibri" pitchFamily="34" charset="-120"/>
              </a:rPr>
              <a:t>numbers</a:t>
            </a:r>
            <a:r>
              <a:rPr lang="fr-FR" sz="1000" dirty="0">
                <a:solidFill>
                  <a:srgbClr val="5A5A5A"/>
                </a:solidFill>
                <a:latin typeface="Calibri" pitchFamily="34" charset="0"/>
                <a:ea typeface="Calibri" pitchFamily="34" charset="-122"/>
                <a:cs typeface="Calibri" pitchFamily="34" charset="-120"/>
              </a:rPr>
              <a:t> of </a:t>
            </a:r>
            <a:r>
              <a:rPr lang="fr-FR" sz="1000" dirty="0" err="1">
                <a:solidFill>
                  <a:srgbClr val="5A5A5A"/>
                </a:solidFill>
                <a:latin typeface="Calibri" pitchFamily="34" charset="0"/>
                <a:ea typeface="Calibri" pitchFamily="34" charset="-122"/>
                <a:cs typeface="Calibri" pitchFamily="34" charset="-120"/>
              </a:rPr>
              <a:t>project-based</a:t>
            </a:r>
            <a:r>
              <a:rPr lang="fr-FR" sz="1000" dirty="0">
                <a:solidFill>
                  <a:srgbClr val="5A5A5A"/>
                </a:solidFill>
                <a:latin typeface="Calibri" pitchFamily="34" charset="0"/>
                <a:ea typeface="Calibri" pitchFamily="34" charset="-122"/>
                <a:cs typeface="Calibri" pitchFamily="34" charset="-120"/>
              </a:rPr>
              <a:t> courses</a:t>
            </a:r>
          </a:p>
        </p:txBody>
      </p:sp>
      <p:sp>
        <p:nvSpPr>
          <p:cNvPr id="66" name="Shape 63">
            <a:extLst>
              <a:ext uri="{FF2B5EF4-FFF2-40B4-BE49-F238E27FC236}">
                <a16:creationId xmlns:a16="http://schemas.microsoft.com/office/drawing/2014/main" id="{CD76640F-4FE6-C1C6-4764-1863ABCABC74}"/>
              </a:ext>
            </a:extLst>
          </p:cNvPr>
          <p:cNvSpPr/>
          <p:nvPr/>
        </p:nvSpPr>
        <p:spPr>
          <a:xfrm>
            <a:off x="130488" y="8929646"/>
            <a:ext cx="3247739" cy="1564219"/>
          </a:xfrm>
          <a:prstGeom prst="rect">
            <a:avLst/>
          </a:prstGeom>
          <a:solidFill>
            <a:srgbClr val="FFFFFF"/>
          </a:solidFill>
          <a:ln w="7620">
            <a:solidFill>
              <a:srgbClr val="E8E8E8"/>
            </a:solidFill>
            <a:prstDash val="solid"/>
          </a:ln>
          <a:effectLst>
            <a:outerShdw blurRad="63500" dist="12700" dir="8100000" algn="bl" rotWithShape="0">
              <a:srgbClr val="000000">
                <a:alpha val="6000"/>
              </a:srgbClr>
            </a:outerShdw>
          </a:effectLst>
        </p:spPr>
        <p:txBody>
          <a:bodyPr/>
          <a:lstStyle/>
          <a:p>
            <a:endParaRPr lang="fr-FR" sz="1427"/>
          </a:p>
        </p:txBody>
      </p:sp>
      <p:sp>
        <p:nvSpPr>
          <p:cNvPr id="67" name="Shape 64">
            <a:extLst>
              <a:ext uri="{FF2B5EF4-FFF2-40B4-BE49-F238E27FC236}">
                <a16:creationId xmlns:a16="http://schemas.microsoft.com/office/drawing/2014/main" id="{F7387481-CEDD-96AE-90C7-9F3F50559619}"/>
              </a:ext>
            </a:extLst>
          </p:cNvPr>
          <p:cNvSpPr/>
          <p:nvPr/>
        </p:nvSpPr>
        <p:spPr>
          <a:xfrm>
            <a:off x="130488" y="8929647"/>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600"/>
          </a:p>
        </p:txBody>
      </p:sp>
      <p:sp>
        <p:nvSpPr>
          <p:cNvPr id="68" name="Shape 65">
            <a:extLst>
              <a:ext uri="{FF2B5EF4-FFF2-40B4-BE49-F238E27FC236}">
                <a16:creationId xmlns:a16="http://schemas.microsoft.com/office/drawing/2014/main" id="{1B620EE5-1283-3A42-F394-82BC3924A014}"/>
              </a:ext>
            </a:extLst>
          </p:cNvPr>
          <p:cNvSpPr/>
          <p:nvPr/>
        </p:nvSpPr>
        <p:spPr>
          <a:xfrm>
            <a:off x="210231" y="8994892"/>
            <a:ext cx="195734" cy="195734"/>
          </a:xfrm>
          <a:prstGeom prst="ellipse">
            <a:avLst/>
          </a:prstGeom>
          <a:solidFill>
            <a:srgbClr val="46B6AE"/>
          </a:solidFill>
          <a:ln w="12700">
            <a:solidFill>
              <a:srgbClr val="46B6AE"/>
            </a:solidFill>
            <a:prstDash val="solid"/>
          </a:ln>
        </p:spPr>
        <p:txBody>
          <a:bodyPr/>
          <a:lstStyle/>
          <a:p>
            <a:endParaRPr lang="fr-FR" sz="2400"/>
          </a:p>
        </p:txBody>
      </p:sp>
      <p:sp>
        <p:nvSpPr>
          <p:cNvPr id="69" name="Text 66">
            <a:extLst>
              <a:ext uri="{FF2B5EF4-FFF2-40B4-BE49-F238E27FC236}">
                <a16:creationId xmlns:a16="http://schemas.microsoft.com/office/drawing/2014/main" id="{AF7AD5C0-C3AC-3D84-9D4D-5B98DE9067BA}"/>
              </a:ext>
            </a:extLst>
          </p:cNvPr>
          <p:cNvSpPr/>
          <p:nvPr/>
        </p:nvSpPr>
        <p:spPr>
          <a:xfrm>
            <a:off x="210231" y="8994892"/>
            <a:ext cx="195734" cy="195734"/>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70" name="Text 67">
            <a:extLst>
              <a:ext uri="{FF2B5EF4-FFF2-40B4-BE49-F238E27FC236}">
                <a16:creationId xmlns:a16="http://schemas.microsoft.com/office/drawing/2014/main" id="{31684F13-685D-3CFC-FF04-2EA783A6C731}"/>
              </a:ext>
            </a:extLst>
          </p:cNvPr>
          <p:cNvSpPr/>
          <p:nvPr/>
        </p:nvSpPr>
        <p:spPr>
          <a:xfrm>
            <a:off x="449462" y="8994891"/>
            <a:ext cx="2841772" cy="202984"/>
          </a:xfrm>
          <a:prstGeom prst="rect">
            <a:avLst/>
          </a:prstGeom>
          <a:noFill/>
          <a:ln/>
        </p:spPr>
        <p:txBody>
          <a:bodyPr wrap="square" lIns="0" tIns="0" rIns="0" bIns="0" rtlCol="0" anchor="ctr"/>
          <a:lstStyle/>
          <a:p>
            <a:r>
              <a:rPr lang="en-US" sz="1200" b="1" dirty="0">
                <a:solidFill>
                  <a:srgbClr val="2C2C2C"/>
                </a:solidFill>
                <a:latin typeface="Calibri" pitchFamily="34" charset="0"/>
                <a:ea typeface="Calibri" pitchFamily="34" charset="-122"/>
                <a:cs typeface="Calibri" pitchFamily="34" charset="-120"/>
              </a:rPr>
              <a:t>Ethical &amp; Responsible AI Considerations</a:t>
            </a:r>
            <a:endParaRPr lang="en-US" sz="1200" dirty="0"/>
          </a:p>
        </p:txBody>
      </p:sp>
      <p:sp>
        <p:nvSpPr>
          <p:cNvPr id="71" name="Shape 68">
            <a:extLst>
              <a:ext uri="{FF2B5EF4-FFF2-40B4-BE49-F238E27FC236}">
                <a16:creationId xmlns:a16="http://schemas.microsoft.com/office/drawing/2014/main" id="{F9A2A931-AE46-36DB-9204-54B98CD268FE}"/>
              </a:ext>
            </a:extLst>
          </p:cNvPr>
          <p:cNvSpPr/>
          <p:nvPr/>
        </p:nvSpPr>
        <p:spPr>
          <a:xfrm>
            <a:off x="210231" y="9205125"/>
            <a:ext cx="3088252" cy="0"/>
          </a:xfrm>
          <a:prstGeom prst="line">
            <a:avLst/>
          </a:prstGeom>
          <a:noFill/>
          <a:ln w="6350">
            <a:solidFill>
              <a:srgbClr val="E8E8E8"/>
            </a:solidFill>
            <a:prstDash val="solid"/>
          </a:ln>
        </p:spPr>
        <p:txBody>
          <a:bodyPr/>
          <a:lstStyle/>
          <a:p>
            <a:endParaRPr lang="fr-FR" sz="2400"/>
          </a:p>
        </p:txBody>
      </p:sp>
      <p:sp>
        <p:nvSpPr>
          <p:cNvPr id="72" name="Text 69">
            <a:extLst>
              <a:ext uri="{FF2B5EF4-FFF2-40B4-BE49-F238E27FC236}">
                <a16:creationId xmlns:a16="http://schemas.microsoft.com/office/drawing/2014/main" id="{2C88BC09-3908-0ED0-61BB-6C91AD856589}"/>
              </a:ext>
            </a:extLst>
          </p:cNvPr>
          <p:cNvSpPr/>
          <p:nvPr/>
        </p:nvSpPr>
        <p:spPr>
          <a:xfrm>
            <a:off x="210231" y="9366392"/>
            <a:ext cx="3081003" cy="608951"/>
          </a:xfrm>
          <a:prstGeom prst="rect">
            <a:avLst/>
          </a:prstGeom>
          <a:noFill/>
          <a:ln/>
        </p:spPr>
        <p:txBody>
          <a:bodyPr wrap="square" lIns="0" tIns="0" rIns="0" bIns="0" rtlCol="0" anchor="t"/>
          <a:lstStyle/>
          <a:p>
            <a:pPr marL="271851" lvl="0" indent="-271851" algn="just">
              <a:spcAft>
                <a:spcPts val="159"/>
              </a:spcAft>
              <a:buSzPct val="100000"/>
              <a:buFontTx/>
              <a:buChar char="•"/>
            </a:pPr>
            <a:r>
              <a:rPr lang="fr-FR" sz="1000" dirty="0">
                <a:solidFill>
                  <a:srgbClr val="5A5A5A"/>
                </a:solidFill>
                <a:latin typeface="Calibri" pitchFamily="34" charset="0"/>
                <a:ea typeface="Calibri" pitchFamily="34" charset="-122"/>
                <a:cs typeface="Calibri" pitchFamily="34" charset="-120"/>
              </a:rPr>
              <a:t>AI </a:t>
            </a:r>
            <a:r>
              <a:rPr lang="fr-FR" sz="1000" dirty="0" err="1">
                <a:solidFill>
                  <a:srgbClr val="5A5A5A"/>
                </a:solidFill>
                <a:latin typeface="Calibri" pitchFamily="34" charset="0"/>
                <a:ea typeface="Calibri" pitchFamily="34" charset="-122"/>
                <a:cs typeface="Calibri" pitchFamily="34" charset="-120"/>
              </a:rPr>
              <a:t>provides</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recommendations</a:t>
            </a:r>
            <a:r>
              <a:rPr lang="fr-FR" sz="1000" dirty="0">
                <a:solidFill>
                  <a:srgbClr val="5A5A5A"/>
                </a:solidFill>
                <a:latin typeface="Calibri" pitchFamily="34" charset="0"/>
                <a:ea typeface="Calibri" pitchFamily="34" charset="-122"/>
                <a:cs typeface="Calibri" pitchFamily="34" charset="-120"/>
              </a:rPr>
              <a:t>, not final grades</a:t>
            </a:r>
          </a:p>
          <a:p>
            <a:pPr marL="271851" lvl="0" indent="-271851" algn="just">
              <a:spcAft>
                <a:spcPts val="159"/>
              </a:spcAft>
              <a:buSzPct val="100000"/>
              <a:buFontTx/>
              <a:buChar char="•"/>
            </a:pPr>
            <a:r>
              <a:rPr lang="fr-FR" sz="1000" dirty="0" err="1">
                <a:solidFill>
                  <a:srgbClr val="5A5A5A"/>
                </a:solidFill>
                <a:latin typeface="Calibri" pitchFamily="34" charset="0"/>
                <a:ea typeface="Calibri" pitchFamily="34" charset="-122"/>
                <a:cs typeface="Calibri" pitchFamily="34" charset="-120"/>
              </a:rPr>
              <a:t>Transparency</a:t>
            </a:r>
            <a:r>
              <a:rPr lang="fr-FR" sz="1000" dirty="0">
                <a:solidFill>
                  <a:srgbClr val="5A5A5A"/>
                </a:solidFill>
                <a:latin typeface="Calibri" pitchFamily="34" charset="0"/>
                <a:ea typeface="Calibri" pitchFamily="34" charset="-122"/>
                <a:cs typeface="Calibri" pitchFamily="34" charset="-120"/>
              </a:rPr>
              <a:t> in </a:t>
            </a:r>
            <a:r>
              <a:rPr lang="fr-FR" sz="1000" dirty="0" err="1">
                <a:solidFill>
                  <a:srgbClr val="5A5A5A"/>
                </a:solidFill>
                <a:latin typeface="Calibri" pitchFamily="34" charset="0"/>
                <a:ea typeface="Calibri" pitchFamily="34" charset="-122"/>
                <a:cs typeface="Calibri" pitchFamily="34" charset="-120"/>
              </a:rPr>
              <a:t>evaluation</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criteria</a:t>
            </a:r>
            <a:r>
              <a:rPr lang="fr-FR" sz="1000" dirty="0">
                <a:solidFill>
                  <a:srgbClr val="5A5A5A"/>
                </a:solidFill>
                <a:latin typeface="Calibri" pitchFamily="34" charset="0"/>
                <a:ea typeface="Calibri" pitchFamily="34" charset="-122"/>
                <a:cs typeface="Calibri" pitchFamily="34" charset="-120"/>
              </a:rPr>
              <a:t> and data usage</a:t>
            </a:r>
          </a:p>
          <a:p>
            <a:pPr marL="271851" indent="-271851" algn="just">
              <a:spcAft>
                <a:spcPts val="159"/>
              </a:spcAft>
              <a:buSzPct val="100000"/>
              <a:buFontTx/>
              <a:buChar char="•"/>
            </a:pPr>
            <a:r>
              <a:rPr lang="fr-FR" sz="1000" dirty="0">
                <a:solidFill>
                  <a:srgbClr val="5A5A5A"/>
                </a:solidFill>
                <a:latin typeface="Calibri" pitchFamily="34" charset="0"/>
                <a:ea typeface="Calibri" pitchFamily="34" charset="-122"/>
                <a:cs typeface="Calibri" pitchFamily="34" charset="-120"/>
              </a:rPr>
              <a:t>Protection of </a:t>
            </a:r>
            <a:r>
              <a:rPr lang="fr-FR" sz="1000" dirty="0" err="1">
                <a:solidFill>
                  <a:srgbClr val="5A5A5A"/>
                </a:solidFill>
                <a:latin typeface="Calibri" pitchFamily="34" charset="0"/>
                <a:ea typeface="Calibri" pitchFamily="34" charset="-122"/>
                <a:cs typeface="Calibri" pitchFamily="34" charset="-120"/>
              </a:rPr>
              <a:t>student</a:t>
            </a:r>
            <a:r>
              <a:rPr lang="fr-FR" sz="1000" dirty="0">
                <a:solidFill>
                  <a:srgbClr val="5A5A5A"/>
                </a:solidFill>
                <a:latin typeface="Calibri" pitchFamily="34" charset="0"/>
                <a:ea typeface="Calibri" pitchFamily="34" charset="-122"/>
                <a:cs typeface="Calibri" pitchFamily="34" charset="-120"/>
              </a:rPr>
              <a:t> data and </a:t>
            </a:r>
            <a:r>
              <a:rPr lang="fr-FR" sz="1000" dirty="0" err="1">
                <a:solidFill>
                  <a:srgbClr val="5A5A5A"/>
                </a:solidFill>
                <a:latin typeface="Calibri" pitchFamily="34" charset="0"/>
                <a:ea typeface="Calibri" pitchFamily="34" charset="-122"/>
                <a:cs typeface="Calibri" pitchFamily="34" charset="-120"/>
              </a:rPr>
              <a:t>privacy</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internal</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hosting</a:t>
            </a:r>
            <a:r>
              <a:rPr lang="fr-FR" sz="1000" dirty="0">
                <a:solidFill>
                  <a:srgbClr val="5A5A5A"/>
                </a:solidFill>
                <a:latin typeface="Calibri" pitchFamily="34" charset="0"/>
                <a:ea typeface="Calibri" pitchFamily="34" charset="-122"/>
                <a:cs typeface="Calibri" pitchFamily="34" charset="-120"/>
              </a:rPr>
              <a:t>)</a:t>
            </a:r>
          </a:p>
          <a:p>
            <a:pPr marL="271851" indent="-271851" algn="just">
              <a:spcAft>
                <a:spcPts val="159"/>
              </a:spcAft>
              <a:buSzPct val="100000"/>
              <a:buFontTx/>
              <a:buChar char="•"/>
            </a:pPr>
            <a:r>
              <a:rPr lang="fr-FR" sz="1000" dirty="0">
                <a:solidFill>
                  <a:srgbClr val="5A5A5A"/>
                </a:solidFill>
                <a:latin typeface="Calibri" pitchFamily="34" charset="0"/>
                <a:ea typeface="Calibri" pitchFamily="34" charset="-122"/>
                <a:cs typeface="Calibri" pitchFamily="34" charset="-120"/>
              </a:rPr>
              <a:t>Mitigation of </a:t>
            </a:r>
            <a:r>
              <a:rPr lang="fr-FR" sz="1000" dirty="0" err="1">
                <a:solidFill>
                  <a:srgbClr val="5A5A5A"/>
                </a:solidFill>
                <a:latin typeface="Calibri" pitchFamily="34" charset="0"/>
                <a:ea typeface="Calibri" pitchFamily="34" charset="-122"/>
                <a:cs typeface="Calibri" pitchFamily="34" charset="-120"/>
              </a:rPr>
              <a:t>bias</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through</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teacher</a:t>
            </a:r>
            <a:r>
              <a:rPr lang="fr-FR" sz="1000" dirty="0">
                <a:solidFill>
                  <a:srgbClr val="5A5A5A"/>
                </a:solidFill>
                <a:latin typeface="Calibri" pitchFamily="34" charset="0"/>
                <a:ea typeface="Calibri" pitchFamily="34" charset="-122"/>
                <a:cs typeface="Calibri" pitchFamily="34" charset="-120"/>
              </a:rPr>
              <a:t> validation</a:t>
            </a:r>
          </a:p>
          <a:p>
            <a:pPr marL="271851" indent="-271851" algn="just">
              <a:spcAft>
                <a:spcPts val="159"/>
              </a:spcAft>
              <a:buSzPct val="100000"/>
              <a:buFontTx/>
              <a:buChar char="•"/>
            </a:pPr>
            <a:r>
              <a:rPr lang="fr-FR" sz="1000" dirty="0">
                <a:solidFill>
                  <a:srgbClr val="5A5A5A"/>
                </a:solidFill>
                <a:latin typeface="Calibri" pitchFamily="34" charset="0"/>
                <a:ea typeface="Calibri" pitchFamily="34" charset="-122"/>
                <a:cs typeface="Calibri" pitchFamily="34" charset="-120"/>
              </a:rPr>
              <a:t>Clear communication and consent </a:t>
            </a:r>
            <a:r>
              <a:rPr lang="fr-FR" sz="1000" dirty="0" err="1">
                <a:solidFill>
                  <a:srgbClr val="5A5A5A"/>
                </a:solidFill>
                <a:latin typeface="Calibri" pitchFamily="34" charset="0"/>
                <a:ea typeface="Calibri" pitchFamily="34" charset="-122"/>
                <a:cs typeface="Calibri" pitchFamily="34" charset="-120"/>
              </a:rPr>
              <a:t>regarding</a:t>
            </a:r>
            <a:r>
              <a:rPr lang="fr-FR" sz="1000" dirty="0">
                <a:solidFill>
                  <a:srgbClr val="5A5A5A"/>
                </a:solidFill>
                <a:latin typeface="Calibri" pitchFamily="34" charset="0"/>
                <a:ea typeface="Calibri" pitchFamily="34" charset="-122"/>
                <a:cs typeface="Calibri" pitchFamily="34" charset="-120"/>
              </a:rPr>
              <a:t> AI use</a:t>
            </a:r>
          </a:p>
        </p:txBody>
      </p:sp>
      <p:sp>
        <p:nvSpPr>
          <p:cNvPr id="73" name="Shape 70">
            <a:extLst>
              <a:ext uri="{FF2B5EF4-FFF2-40B4-BE49-F238E27FC236}">
                <a16:creationId xmlns:a16="http://schemas.microsoft.com/office/drawing/2014/main" id="{6F022752-781E-FC89-A201-A451FF03E3EB}"/>
              </a:ext>
            </a:extLst>
          </p:cNvPr>
          <p:cNvSpPr/>
          <p:nvPr/>
        </p:nvSpPr>
        <p:spPr>
          <a:xfrm>
            <a:off x="3479719" y="8929646"/>
            <a:ext cx="3247739" cy="1564219"/>
          </a:xfrm>
          <a:prstGeom prst="rect">
            <a:avLst/>
          </a:prstGeom>
          <a:noFill/>
          <a:ln w="12700">
            <a:noFill/>
            <a:prstDash val="solid"/>
          </a:ln>
          <a:effectLst>
            <a:outerShdw blurRad="63500" dist="12700" dir="8100000" algn="bl" rotWithShape="0">
              <a:srgbClr val="000000">
                <a:alpha val="6000"/>
              </a:srgbClr>
            </a:outerShdw>
          </a:effectLst>
        </p:spPr>
        <p:txBody>
          <a:bodyPr/>
          <a:lstStyle/>
          <a:p>
            <a:endParaRPr lang="fr-FR" sz="1427"/>
          </a:p>
        </p:txBody>
      </p:sp>
      <p:sp>
        <p:nvSpPr>
          <p:cNvPr id="74" name="Shape 71">
            <a:extLst>
              <a:ext uri="{FF2B5EF4-FFF2-40B4-BE49-F238E27FC236}">
                <a16:creationId xmlns:a16="http://schemas.microsoft.com/office/drawing/2014/main" id="{FBDF4FA3-4CE2-402F-C771-5F6A4BB41E27}"/>
              </a:ext>
            </a:extLst>
          </p:cNvPr>
          <p:cNvSpPr/>
          <p:nvPr/>
        </p:nvSpPr>
        <p:spPr>
          <a:xfrm>
            <a:off x="3479719" y="8929647"/>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600"/>
          </a:p>
        </p:txBody>
      </p:sp>
      <p:sp>
        <p:nvSpPr>
          <p:cNvPr id="75" name="Shape 72">
            <a:extLst>
              <a:ext uri="{FF2B5EF4-FFF2-40B4-BE49-F238E27FC236}">
                <a16:creationId xmlns:a16="http://schemas.microsoft.com/office/drawing/2014/main" id="{554A253A-AD44-5EDD-8A53-C83E46DC34C7}"/>
              </a:ext>
            </a:extLst>
          </p:cNvPr>
          <p:cNvSpPr/>
          <p:nvPr/>
        </p:nvSpPr>
        <p:spPr>
          <a:xfrm>
            <a:off x="3559462" y="8994892"/>
            <a:ext cx="195734" cy="195734"/>
          </a:xfrm>
          <a:prstGeom prst="ellipse">
            <a:avLst/>
          </a:prstGeom>
          <a:solidFill>
            <a:srgbClr val="FFFFFF"/>
          </a:solidFill>
          <a:ln w="12700">
            <a:solidFill>
              <a:srgbClr val="FFFFFF"/>
            </a:solidFill>
            <a:prstDash val="solid"/>
          </a:ln>
        </p:spPr>
        <p:txBody>
          <a:bodyPr/>
          <a:lstStyle/>
          <a:p>
            <a:endParaRPr lang="fr-FR" sz="2400"/>
          </a:p>
        </p:txBody>
      </p:sp>
      <p:sp>
        <p:nvSpPr>
          <p:cNvPr id="76" name="Text 73">
            <a:extLst>
              <a:ext uri="{FF2B5EF4-FFF2-40B4-BE49-F238E27FC236}">
                <a16:creationId xmlns:a16="http://schemas.microsoft.com/office/drawing/2014/main" id="{986379DE-EE7C-4C67-BF8B-3814DDF8B284}"/>
              </a:ext>
            </a:extLst>
          </p:cNvPr>
          <p:cNvSpPr/>
          <p:nvPr/>
        </p:nvSpPr>
        <p:spPr>
          <a:xfrm>
            <a:off x="3559462" y="8994892"/>
            <a:ext cx="195734" cy="195734"/>
          </a:xfrm>
          <a:prstGeom prst="rect">
            <a:avLst/>
          </a:prstGeom>
          <a:noFill/>
          <a:ln/>
        </p:spPr>
        <p:txBody>
          <a:bodyPr wrap="square" lIns="0" tIns="0" rIns="0" bIns="0" rtlCol="0" anchor="ctr"/>
          <a:lstStyle/>
          <a:p>
            <a:pPr algn="ctr"/>
            <a:r>
              <a:rPr lang="en-US" sz="1000" b="1" dirty="0">
                <a:solidFill>
                  <a:srgbClr val="C8102E"/>
                </a:solidFill>
                <a:latin typeface="Calibri" pitchFamily="34" charset="0"/>
                <a:ea typeface="Calibri" pitchFamily="34" charset="-122"/>
                <a:cs typeface="Calibri" pitchFamily="34" charset="-120"/>
              </a:rPr>
              <a:t>8</a:t>
            </a:r>
            <a:endParaRPr lang="en-US" sz="1000" dirty="0"/>
          </a:p>
        </p:txBody>
      </p:sp>
      <p:sp>
        <p:nvSpPr>
          <p:cNvPr id="77" name="Text 74">
            <a:extLst>
              <a:ext uri="{FF2B5EF4-FFF2-40B4-BE49-F238E27FC236}">
                <a16:creationId xmlns:a16="http://schemas.microsoft.com/office/drawing/2014/main" id="{33747A0D-AF99-CD1F-BF85-E91E1E1B0FC5}"/>
              </a:ext>
            </a:extLst>
          </p:cNvPr>
          <p:cNvSpPr/>
          <p:nvPr/>
        </p:nvSpPr>
        <p:spPr>
          <a:xfrm>
            <a:off x="3798693" y="8994891"/>
            <a:ext cx="2841772" cy="202984"/>
          </a:xfrm>
          <a:prstGeom prst="rect">
            <a:avLst/>
          </a:prstGeom>
          <a:noFill/>
          <a:ln/>
        </p:spPr>
        <p:txBody>
          <a:bodyPr wrap="square" lIns="0" tIns="0" rIns="0" bIns="0" rtlCol="0" anchor="ctr"/>
          <a:lstStyle/>
          <a:p>
            <a:r>
              <a:rPr lang="en-US" sz="1200" b="1" dirty="0">
                <a:latin typeface="Calibri" pitchFamily="34" charset="0"/>
                <a:ea typeface="Calibri" pitchFamily="34" charset="-122"/>
                <a:cs typeface="Calibri" pitchFamily="34" charset="-120"/>
              </a:rPr>
              <a:t>Key Takeaways</a:t>
            </a:r>
            <a:endParaRPr lang="en-US" sz="1200" dirty="0"/>
          </a:p>
        </p:txBody>
      </p:sp>
      <p:sp>
        <p:nvSpPr>
          <p:cNvPr id="78" name="Shape 75">
            <a:extLst>
              <a:ext uri="{FF2B5EF4-FFF2-40B4-BE49-F238E27FC236}">
                <a16:creationId xmlns:a16="http://schemas.microsoft.com/office/drawing/2014/main" id="{1B6FB78A-D728-4076-2E3A-CE2CA1D90A18}"/>
              </a:ext>
            </a:extLst>
          </p:cNvPr>
          <p:cNvSpPr/>
          <p:nvPr/>
        </p:nvSpPr>
        <p:spPr>
          <a:xfrm>
            <a:off x="3559462" y="9205125"/>
            <a:ext cx="3088252" cy="0"/>
          </a:xfrm>
          <a:prstGeom prst="line">
            <a:avLst/>
          </a:prstGeom>
          <a:noFill/>
          <a:ln w="6350">
            <a:solidFill>
              <a:srgbClr val="E08080"/>
            </a:solidFill>
            <a:prstDash val="solid"/>
          </a:ln>
        </p:spPr>
        <p:txBody>
          <a:bodyPr/>
          <a:lstStyle/>
          <a:p>
            <a:endParaRPr lang="fr-FR" sz="2400"/>
          </a:p>
        </p:txBody>
      </p:sp>
      <p:sp>
        <p:nvSpPr>
          <p:cNvPr id="79" name="Text 76">
            <a:extLst>
              <a:ext uri="{FF2B5EF4-FFF2-40B4-BE49-F238E27FC236}">
                <a16:creationId xmlns:a16="http://schemas.microsoft.com/office/drawing/2014/main" id="{29892352-1C89-375A-DD40-FB23DB579289}"/>
              </a:ext>
            </a:extLst>
          </p:cNvPr>
          <p:cNvSpPr/>
          <p:nvPr/>
        </p:nvSpPr>
        <p:spPr>
          <a:xfrm>
            <a:off x="3559462" y="9281946"/>
            <a:ext cx="3081002" cy="608951"/>
          </a:xfrm>
          <a:prstGeom prst="rect">
            <a:avLst/>
          </a:prstGeom>
          <a:noFill/>
          <a:ln/>
        </p:spPr>
        <p:txBody>
          <a:bodyPr wrap="square" lIns="0" tIns="0" rIns="0" bIns="0" rtlCol="0" anchor="t"/>
          <a:lstStyle/>
          <a:p>
            <a:pPr algn="just">
              <a:spcAft>
                <a:spcPts val="159"/>
              </a:spcAft>
            </a:pPr>
            <a:r>
              <a:rPr lang="en-US" sz="800" b="1" dirty="0">
                <a:latin typeface="Calibri" pitchFamily="34" charset="0"/>
                <a:ea typeface="Calibri" pitchFamily="34" charset="-122"/>
                <a:cs typeface="Calibri" pitchFamily="34" charset="-120"/>
              </a:rPr>
              <a:t>🔑 </a:t>
            </a:r>
            <a:r>
              <a:rPr lang="fr-FR" sz="800" b="1" dirty="0" err="1">
                <a:latin typeface="Calibri" panose="020F0502020204030204" pitchFamily="34" charset="0"/>
                <a:ea typeface="Calibri" panose="020F0502020204030204" pitchFamily="34" charset="0"/>
                <a:cs typeface="Calibri" panose="020F0502020204030204" pitchFamily="34" charset="0"/>
              </a:rPr>
              <a:t>EspriHub</a:t>
            </a:r>
            <a:r>
              <a:rPr lang="fr-FR" sz="800" b="1" dirty="0">
                <a:latin typeface="Calibri" panose="020F0502020204030204" pitchFamily="34" charset="0"/>
                <a:ea typeface="Calibri" panose="020F0502020204030204" pitchFamily="34" charset="0"/>
                <a:cs typeface="Calibri" panose="020F0502020204030204" pitchFamily="34" charset="0"/>
              </a:rPr>
              <a:t> shows how AI </a:t>
            </a:r>
            <a:r>
              <a:rPr lang="fr-FR" sz="800" b="1" dirty="0" err="1">
                <a:latin typeface="Calibri" panose="020F0502020204030204" pitchFamily="34" charset="0"/>
                <a:ea typeface="Calibri" panose="020F0502020204030204" pitchFamily="34" charset="0"/>
                <a:cs typeface="Calibri" panose="020F0502020204030204" pitchFamily="34" charset="0"/>
              </a:rPr>
              <a:t>may</a:t>
            </a:r>
            <a:r>
              <a:rPr lang="fr-FR" sz="800" b="1" dirty="0">
                <a:latin typeface="Calibri" panose="020F0502020204030204" pitchFamily="34" charset="0"/>
                <a:ea typeface="Calibri" panose="020F0502020204030204" pitchFamily="34" charset="0"/>
                <a:cs typeface="Calibri" panose="020F0502020204030204" pitchFamily="34" charset="0"/>
              </a:rPr>
              <a:t> </a:t>
            </a:r>
            <a:r>
              <a:rPr lang="fr-FR" sz="800" b="1" dirty="0" err="1">
                <a:latin typeface="Calibri" panose="020F0502020204030204" pitchFamily="34" charset="0"/>
                <a:ea typeface="Calibri" panose="020F0502020204030204" pitchFamily="34" charset="0"/>
                <a:cs typeface="Calibri" panose="020F0502020204030204" pitchFamily="34" charset="0"/>
              </a:rPr>
              <a:t>significantly</a:t>
            </a:r>
            <a:r>
              <a:rPr lang="fr-FR" sz="800" b="1" dirty="0">
                <a:latin typeface="Calibri" panose="020F0502020204030204" pitchFamily="34" charset="0"/>
                <a:ea typeface="Calibri" panose="020F0502020204030204" pitchFamily="34" charset="0"/>
                <a:cs typeface="Calibri" panose="020F0502020204030204" pitchFamily="34" charset="0"/>
              </a:rPr>
              <a:t> </a:t>
            </a:r>
            <a:r>
              <a:rPr lang="fr-FR" sz="800" b="1" dirty="0" err="1">
                <a:latin typeface="Calibri" panose="020F0502020204030204" pitchFamily="34" charset="0"/>
                <a:ea typeface="Calibri" panose="020F0502020204030204" pitchFamily="34" charset="0"/>
                <a:cs typeface="Calibri" panose="020F0502020204030204" pitchFamily="34" charset="0"/>
              </a:rPr>
              <a:t>improve</a:t>
            </a:r>
            <a:r>
              <a:rPr lang="fr-FR" sz="800" b="1" dirty="0">
                <a:latin typeface="Calibri" panose="020F0502020204030204" pitchFamily="34" charset="0"/>
                <a:ea typeface="Calibri" panose="020F0502020204030204" pitchFamily="34" charset="0"/>
                <a:cs typeface="Calibri" panose="020F0502020204030204" pitchFamily="34" charset="0"/>
              </a:rPr>
              <a:t> </a:t>
            </a:r>
            <a:r>
              <a:rPr lang="fr-FR" sz="800" b="1" dirty="0" err="1">
                <a:latin typeface="Calibri" panose="020F0502020204030204" pitchFamily="34" charset="0"/>
                <a:ea typeface="Calibri" panose="020F0502020204030204" pitchFamily="34" charset="0"/>
                <a:cs typeface="Calibri" panose="020F0502020204030204" pitchFamily="34" charset="0"/>
              </a:rPr>
              <a:t>academic</a:t>
            </a:r>
            <a:r>
              <a:rPr lang="fr-FR" sz="800" b="1" dirty="0">
                <a:latin typeface="Calibri" panose="020F0502020204030204" pitchFamily="34" charset="0"/>
                <a:ea typeface="Calibri" panose="020F0502020204030204" pitchFamily="34" charset="0"/>
                <a:cs typeface="Calibri" panose="020F0502020204030204" pitchFamily="34" charset="0"/>
              </a:rPr>
              <a:t> </a:t>
            </a:r>
            <a:r>
              <a:rPr lang="fr-FR" sz="800" b="1" dirty="0" err="1">
                <a:latin typeface="Calibri" panose="020F0502020204030204" pitchFamily="34" charset="0"/>
                <a:ea typeface="Calibri" panose="020F0502020204030204" pitchFamily="34" charset="0"/>
                <a:cs typeface="Calibri" panose="020F0502020204030204" pitchFamily="34" charset="0"/>
              </a:rPr>
              <a:t>assessment</a:t>
            </a:r>
            <a:r>
              <a:rPr lang="fr-FR" sz="800" b="1" dirty="0">
                <a:latin typeface="Calibri" panose="020F0502020204030204" pitchFamily="34" charset="0"/>
                <a:ea typeface="Calibri" panose="020F0502020204030204" pitchFamily="34" charset="0"/>
                <a:cs typeface="Calibri" panose="020F0502020204030204" pitchFamily="34" charset="0"/>
              </a:rPr>
              <a:t> </a:t>
            </a:r>
            <a:r>
              <a:rPr lang="fr-FR" sz="800" b="1" dirty="0" err="1">
                <a:latin typeface="Calibri" panose="020F0502020204030204" pitchFamily="34" charset="0"/>
                <a:ea typeface="Calibri" panose="020F0502020204030204" pitchFamily="34" charset="0"/>
                <a:cs typeface="Calibri" panose="020F0502020204030204" pitchFamily="34" charset="0"/>
              </a:rPr>
              <a:t>without</a:t>
            </a:r>
            <a:r>
              <a:rPr lang="fr-FR" sz="800" b="1" dirty="0">
                <a:latin typeface="Calibri" panose="020F0502020204030204" pitchFamily="34" charset="0"/>
                <a:ea typeface="Calibri" panose="020F0502020204030204" pitchFamily="34" charset="0"/>
                <a:cs typeface="Calibri" panose="020F0502020204030204" pitchFamily="34" charset="0"/>
              </a:rPr>
              <a:t> </a:t>
            </a:r>
            <a:r>
              <a:rPr lang="fr-FR" sz="800" b="1" dirty="0" err="1">
                <a:latin typeface="Calibri" panose="020F0502020204030204" pitchFamily="34" charset="0"/>
                <a:ea typeface="Calibri" panose="020F0502020204030204" pitchFamily="34" charset="0"/>
                <a:cs typeface="Calibri" panose="020F0502020204030204" pitchFamily="34" charset="0"/>
              </a:rPr>
              <a:t>taking</a:t>
            </a:r>
            <a:r>
              <a:rPr lang="fr-FR" sz="800" b="1" dirty="0">
                <a:latin typeface="Calibri" panose="020F0502020204030204" pitchFamily="34" charset="0"/>
                <a:ea typeface="Calibri" panose="020F0502020204030204" pitchFamily="34" charset="0"/>
                <a:cs typeface="Calibri" panose="020F0502020204030204" pitchFamily="34" charset="0"/>
              </a:rPr>
              <a:t> the place of </a:t>
            </a:r>
            <a:r>
              <a:rPr lang="fr-FR" sz="800" b="1" dirty="0" err="1">
                <a:latin typeface="Calibri" panose="020F0502020204030204" pitchFamily="34" charset="0"/>
                <a:ea typeface="Calibri" panose="020F0502020204030204" pitchFamily="34" charset="0"/>
                <a:cs typeface="Calibri" panose="020F0502020204030204" pitchFamily="34" charset="0"/>
              </a:rPr>
              <a:t>teachers</a:t>
            </a:r>
            <a:endParaRPr lang="fr-FR" sz="800" b="1" dirty="0">
              <a:latin typeface="Calibri" panose="020F0502020204030204" pitchFamily="34" charset="0"/>
              <a:ea typeface="Calibri" panose="020F0502020204030204" pitchFamily="34" charset="0"/>
              <a:cs typeface="Calibri" panose="020F0502020204030204" pitchFamily="34" charset="0"/>
            </a:endParaRPr>
          </a:p>
          <a:p>
            <a:pPr algn="just">
              <a:spcAft>
                <a:spcPts val="159"/>
              </a:spcAft>
            </a:pPr>
            <a:endParaRPr lang="fr-FR" sz="800" b="1" dirty="0">
              <a:latin typeface="Calibri" panose="020F0502020204030204" pitchFamily="34" charset="0"/>
              <a:ea typeface="Calibri" panose="020F0502020204030204" pitchFamily="34" charset="0"/>
              <a:cs typeface="Calibri" panose="020F0502020204030204" pitchFamily="34" charset="0"/>
            </a:endParaRPr>
          </a:p>
          <a:p>
            <a:pPr algn="just">
              <a:spcAft>
                <a:spcPts val="159"/>
              </a:spcAft>
            </a:pPr>
            <a:r>
              <a:rPr lang="fr-FR" sz="900" dirty="0"/>
              <a:t>🎯 </a:t>
            </a:r>
            <a:r>
              <a:rPr lang="fr-FR" sz="900" dirty="0" err="1">
                <a:latin typeface="Calibri" panose="020F0502020204030204" pitchFamily="34" charset="0"/>
                <a:ea typeface="Calibri" panose="020F0502020204030204" pitchFamily="34" charset="0"/>
                <a:cs typeface="Calibri" panose="020F0502020204030204" pitchFamily="34" charset="0"/>
              </a:rPr>
              <a:t>Reduces</a:t>
            </a:r>
            <a:r>
              <a:rPr lang="fr-FR" sz="900" dirty="0">
                <a:latin typeface="Calibri" panose="020F0502020204030204" pitchFamily="34" charset="0"/>
                <a:ea typeface="Calibri" panose="020F0502020204030204" pitchFamily="34" charset="0"/>
                <a:cs typeface="Calibri" panose="020F0502020204030204" pitchFamily="34" charset="0"/>
              </a:rPr>
              <a:t> </a:t>
            </a:r>
            <a:r>
              <a:rPr lang="fr-FR" sz="900" dirty="0" err="1">
                <a:latin typeface="Calibri" panose="020F0502020204030204" pitchFamily="34" charset="0"/>
                <a:ea typeface="Calibri" panose="020F0502020204030204" pitchFamily="34" charset="0"/>
                <a:cs typeface="Calibri" panose="020F0502020204030204" pitchFamily="34" charset="0"/>
              </a:rPr>
              <a:t>faculty</a:t>
            </a:r>
            <a:r>
              <a:rPr lang="fr-FR" sz="900" dirty="0">
                <a:latin typeface="Calibri" panose="020F0502020204030204" pitchFamily="34" charset="0"/>
                <a:ea typeface="Calibri" panose="020F0502020204030204" pitchFamily="34" charset="0"/>
                <a:cs typeface="Calibri" panose="020F0502020204030204" pitchFamily="34" charset="0"/>
              </a:rPr>
              <a:t> </a:t>
            </a:r>
            <a:r>
              <a:rPr lang="fr-FR" sz="900" dirty="0" err="1">
                <a:latin typeface="Calibri" panose="020F0502020204030204" pitchFamily="34" charset="0"/>
                <a:ea typeface="Calibri" panose="020F0502020204030204" pitchFamily="34" charset="0"/>
                <a:cs typeface="Calibri" panose="020F0502020204030204" pitchFamily="34" charset="0"/>
              </a:rPr>
              <a:t>workload</a:t>
            </a:r>
            <a:r>
              <a:rPr lang="fr-FR" sz="900" dirty="0">
                <a:latin typeface="Calibri" panose="020F0502020204030204" pitchFamily="34" charset="0"/>
                <a:ea typeface="Calibri" panose="020F0502020204030204" pitchFamily="34" charset="0"/>
                <a:cs typeface="Calibri" panose="020F0502020204030204" pitchFamily="34" charset="0"/>
              </a:rPr>
              <a:t> in large </a:t>
            </a:r>
            <a:r>
              <a:rPr lang="fr-FR" sz="900" dirty="0" err="1">
                <a:latin typeface="Calibri" panose="020F0502020204030204" pitchFamily="34" charset="0"/>
                <a:ea typeface="Calibri" panose="020F0502020204030204" pitchFamily="34" charset="0"/>
                <a:cs typeface="Calibri" panose="020F0502020204030204" pitchFamily="34" charset="0"/>
              </a:rPr>
              <a:t>project-based</a:t>
            </a:r>
            <a:r>
              <a:rPr lang="fr-FR" sz="900" dirty="0">
                <a:latin typeface="Calibri" panose="020F0502020204030204" pitchFamily="34" charset="0"/>
                <a:ea typeface="Calibri" panose="020F0502020204030204" pitchFamily="34" charset="0"/>
                <a:cs typeface="Calibri" panose="020F0502020204030204" pitchFamily="34" charset="0"/>
              </a:rPr>
              <a:t> course</a:t>
            </a:r>
            <a:br>
              <a:rPr lang="fr-FR" sz="900" dirty="0">
                <a:latin typeface="Calibri" panose="020F0502020204030204" pitchFamily="34" charset="0"/>
                <a:ea typeface="Calibri" panose="020F0502020204030204" pitchFamily="34" charset="0"/>
                <a:cs typeface="Calibri" panose="020F0502020204030204" pitchFamily="34" charset="0"/>
              </a:rPr>
            </a:br>
            <a:r>
              <a:rPr lang="fr-FR" sz="900" dirty="0">
                <a:latin typeface="Calibri" panose="020F0502020204030204" pitchFamily="34" charset="0"/>
                <a:ea typeface="Calibri" panose="020F0502020204030204" pitchFamily="34" charset="0"/>
                <a:cs typeface="Calibri" panose="020F0502020204030204" pitchFamily="34" charset="0"/>
              </a:rPr>
              <a:t>✅ </a:t>
            </a:r>
            <a:r>
              <a:rPr lang="fr-FR" sz="900" dirty="0" err="1">
                <a:latin typeface="Calibri" panose="020F0502020204030204" pitchFamily="34" charset="0"/>
                <a:ea typeface="Calibri" panose="020F0502020204030204" pitchFamily="34" charset="0"/>
                <a:cs typeface="Calibri" panose="020F0502020204030204" pitchFamily="34" charset="0"/>
              </a:rPr>
              <a:t>Improves</a:t>
            </a:r>
            <a:r>
              <a:rPr lang="fr-FR" sz="900" dirty="0">
                <a:latin typeface="Calibri" panose="020F0502020204030204" pitchFamily="34" charset="0"/>
                <a:ea typeface="Calibri" panose="020F0502020204030204" pitchFamily="34" charset="0"/>
                <a:cs typeface="Calibri" panose="020F0502020204030204" pitchFamily="34" charset="0"/>
              </a:rPr>
              <a:t> </a:t>
            </a:r>
            <a:r>
              <a:rPr lang="fr-FR" sz="900" dirty="0" err="1">
                <a:latin typeface="Calibri" panose="020F0502020204030204" pitchFamily="34" charset="0"/>
                <a:ea typeface="Calibri" panose="020F0502020204030204" pitchFamily="34" charset="0"/>
                <a:cs typeface="Calibri" panose="020F0502020204030204" pitchFamily="34" charset="0"/>
              </a:rPr>
              <a:t>fairness</a:t>
            </a:r>
            <a:r>
              <a:rPr lang="fr-FR" sz="900" dirty="0">
                <a:latin typeface="Calibri" panose="020F0502020204030204" pitchFamily="34" charset="0"/>
                <a:ea typeface="Calibri" panose="020F0502020204030204" pitchFamily="34" charset="0"/>
                <a:cs typeface="Calibri" panose="020F0502020204030204" pitchFamily="34" charset="0"/>
              </a:rPr>
              <a:t> and </a:t>
            </a:r>
            <a:r>
              <a:rPr lang="fr-FR" sz="900" dirty="0" err="1">
                <a:latin typeface="Calibri" panose="020F0502020204030204" pitchFamily="34" charset="0"/>
                <a:ea typeface="Calibri" panose="020F0502020204030204" pitchFamily="34" charset="0"/>
                <a:cs typeface="Calibri" panose="020F0502020204030204" pitchFamily="34" charset="0"/>
              </a:rPr>
              <a:t>traceability</a:t>
            </a:r>
            <a:r>
              <a:rPr lang="fr-FR" sz="900" dirty="0">
                <a:latin typeface="Calibri" panose="020F0502020204030204" pitchFamily="34" charset="0"/>
                <a:ea typeface="Calibri" panose="020F0502020204030204" pitchFamily="34" charset="0"/>
                <a:cs typeface="Calibri" panose="020F0502020204030204" pitchFamily="34" charset="0"/>
              </a:rPr>
              <a:t> of </a:t>
            </a:r>
            <a:r>
              <a:rPr lang="fr-FR" sz="900" dirty="0" err="1">
                <a:latin typeface="Calibri" panose="020F0502020204030204" pitchFamily="34" charset="0"/>
                <a:ea typeface="Calibri" panose="020F0502020204030204" pitchFamily="34" charset="0"/>
                <a:cs typeface="Calibri" panose="020F0502020204030204" pitchFamily="34" charset="0"/>
              </a:rPr>
              <a:t>assessment</a:t>
            </a:r>
            <a:br>
              <a:rPr lang="fr-FR" sz="900" dirty="0">
                <a:latin typeface="Calibri" panose="020F0502020204030204" pitchFamily="34" charset="0"/>
                <a:ea typeface="Calibri" panose="020F0502020204030204" pitchFamily="34" charset="0"/>
                <a:cs typeface="Calibri" panose="020F0502020204030204" pitchFamily="34" charset="0"/>
              </a:rPr>
            </a:br>
            <a:r>
              <a:rPr lang="fr-FR" sz="900" dirty="0">
                <a:latin typeface="Calibri" panose="020F0502020204030204" pitchFamily="34" charset="0"/>
                <a:ea typeface="Calibri" panose="020F0502020204030204" pitchFamily="34" charset="0"/>
                <a:cs typeface="Calibri" panose="020F0502020204030204" pitchFamily="34" charset="0"/>
              </a:rPr>
              <a:t>🔁  </a:t>
            </a:r>
            <a:r>
              <a:rPr lang="fr-FR" sz="900" dirty="0" err="1">
                <a:latin typeface="Calibri" panose="020F0502020204030204" pitchFamily="34" charset="0"/>
                <a:ea typeface="Calibri" panose="020F0502020204030204" pitchFamily="34" charset="0"/>
                <a:cs typeface="Calibri" panose="020F0502020204030204" pitchFamily="34" charset="0"/>
              </a:rPr>
              <a:t>Transferable</a:t>
            </a:r>
            <a:r>
              <a:rPr lang="fr-FR" sz="900" dirty="0">
                <a:latin typeface="Calibri" panose="020F0502020204030204" pitchFamily="34" charset="0"/>
                <a:ea typeface="Calibri" panose="020F0502020204030204" pitchFamily="34" charset="0"/>
                <a:cs typeface="Calibri" panose="020F0502020204030204" pitchFamily="34" charset="0"/>
              </a:rPr>
              <a:t> to </a:t>
            </a:r>
            <a:r>
              <a:rPr lang="fr-FR" sz="900" dirty="0" err="1">
                <a:latin typeface="Calibri" panose="020F0502020204030204" pitchFamily="34" charset="0"/>
                <a:ea typeface="Calibri" panose="020F0502020204030204" pitchFamily="34" charset="0"/>
                <a:cs typeface="Calibri" panose="020F0502020204030204" pitchFamily="34" charset="0"/>
              </a:rPr>
              <a:t>other</a:t>
            </a:r>
            <a:r>
              <a:rPr lang="fr-FR" sz="900" dirty="0">
                <a:latin typeface="Calibri" panose="020F0502020204030204" pitchFamily="34" charset="0"/>
                <a:ea typeface="Calibri" panose="020F0502020204030204" pitchFamily="34" charset="0"/>
                <a:cs typeface="Calibri" panose="020F0502020204030204" pitchFamily="34" charset="0"/>
              </a:rPr>
              <a:t> </a:t>
            </a:r>
            <a:r>
              <a:rPr lang="fr-FR" sz="900" dirty="0" err="1">
                <a:latin typeface="Calibri" panose="020F0502020204030204" pitchFamily="34" charset="0"/>
                <a:ea typeface="Calibri" panose="020F0502020204030204" pitchFamily="34" charset="0"/>
                <a:cs typeface="Calibri" panose="020F0502020204030204" pitchFamily="34" charset="0"/>
              </a:rPr>
              <a:t>universities</a:t>
            </a:r>
            <a:r>
              <a:rPr lang="fr-FR" sz="900" dirty="0">
                <a:latin typeface="Calibri" panose="020F0502020204030204" pitchFamily="34" charset="0"/>
                <a:ea typeface="Calibri" panose="020F0502020204030204" pitchFamily="34" charset="0"/>
                <a:cs typeface="Calibri" panose="020F0502020204030204" pitchFamily="34" charset="0"/>
              </a:rPr>
              <a:t> and training </a:t>
            </a:r>
            <a:r>
              <a:rPr lang="fr-FR" sz="900" dirty="0" err="1">
                <a:latin typeface="Calibri" panose="020F0502020204030204" pitchFamily="34" charset="0"/>
                <a:ea typeface="Calibri" panose="020F0502020204030204" pitchFamily="34" charset="0"/>
                <a:cs typeface="Calibri" panose="020F0502020204030204" pitchFamily="34" charset="0"/>
              </a:rPr>
              <a:t>contexts</a:t>
            </a:r>
            <a:br>
              <a:rPr lang="fr-FR" sz="900" dirty="0">
                <a:latin typeface="Calibri" panose="020F0502020204030204" pitchFamily="34" charset="0"/>
                <a:ea typeface="Calibri" panose="020F0502020204030204" pitchFamily="34" charset="0"/>
                <a:cs typeface="Calibri" panose="020F0502020204030204" pitchFamily="34" charset="0"/>
              </a:rPr>
            </a:br>
            <a:r>
              <a:rPr lang="fr-FR" sz="900" dirty="0">
                <a:latin typeface="Calibri" panose="020F0502020204030204" pitchFamily="34" charset="0"/>
                <a:ea typeface="Calibri" panose="020F0502020204030204" pitchFamily="34" charset="0"/>
                <a:cs typeface="Calibri" panose="020F0502020204030204" pitchFamily="34" charset="0"/>
              </a:rPr>
              <a:t>🌱 Supports a </a:t>
            </a:r>
            <a:r>
              <a:rPr lang="fr-FR" sz="900" dirty="0" err="1">
                <a:latin typeface="Calibri" panose="020F0502020204030204" pitchFamily="34" charset="0"/>
                <a:ea typeface="Calibri" panose="020F0502020204030204" pitchFamily="34" charset="0"/>
                <a:cs typeface="Calibri" panose="020F0502020204030204" pitchFamily="34" charset="0"/>
              </a:rPr>
              <a:t>sustainable</a:t>
            </a:r>
            <a:r>
              <a:rPr lang="fr-FR" sz="900" dirty="0">
                <a:latin typeface="Calibri" panose="020F0502020204030204" pitchFamily="34" charset="0"/>
                <a:ea typeface="Calibri" panose="020F0502020204030204" pitchFamily="34" charset="0"/>
                <a:cs typeface="Calibri" panose="020F0502020204030204" pitchFamily="34" charset="0"/>
              </a:rPr>
              <a:t> vision of the AI-</a:t>
            </a:r>
            <a:r>
              <a:rPr lang="fr-FR" sz="900" dirty="0" err="1">
                <a:latin typeface="Calibri" panose="020F0502020204030204" pitchFamily="34" charset="0"/>
                <a:ea typeface="Calibri" panose="020F0502020204030204" pitchFamily="34" charset="0"/>
                <a:cs typeface="Calibri" panose="020F0502020204030204" pitchFamily="34" charset="0"/>
              </a:rPr>
              <a:t>enabled</a:t>
            </a:r>
            <a:r>
              <a:rPr lang="fr-FR" sz="900" dirty="0">
                <a:latin typeface="Calibri" panose="020F0502020204030204" pitchFamily="34" charset="0"/>
                <a:ea typeface="Calibri" panose="020F0502020204030204" pitchFamily="34" charset="0"/>
                <a:cs typeface="Calibri" panose="020F0502020204030204" pitchFamily="34" charset="0"/>
              </a:rPr>
              <a:t> </a:t>
            </a:r>
            <a:r>
              <a:rPr lang="fr-FR" sz="900" dirty="0" err="1">
                <a:latin typeface="Calibri" panose="020F0502020204030204" pitchFamily="34" charset="0"/>
                <a:ea typeface="Calibri" panose="020F0502020204030204" pitchFamily="34" charset="0"/>
                <a:cs typeface="Calibri" panose="020F0502020204030204" pitchFamily="34" charset="0"/>
              </a:rPr>
              <a:t>University</a:t>
            </a:r>
            <a:r>
              <a:rPr lang="fr-FR" sz="900" dirty="0">
                <a:latin typeface="Calibri" panose="020F0502020204030204" pitchFamily="34" charset="0"/>
                <a:ea typeface="Calibri" panose="020F0502020204030204" pitchFamily="34" charset="0"/>
                <a:cs typeface="Calibri" panose="020F0502020204030204" pitchFamily="34" charset="0"/>
              </a:rPr>
              <a:t> of the Future</a:t>
            </a:r>
            <a:endParaRPr lang="en-US" sz="900" dirty="0"/>
          </a:p>
        </p:txBody>
      </p:sp>
      <p:sp>
        <p:nvSpPr>
          <p:cNvPr id="80" name="Shape 77">
            <a:extLst>
              <a:ext uri="{FF2B5EF4-FFF2-40B4-BE49-F238E27FC236}">
                <a16:creationId xmlns:a16="http://schemas.microsoft.com/office/drawing/2014/main" id="{5110628D-02BF-4FD9-F100-0DFCF5315A5F}"/>
              </a:ext>
            </a:extLst>
          </p:cNvPr>
          <p:cNvSpPr/>
          <p:nvPr/>
        </p:nvSpPr>
        <p:spPr>
          <a:xfrm>
            <a:off x="130488" y="10602607"/>
            <a:ext cx="3247739" cy="1123827"/>
          </a:xfrm>
          <a:prstGeom prst="rect">
            <a:avLst/>
          </a:prstGeom>
          <a:solidFill>
            <a:srgbClr val="FFFFFF"/>
          </a:solidFill>
          <a:ln w="7620">
            <a:solidFill>
              <a:srgbClr val="E8E8E8"/>
            </a:solidFill>
            <a:prstDash val="solid"/>
          </a:ln>
          <a:effectLst>
            <a:outerShdw blurRad="63500" dist="12700" dir="8100000" algn="bl" rotWithShape="0">
              <a:srgbClr val="000000">
                <a:alpha val="6000"/>
              </a:srgbClr>
            </a:outerShdw>
          </a:effectLst>
        </p:spPr>
        <p:txBody>
          <a:bodyPr/>
          <a:lstStyle/>
          <a:p>
            <a:endParaRPr lang="fr-FR" sz="1427"/>
          </a:p>
        </p:txBody>
      </p:sp>
      <p:sp>
        <p:nvSpPr>
          <p:cNvPr id="81" name="Shape 78">
            <a:extLst>
              <a:ext uri="{FF2B5EF4-FFF2-40B4-BE49-F238E27FC236}">
                <a16:creationId xmlns:a16="http://schemas.microsoft.com/office/drawing/2014/main" id="{9DB42895-693D-B3AA-9624-A4492E0C67F6}"/>
              </a:ext>
            </a:extLst>
          </p:cNvPr>
          <p:cNvSpPr/>
          <p:nvPr/>
        </p:nvSpPr>
        <p:spPr>
          <a:xfrm>
            <a:off x="130488" y="10602607"/>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82" name="Shape 79">
            <a:extLst>
              <a:ext uri="{FF2B5EF4-FFF2-40B4-BE49-F238E27FC236}">
                <a16:creationId xmlns:a16="http://schemas.microsoft.com/office/drawing/2014/main" id="{A1DB9DCF-72E2-8AF8-C806-AF22C66F1E75}"/>
              </a:ext>
            </a:extLst>
          </p:cNvPr>
          <p:cNvSpPr/>
          <p:nvPr/>
        </p:nvSpPr>
        <p:spPr>
          <a:xfrm>
            <a:off x="210231" y="10667852"/>
            <a:ext cx="195734" cy="195734"/>
          </a:xfrm>
          <a:prstGeom prst="ellipse">
            <a:avLst/>
          </a:prstGeom>
          <a:solidFill>
            <a:srgbClr val="46B6AE"/>
          </a:solidFill>
          <a:ln w="12700">
            <a:solidFill>
              <a:srgbClr val="8C8C8C"/>
            </a:solidFill>
            <a:prstDash val="solid"/>
          </a:ln>
        </p:spPr>
        <p:txBody>
          <a:bodyPr/>
          <a:lstStyle/>
          <a:p>
            <a:endParaRPr lang="fr-FR" sz="1427"/>
          </a:p>
        </p:txBody>
      </p:sp>
      <p:sp>
        <p:nvSpPr>
          <p:cNvPr id="83" name="Text 80">
            <a:extLst>
              <a:ext uri="{FF2B5EF4-FFF2-40B4-BE49-F238E27FC236}">
                <a16:creationId xmlns:a16="http://schemas.microsoft.com/office/drawing/2014/main" id="{3EC49549-CA6A-9825-B625-EBAA88F79167}"/>
              </a:ext>
            </a:extLst>
          </p:cNvPr>
          <p:cNvSpPr/>
          <p:nvPr/>
        </p:nvSpPr>
        <p:spPr>
          <a:xfrm>
            <a:off x="210231" y="10667852"/>
            <a:ext cx="195734" cy="195734"/>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84" name="Text 81">
            <a:extLst>
              <a:ext uri="{FF2B5EF4-FFF2-40B4-BE49-F238E27FC236}">
                <a16:creationId xmlns:a16="http://schemas.microsoft.com/office/drawing/2014/main" id="{DDF4EEA0-7786-D269-EB83-72B8F5F9F3AD}"/>
              </a:ext>
            </a:extLst>
          </p:cNvPr>
          <p:cNvSpPr/>
          <p:nvPr/>
        </p:nvSpPr>
        <p:spPr>
          <a:xfrm>
            <a:off x="449462" y="10667852"/>
            <a:ext cx="2841772" cy="202984"/>
          </a:xfrm>
          <a:prstGeom prst="rect">
            <a:avLst/>
          </a:prstGeom>
          <a:noFill/>
          <a:ln/>
        </p:spPr>
        <p:txBody>
          <a:bodyPr wrap="square" lIns="0" tIns="0" rIns="0" bIns="0" rtlCol="0" anchor="ctr"/>
          <a:lstStyle/>
          <a:p>
            <a:r>
              <a:rPr lang="en-US" sz="1200" b="1" dirty="0">
                <a:solidFill>
                  <a:srgbClr val="2C2C2C"/>
                </a:solidFill>
                <a:latin typeface="Calibri" pitchFamily="34" charset="0"/>
                <a:ea typeface="Calibri" pitchFamily="34" charset="-122"/>
                <a:cs typeface="Calibri" pitchFamily="34" charset="-120"/>
              </a:rPr>
              <a:t>References</a:t>
            </a:r>
            <a:endParaRPr lang="en-US" sz="1200" dirty="0"/>
          </a:p>
        </p:txBody>
      </p:sp>
      <p:sp>
        <p:nvSpPr>
          <p:cNvPr id="85" name="Shape 82">
            <a:extLst>
              <a:ext uri="{FF2B5EF4-FFF2-40B4-BE49-F238E27FC236}">
                <a16:creationId xmlns:a16="http://schemas.microsoft.com/office/drawing/2014/main" id="{D35EB589-8645-BE2D-3CFA-CF647D1CDC7B}"/>
              </a:ext>
            </a:extLst>
          </p:cNvPr>
          <p:cNvSpPr/>
          <p:nvPr/>
        </p:nvSpPr>
        <p:spPr>
          <a:xfrm>
            <a:off x="210231" y="10878085"/>
            <a:ext cx="3088252" cy="0"/>
          </a:xfrm>
          <a:prstGeom prst="line">
            <a:avLst/>
          </a:prstGeom>
          <a:noFill/>
          <a:ln w="6350">
            <a:solidFill>
              <a:srgbClr val="E8E8E8"/>
            </a:solidFill>
            <a:prstDash val="solid"/>
          </a:ln>
        </p:spPr>
        <p:txBody>
          <a:bodyPr/>
          <a:lstStyle/>
          <a:p>
            <a:endParaRPr lang="fr-FR" sz="1427"/>
          </a:p>
        </p:txBody>
      </p:sp>
      <p:sp>
        <p:nvSpPr>
          <p:cNvPr id="86" name="Text 83">
            <a:extLst>
              <a:ext uri="{FF2B5EF4-FFF2-40B4-BE49-F238E27FC236}">
                <a16:creationId xmlns:a16="http://schemas.microsoft.com/office/drawing/2014/main" id="{73ED5327-3614-DF3A-57E2-1AB406E31D98}"/>
              </a:ext>
            </a:extLst>
          </p:cNvPr>
          <p:cNvSpPr/>
          <p:nvPr/>
        </p:nvSpPr>
        <p:spPr>
          <a:xfrm>
            <a:off x="228430" y="10905132"/>
            <a:ext cx="3149796" cy="699843"/>
          </a:xfrm>
          <a:prstGeom prst="rect">
            <a:avLst/>
          </a:prstGeom>
          <a:noFill/>
          <a:ln/>
        </p:spPr>
        <p:txBody>
          <a:bodyPr wrap="square" lIns="0" tIns="0" rIns="0" bIns="0" rtlCol="0" anchor="t"/>
          <a:lstStyle/>
          <a:p>
            <a:pPr>
              <a:spcAft>
                <a:spcPts val="159"/>
              </a:spcAft>
              <a:buSzPct val="100000"/>
            </a:pPr>
            <a:r>
              <a:rPr lang="en-US" sz="500" dirty="0">
                <a:solidFill>
                  <a:srgbClr val="5A5A5A"/>
                </a:solidFill>
                <a:latin typeface="Calibri" pitchFamily="34" charset="0"/>
                <a:ea typeface="Calibri" pitchFamily="34" charset="-122"/>
                <a:cs typeface="Calibri" pitchFamily="34" charset="-120"/>
              </a:rPr>
              <a:t>[1] </a:t>
            </a:r>
            <a:r>
              <a:rPr lang="fr-FR" sz="500" dirty="0" err="1">
                <a:solidFill>
                  <a:srgbClr val="5A5A5A"/>
                </a:solidFill>
                <a:latin typeface="Calibri" pitchFamily="34" charset="0"/>
                <a:ea typeface="Calibri" pitchFamily="34" charset="-122"/>
                <a:cs typeface="Calibri" pitchFamily="34" charset="-120"/>
              </a:rPr>
              <a:t>Dabbish</a:t>
            </a:r>
            <a:r>
              <a:rPr lang="fr-FR" sz="500" dirty="0">
                <a:solidFill>
                  <a:srgbClr val="5A5A5A"/>
                </a:solidFill>
                <a:latin typeface="Calibri" pitchFamily="34" charset="0"/>
                <a:ea typeface="Calibri" pitchFamily="34" charset="-122"/>
                <a:cs typeface="Calibri" pitchFamily="34" charset="-120"/>
              </a:rPr>
              <a:t>, L., Stuart, C., </a:t>
            </a:r>
            <a:r>
              <a:rPr lang="fr-FR" sz="500" dirty="0" err="1">
                <a:solidFill>
                  <a:srgbClr val="5A5A5A"/>
                </a:solidFill>
                <a:latin typeface="Calibri" pitchFamily="34" charset="0"/>
                <a:ea typeface="Calibri" pitchFamily="34" charset="-122"/>
                <a:cs typeface="Calibri" pitchFamily="34" charset="-120"/>
              </a:rPr>
              <a:t>Tsay</a:t>
            </a:r>
            <a:r>
              <a:rPr lang="fr-FR" sz="500" dirty="0">
                <a:solidFill>
                  <a:srgbClr val="5A5A5A"/>
                </a:solidFill>
                <a:latin typeface="Calibri" pitchFamily="34" charset="0"/>
                <a:ea typeface="Calibri" pitchFamily="34" charset="-122"/>
                <a:cs typeface="Calibri" pitchFamily="34" charset="-120"/>
              </a:rPr>
              <a:t>, J., &amp; </a:t>
            </a:r>
            <a:r>
              <a:rPr lang="fr-FR" sz="500" dirty="0" err="1">
                <a:solidFill>
                  <a:srgbClr val="5A5A5A"/>
                </a:solidFill>
                <a:latin typeface="Calibri" pitchFamily="34" charset="0"/>
                <a:ea typeface="Calibri" pitchFamily="34" charset="-122"/>
                <a:cs typeface="Calibri" pitchFamily="34" charset="-120"/>
              </a:rPr>
              <a:t>Herbsleb</a:t>
            </a:r>
            <a:r>
              <a:rPr lang="fr-FR" sz="500" dirty="0">
                <a:solidFill>
                  <a:srgbClr val="5A5A5A"/>
                </a:solidFill>
                <a:latin typeface="Calibri" pitchFamily="34" charset="0"/>
                <a:ea typeface="Calibri" pitchFamily="34" charset="-122"/>
                <a:cs typeface="Calibri" pitchFamily="34" charset="-120"/>
              </a:rPr>
              <a:t>, J. (2012). Social </a:t>
            </a:r>
            <a:r>
              <a:rPr lang="fr-FR" sz="500" dirty="0" err="1">
                <a:solidFill>
                  <a:srgbClr val="5A5A5A"/>
                </a:solidFill>
                <a:latin typeface="Calibri" pitchFamily="34" charset="0"/>
                <a:ea typeface="Calibri" pitchFamily="34" charset="-122"/>
                <a:cs typeface="Calibri" pitchFamily="34" charset="-120"/>
              </a:rPr>
              <a:t>coding</a:t>
            </a:r>
            <a:r>
              <a:rPr lang="fr-FR" sz="500" dirty="0">
                <a:solidFill>
                  <a:srgbClr val="5A5A5A"/>
                </a:solidFill>
                <a:latin typeface="Calibri" pitchFamily="34" charset="0"/>
                <a:ea typeface="Calibri" pitchFamily="34" charset="-122"/>
                <a:cs typeface="Calibri" pitchFamily="34" charset="-120"/>
              </a:rPr>
              <a:t> in GitHub: </a:t>
            </a:r>
            <a:r>
              <a:rPr lang="fr-FR" sz="500" dirty="0" err="1">
                <a:solidFill>
                  <a:srgbClr val="5A5A5A"/>
                </a:solidFill>
                <a:latin typeface="Calibri" pitchFamily="34" charset="0"/>
                <a:ea typeface="Calibri" pitchFamily="34" charset="-122"/>
                <a:cs typeface="Calibri" pitchFamily="34" charset="-120"/>
              </a:rPr>
              <a:t>Transparency</a:t>
            </a:r>
            <a:r>
              <a:rPr lang="fr-FR" sz="500" dirty="0">
                <a:solidFill>
                  <a:srgbClr val="5A5A5A"/>
                </a:solidFill>
                <a:latin typeface="Calibri" pitchFamily="34" charset="0"/>
                <a:ea typeface="Calibri" pitchFamily="34" charset="-122"/>
                <a:cs typeface="Calibri" pitchFamily="34" charset="-120"/>
              </a:rPr>
              <a:t> and collaboration in an open software repository</a:t>
            </a:r>
          </a:p>
          <a:p>
            <a:pPr>
              <a:spcAft>
                <a:spcPts val="159"/>
              </a:spcAft>
              <a:buSzPct val="100000"/>
            </a:pPr>
            <a:r>
              <a:rPr lang="en-US" sz="500" dirty="0">
                <a:solidFill>
                  <a:srgbClr val="5A5A5A"/>
                </a:solidFill>
                <a:latin typeface="Calibri" pitchFamily="34" charset="0"/>
                <a:ea typeface="Calibri" pitchFamily="34" charset="-122"/>
                <a:cs typeface="Calibri" pitchFamily="34" charset="-120"/>
              </a:rPr>
              <a:t>[2] H</a:t>
            </a:r>
            <a:r>
              <a:rPr lang="fr-FR" sz="500" dirty="0" err="1">
                <a:solidFill>
                  <a:srgbClr val="5A5A5A"/>
                </a:solidFill>
                <a:latin typeface="Calibri" pitchFamily="34" charset="0"/>
                <a:ea typeface="Calibri" pitchFamily="34" charset="-122"/>
                <a:cs typeface="Calibri" pitchFamily="34" charset="-120"/>
              </a:rPr>
              <a:t>olmes</a:t>
            </a:r>
            <a:r>
              <a:rPr lang="fr-FR" sz="500" dirty="0">
                <a:solidFill>
                  <a:srgbClr val="5A5A5A"/>
                </a:solidFill>
                <a:latin typeface="Calibri" pitchFamily="34" charset="0"/>
                <a:ea typeface="Calibri" pitchFamily="34" charset="-122"/>
                <a:cs typeface="Calibri" pitchFamily="34" charset="-120"/>
              </a:rPr>
              <a:t>, W., Bialik, M., &amp; Fadel, C. (2019). </a:t>
            </a:r>
            <a:r>
              <a:rPr lang="fr-FR" sz="500" dirty="0" err="1">
                <a:solidFill>
                  <a:srgbClr val="5A5A5A"/>
                </a:solidFill>
                <a:latin typeface="Calibri" pitchFamily="34" charset="0"/>
                <a:ea typeface="Calibri" pitchFamily="34" charset="-122"/>
                <a:cs typeface="Calibri" pitchFamily="34" charset="-120"/>
              </a:rPr>
              <a:t>Artificial</a:t>
            </a:r>
            <a:r>
              <a:rPr lang="fr-FR" sz="500" dirty="0">
                <a:solidFill>
                  <a:srgbClr val="5A5A5A"/>
                </a:solidFill>
                <a:latin typeface="Calibri" pitchFamily="34" charset="0"/>
                <a:ea typeface="Calibri" pitchFamily="34" charset="-122"/>
                <a:cs typeface="Calibri" pitchFamily="34" charset="-120"/>
              </a:rPr>
              <a:t> Intelligence in Education: Promises and Implications for </a:t>
            </a:r>
            <a:r>
              <a:rPr lang="fr-FR" sz="500" dirty="0" err="1">
                <a:solidFill>
                  <a:srgbClr val="5A5A5A"/>
                </a:solidFill>
                <a:latin typeface="Calibri" pitchFamily="34" charset="0"/>
                <a:ea typeface="Calibri" pitchFamily="34" charset="-122"/>
                <a:cs typeface="Calibri" pitchFamily="34" charset="-120"/>
              </a:rPr>
              <a:t>Teaching</a:t>
            </a:r>
            <a:r>
              <a:rPr lang="fr-FR" sz="500" dirty="0">
                <a:solidFill>
                  <a:srgbClr val="5A5A5A"/>
                </a:solidFill>
                <a:latin typeface="Calibri" pitchFamily="34" charset="0"/>
                <a:ea typeface="Calibri" pitchFamily="34" charset="-122"/>
                <a:cs typeface="Calibri" pitchFamily="34" charset="-120"/>
              </a:rPr>
              <a:t> and Learning. Center for Curriculum </a:t>
            </a:r>
            <a:r>
              <a:rPr lang="fr-FR" sz="500" dirty="0" err="1">
                <a:solidFill>
                  <a:srgbClr val="5A5A5A"/>
                </a:solidFill>
                <a:latin typeface="Calibri" pitchFamily="34" charset="0"/>
                <a:ea typeface="Calibri" pitchFamily="34" charset="-122"/>
                <a:cs typeface="Calibri" pitchFamily="34" charset="-120"/>
              </a:rPr>
              <a:t>Redesign</a:t>
            </a:r>
            <a:endParaRPr lang="fr-FR" sz="500" dirty="0">
              <a:solidFill>
                <a:srgbClr val="5A5A5A"/>
              </a:solidFill>
              <a:latin typeface="Calibri" pitchFamily="34" charset="0"/>
              <a:ea typeface="Calibri" pitchFamily="34" charset="-122"/>
              <a:cs typeface="Calibri" pitchFamily="34" charset="-120"/>
            </a:endParaRPr>
          </a:p>
          <a:p>
            <a:pPr>
              <a:spcAft>
                <a:spcPts val="159"/>
              </a:spcAft>
              <a:buSzPct val="100000"/>
            </a:pPr>
            <a:r>
              <a:rPr lang="en-US" sz="500" dirty="0">
                <a:solidFill>
                  <a:srgbClr val="5A5A5A"/>
                </a:solidFill>
                <a:latin typeface="Calibri" pitchFamily="34" charset="0"/>
                <a:ea typeface="Calibri" pitchFamily="34" charset="-122"/>
                <a:cs typeface="Calibri" pitchFamily="34" charset="-120"/>
              </a:rPr>
              <a:t>[3] </a:t>
            </a:r>
            <a:r>
              <a:rPr lang="fr-FR" sz="500" dirty="0" err="1">
                <a:solidFill>
                  <a:srgbClr val="5A5A5A"/>
                </a:solidFill>
                <a:latin typeface="Calibri" pitchFamily="34" charset="0"/>
                <a:ea typeface="Calibri" pitchFamily="34" charset="-122"/>
                <a:cs typeface="Calibri" pitchFamily="34" charset="-120"/>
              </a:rPr>
              <a:t>Luckin</a:t>
            </a:r>
            <a:r>
              <a:rPr lang="fr-FR" sz="500" dirty="0">
                <a:solidFill>
                  <a:srgbClr val="5A5A5A"/>
                </a:solidFill>
                <a:latin typeface="Calibri" pitchFamily="34" charset="0"/>
                <a:ea typeface="Calibri" pitchFamily="34" charset="-122"/>
                <a:cs typeface="Calibri" pitchFamily="34" charset="-120"/>
              </a:rPr>
              <a:t>, R., Holmes, W., Griffiths, M., &amp; </a:t>
            </a:r>
            <a:r>
              <a:rPr lang="fr-FR" sz="500" dirty="0" err="1">
                <a:solidFill>
                  <a:srgbClr val="5A5A5A"/>
                </a:solidFill>
                <a:latin typeface="Calibri" pitchFamily="34" charset="0"/>
                <a:ea typeface="Calibri" pitchFamily="34" charset="-122"/>
                <a:cs typeface="Calibri" pitchFamily="34" charset="-120"/>
              </a:rPr>
              <a:t>Forcier</a:t>
            </a:r>
            <a:r>
              <a:rPr lang="fr-FR" sz="500" dirty="0">
                <a:solidFill>
                  <a:srgbClr val="5A5A5A"/>
                </a:solidFill>
                <a:latin typeface="Calibri" pitchFamily="34" charset="0"/>
                <a:ea typeface="Calibri" pitchFamily="34" charset="-122"/>
                <a:cs typeface="Calibri" pitchFamily="34" charset="-120"/>
              </a:rPr>
              <a:t>, L. B. (2016). Intelligence </a:t>
            </a:r>
            <a:r>
              <a:rPr lang="fr-FR" sz="500" dirty="0" err="1">
                <a:solidFill>
                  <a:srgbClr val="5A5A5A"/>
                </a:solidFill>
                <a:latin typeface="Calibri" pitchFamily="34" charset="0"/>
                <a:ea typeface="Calibri" pitchFamily="34" charset="-122"/>
                <a:cs typeface="Calibri" pitchFamily="34" charset="-120"/>
              </a:rPr>
              <a:t>Unleashed</a:t>
            </a:r>
            <a:r>
              <a:rPr lang="fr-FR" sz="500" dirty="0">
                <a:solidFill>
                  <a:srgbClr val="5A5A5A"/>
                </a:solidFill>
                <a:latin typeface="Calibri" pitchFamily="34" charset="0"/>
                <a:ea typeface="Calibri" pitchFamily="34" charset="-122"/>
                <a:cs typeface="Calibri" pitchFamily="34" charset="-120"/>
              </a:rPr>
              <a:t>: An argument for AI in Education. Pearson.</a:t>
            </a:r>
          </a:p>
          <a:p>
            <a:pPr>
              <a:spcAft>
                <a:spcPts val="159"/>
              </a:spcAft>
              <a:buSzPct val="100000"/>
            </a:pPr>
            <a:r>
              <a:rPr lang="fr-FR" sz="500" dirty="0">
                <a:solidFill>
                  <a:srgbClr val="5A5A5A"/>
                </a:solidFill>
                <a:latin typeface="Calibri" pitchFamily="34" charset="0"/>
                <a:ea typeface="Calibri" pitchFamily="34" charset="-122"/>
                <a:cs typeface="Calibri" pitchFamily="34" charset="-120"/>
              </a:rPr>
              <a:t> </a:t>
            </a:r>
            <a:r>
              <a:rPr lang="en-US" sz="500" dirty="0">
                <a:solidFill>
                  <a:srgbClr val="5A5A5A"/>
                </a:solidFill>
                <a:latin typeface="Calibri" pitchFamily="34" charset="0"/>
                <a:ea typeface="Calibri" pitchFamily="34" charset="-122"/>
                <a:cs typeface="Calibri" pitchFamily="34" charset="-120"/>
              </a:rPr>
              <a:t>[4] </a:t>
            </a:r>
            <a:r>
              <a:rPr lang="fr-FR" sz="500" dirty="0" err="1">
                <a:solidFill>
                  <a:srgbClr val="5A5A5A"/>
                </a:solidFill>
                <a:latin typeface="Calibri" pitchFamily="34" charset="0"/>
                <a:ea typeface="Calibri" pitchFamily="34" charset="-122"/>
                <a:cs typeface="Calibri" pitchFamily="34" charset="-120"/>
              </a:rPr>
              <a:t>Zawacki</a:t>
            </a:r>
            <a:r>
              <a:rPr lang="fr-FR" sz="500" dirty="0">
                <a:solidFill>
                  <a:srgbClr val="5A5A5A"/>
                </a:solidFill>
                <a:latin typeface="Calibri" pitchFamily="34" charset="0"/>
                <a:ea typeface="Calibri" pitchFamily="34" charset="-122"/>
                <a:cs typeface="Calibri" pitchFamily="34" charset="-120"/>
              </a:rPr>
              <a:t>-Richter, O., </a:t>
            </a:r>
            <a:r>
              <a:rPr lang="fr-FR" sz="500" dirty="0" err="1">
                <a:solidFill>
                  <a:srgbClr val="5A5A5A"/>
                </a:solidFill>
                <a:latin typeface="Calibri" pitchFamily="34" charset="0"/>
                <a:ea typeface="Calibri" pitchFamily="34" charset="-122"/>
                <a:cs typeface="Calibri" pitchFamily="34" charset="-120"/>
              </a:rPr>
              <a:t>Marín</a:t>
            </a:r>
            <a:r>
              <a:rPr lang="fr-FR" sz="500" dirty="0">
                <a:solidFill>
                  <a:srgbClr val="5A5A5A"/>
                </a:solidFill>
                <a:latin typeface="Calibri" pitchFamily="34" charset="0"/>
                <a:ea typeface="Calibri" pitchFamily="34" charset="-122"/>
                <a:cs typeface="Calibri" pitchFamily="34" charset="-120"/>
              </a:rPr>
              <a:t>, V. I., Bond, M., &amp; Gouverneur, F. (2019). </a:t>
            </a:r>
            <a:r>
              <a:rPr lang="fr-FR" sz="500" dirty="0" err="1">
                <a:solidFill>
                  <a:srgbClr val="5A5A5A"/>
                </a:solidFill>
                <a:latin typeface="Calibri" pitchFamily="34" charset="0"/>
                <a:ea typeface="Calibri" pitchFamily="34" charset="-122"/>
                <a:cs typeface="Calibri" pitchFamily="34" charset="-120"/>
              </a:rPr>
              <a:t>Systematic</a:t>
            </a:r>
            <a:r>
              <a:rPr lang="fr-FR" sz="500" dirty="0">
                <a:solidFill>
                  <a:srgbClr val="5A5A5A"/>
                </a:solidFill>
                <a:latin typeface="Calibri" pitchFamily="34" charset="0"/>
                <a:ea typeface="Calibri" pitchFamily="34" charset="-122"/>
                <a:cs typeface="Calibri" pitchFamily="34" charset="-120"/>
              </a:rPr>
              <a:t> </a:t>
            </a:r>
            <a:r>
              <a:rPr lang="fr-FR" sz="500" dirty="0" err="1">
                <a:solidFill>
                  <a:srgbClr val="5A5A5A"/>
                </a:solidFill>
                <a:latin typeface="Calibri" pitchFamily="34" charset="0"/>
                <a:ea typeface="Calibri" pitchFamily="34" charset="-122"/>
                <a:cs typeface="Calibri" pitchFamily="34" charset="-120"/>
              </a:rPr>
              <a:t>review</a:t>
            </a:r>
            <a:r>
              <a:rPr lang="fr-FR" sz="500" dirty="0">
                <a:solidFill>
                  <a:srgbClr val="5A5A5A"/>
                </a:solidFill>
                <a:latin typeface="Calibri" pitchFamily="34" charset="0"/>
                <a:ea typeface="Calibri" pitchFamily="34" charset="-122"/>
                <a:cs typeface="Calibri" pitchFamily="34" charset="-120"/>
              </a:rPr>
              <a:t> of </a:t>
            </a:r>
            <a:r>
              <a:rPr lang="fr-FR" sz="500" dirty="0" err="1">
                <a:solidFill>
                  <a:srgbClr val="5A5A5A"/>
                </a:solidFill>
                <a:latin typeface="Calibri" pitchFamily="34" charset="0"/>
                <a:ea typeface="Calibri" pitchFamily="34" charset="-122"/>
                <a:cs typeface="Calibri" pitchFamily="34" charset="-120"/>
              </a:rPr>
              <a:t>research</a:t>
            </a:r>
            <a:r>
              <a:rPr lang="fr-FR" sz="500" dirty="0">
                <a:solidFill>
                  <a:srgbClr val="5A5A5A"/>
                </a:solidFill>
                <a:latin typeface="Calibri" pitchFamily="34" charset="0"/>
                <a:ea typeface="Calibri" pitchFamily="34" charset="-122"/>
                <a:cs typeface="Calibri" pitchFamily="34" charset="-120"/>
              </a:rPr>
              <a:t>   on </a:t>
            </a:r>
            <a:r>
              <a:rPr lang="fr-FR" sz="500" dirty="0" err="1">
                <a:solidFill>
                  <a:srgbClr val="5A5A5A"/>
                </a:solidFill>
                <a:latin typeface="Calibri" pitchFamily="34" charset="0"/>
                <a:ea typeface="Calibri" pitchFamily="34" charset="-122"/>
                <a:cs typeface="Calibri" pitchFamily="34" charset="-120"/>
              </a:rPr>
              <a:t>artificial</a:t>
            </a:r>
            <a:r>
              <a:rPr lang="fr-FR" sz="500" dirty="0">
                <a:solidFill>
                  <a:srgbClr val="5A5A5A"/>
                </a:solidFill>
                <a:latin typeface="Calibri" pitchFamily="34" charset="0"/>
                <a:ea typeface="Calibri" pitchFamily="34" charset="-122"/>
                <a:cs typeface="Calibri" pitchFamily="34" charset="-120"/>
              </a:rPr>
              <a:t> intelligence applications in </a:t>
            </a:r>
            <a:r>
              <a:rPr lang="fr-FR" sz="500" dirty="0" err="1">
                <a:solidFill>
                  <a:srgbClr val="5A5A5A"/>
                </a:solidFill>
                <a:latin typeface="Calibri" pitchFamily="34" charset="0"/>
                <a:ea typeface="Calibri" pitchFamily="34" charset="-122"/>
                <a:cs typeface="Calibri" pitchFamily="34" charset="-120"/>
              </a:rPr>
              <a:t>higher</a:t>
            </a:r>
            <a:r>
              <a:rPr lang="fr-FR" sz="500" dirty="0">
                <a:solidFill>
                  <a:srgbClr val="5A5A5A"/>
                </a:solidFill>
                <a:latin typeface="Calibri" pitchFamily="34" charset="0"/>
                <a:ea typeface="Calibri" pitchFamily="34" charset="-122"/>
                <a:cs typeface="Calibri" pitchFamily="34" charset="-120"/>
              </a:rPr>
              <a:t> </a:t>
            </a:r>
            <a:r>
              <a:rPr lang="fr-FR" sz="500" dirty="0" err="1">
                <a:solidFill>
                  <a:srgbClr val="5A5A5A"/>
                </a:solidFill>
                <a:latin typeface="Calibri" pitchFamily="34" charset="0"/>
                <a:ea typeface="Calibri" pitchFamily="34" charset="-122"/>
                <a:cs typeface="Calibri" pitchFamily="34" charset="-120"/>
              </a:rPr>
              <a:t>education</a:t>
            </a:r>
            <a:r>
              <a:rPr lang="fr-FR" sz="555" dirty="0">
                <a:solidFill>
                  <a:srgbClr val="5A5A5A"/>
                </a:solidFill>
                <a:latin typeface="Calibri" pitchFamily="34" charset="0"/>
                <a:ea typeface="Calibri" pitchFamily="34" charset="-122"/>
                <a:cs typeface="Calibri" pitchFamily="34" charset="-120"/>
              </a:rPr>
              <a:t>.</a:t>
            </a:r>
            <a:endParaRPr lang="en-US" sz="555" dirty="0">
              <a:solidFill>
                <a:srgbClr val="5A5A5A"/>
              </a:solidFill>
              <a:latin typeface="Calibri" pitchFamily="34" charset="0"/>
              <a:ea typeface="Calibri" pitchFamily="34" charset="-122"/>
              <a:cs typeface="Calibri" pitchFamily="34" charset="-120"/>
            </a:endParaRPr>
          </a:p>
          <a:p>
            <a:pPr>
              <a:spcAft>
                <a:spcPts val="159"/>
              </a:spcAft>
              <a:buSzPct val="100000"/>
            </a:pPr>
            <a:endParaRPr lang="fr-FR" sz="555" dirty="0">
              <a:solidFill>
                <a:srgbClr val="5A5A5A"/>
              </a:solidFill>
              <a:latin typeface="Calibri" pitchFamily="34" charset="0"/>
              <a:ea typeface="Calibri" pitchFamily="34" charset="-122"/>
              <a:cs typeface="Calibri" pitchFamily="34" charset="-120"/>
            </a:endParaRPr>
          </a:p>
          <a:p>
            <a:pPr>
              <a:spcAft>
                <a:spcPts val="159"/>
              </a:spcAft>
              <a:buSzPct val="100000"/>
            </a:pPr>
            <a:r>
              <a:rPr lang="fr-FR" sz="555" dirty="0">
                <a:solidFill>
                  <a:srgbClr val="5A5A5A"/>
                </a:solidFill>
                <a:latin typeface="Calibri" pitchFamily="34" charset="0"/>
                <a:ea typeface="Calibri" pitchFamily="34" charset="-122"/>
                <a:cs typeface="Calibri" pitchFamily="34" charset="-120"/>
              </a:rPr>
              <a:t>               </a:t>
            </a:r>
            <a:endParaRPr lang="en-US" sz="555" dirty="0">
              <a:solidFill>
                <a:srgbClr val="5A5A5A"/>
              </a:solidFill>
              <a:latin typeface="Calibri" pitchFamily="34" charset="0"/>
              <a:ea typeface="Calibri" pitchFamily="34" charset="-122"/>
              <a:cs typeface="Calibri" pitchFamily="34" charset="-120"/>
            </a:endParaRPr>
          </a:p>
        </p:txBody>
      </p:sp>
      <p:sp>
        <p:nvSpPr>
          <p:cNvPr id="87" name="Shape 84">
            <a:extLst>
              <a:ext uri="{FF2B5EF4-FFF2-40B4-BE49-F238E27FC236}">
                <a16:creationId xmlns:a16="http://schemas.microsoft.com/office/drawing/2014/main" id="{ED13A47E-E28D-923E-0AB5-5C4A75711EB8}"/>
              </a:ext>
            </a:extLst>
          </p:cNvPr>
          <p:cNvSpPr/>
          <p:nvPr/>
        </p:nvSpPr>
        <p:spPr>
          <a:xfrm>
            <a:off x="3479719" y="10602607"/>
            <a:ext cx="3247739" cy="1123827"/>
          </a:xfrm>
          <a:prstGeom prst="rect">
            <a:avLst/>
          </a:prstGeom>
          <a:solidFill>
            <a:schemeClr val="bg1"/>
          </a:solidFill>
          <a:ln w="12700">
            <a:solidFill>
              <a:schemeClr val="bg1"/>
            </a:solidFill>
            <a:prstDash val="solid"/>
          </a:ln>
          <a:effectLst>
            <a:outerShdw blurRad="63500" dist="12700" dir="8100000" algn="bl" rotWithShape="0">
              <a:srgbClr val="000000">
                <a:alpha val="6000"/>
              </a:srgbClr>
            </a:outerShdw>
          </a:effectLst>
        </p:spPr>
        <p:txBody>
          <a:bodyPr/>
          <a:lstStyle/>
          <a:p>
            <a:endParaRPr lang="fr-FR" sz="1427"/>
          </a:p>
        </p:txBody>
      </p:sp>
      <p:sp>
        <p:nvSpPr>
          <p:cNvPr id="88" name="Shape 85">
            <a:extLst>
              <a:ext uri="{FF2B5EF4-FFF2-40B4-BE49-F238E27FC236}">
                <a16:creationId xmlns:a16="http://schemas.microsoft.com/office/drawing/2014/main" id="{F0BB909E-9B7C-7224-05AC-C357E439360B}"/>
              </a:ext>
            </a:extLst>
          </p:cNvPr>
          <p:cNvSpPr/>
          <p:nvPr/>
        </p:nvSpPr>
        <p:spPr>
          <a:xfrm>
            <a:off x="3479719" y="10602607"/>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89" name="Shape 86">
            <a:extLst>
              <a:ext uri="{FF2B5EF4-FFF2-40B4-BE49-F238E27FC236}">
                <a16:creationId xmlns:a16="http://schemas.microsoft.com/office/drawing/2014/main" id="{AFD218D3-E3ED-BFA2-B35B-9D2CF6CCABD1}"/>
              </a:ext>
            </a:extLst>
          </p:cNvPr>
          <p:cNvSpPr/>
          <p:nvPr/>
        </p:nvSpPr>
        <p:spPr>
          <a:xfrm>
            <a:off x="3559462" y="10667852"/>
            <a:ext cx="195734" cy="195734"/>
          </a:xfrm>
          <a:prstGeom prst="ellipse">
            <a:avLst/>
          </a:prstGeom>
          <a:solidFill>
            <a:schemeClr val="bg1"/>
          </a:solidFill>
          <a:ln w="12700">
            <a:solidFill>
              <a:schemeClr val="bg1"/>
            </a:solidFill>
            <a:prstDash val="solid"/>
          </a:ln>
        </p:spPr>
        <p:txBody>
          <a:bodyPr/>
          <a:lstStyle/>
          <a:p>
            <a:endParaRPr lang="fr-FR" sz="1427"/>
          </a:p>
        </p:txBody>
      </p:sp>
      <p:sp>
        <p:nvSpPr>
          <p:cNvPr id="90" name="Text 87">
            <a:extLst>
              <a:ext uri="{FF2B5EF4-FFF2-40B4-BE49-F238E27FC236}">
                <a16:creationId xmlns:a16="http://schemas.microsoft.com/office/drawing/2014/main" id="{D7093FF2-46EF-1504-2B42-FE018A7A8207}"/>
              </a:ext>
            </a:extLst>
          </p:cNvPr>
          <p:cNvSpPr/>
          <p:nvPr/>
        </p:nvSpPr>
        <p:spPr>
          <a:xfrm>
            <a:off x="3559462" y="10667852"/>
            <a:ext cx="195734" cy="195734"/>
          </a:xfrm>
          <a:prstGeom prst="rect">
            <a:avLst/>
          </a:prstGeom>
          <a:solidFill>
            <a:srgbClr val="46B6AE"/>
          </a:solidFill>
          <a:ln>
            <a:solidFill>
              <a:srgbClr val="46B6AE"/>
            </a:solidFill>
          </a:ln>
        </p:spPr>
        <p:txBody>
          <a:bodyPr wrap="square" lIns="0" tIns="0" rIns="0" bIns="0" rtlCol="0" anchor="ctr"/>
          <a:lstStyle/>
          <a:p>
            <a:pPr algn="ctr"/>
            <a:r>
              <a:rPr lang="en-US" sz="1000" b="1" dirty="0">
                <a:solidFill>
                  <a:schemeClr val="bg1"/>
                </a:solidFill>
                <a:latin typeface="Calibri" pitchFamily="34" charset="0"/>
                <a:ea typeface="Calibri" pitchFamily="34" charset="-122"/>
                <a:cs typeface="Calibri" pitchFamily="34" charset="-120"/>
              </a:rPr>
              <a:t>10</a:t>
            </a:r>
            <a:endParaRPr lang="en-US" sz="1000" dirty="0">
              <a:solidFill>
                <a:schemeClr val="bg1"/>
              </a:solidFill>
            </a:endParaRPr>
          </a:p>
        </p:txBody>
      </p:sp>
      <p:sp>
        <p:nvSpPr>
          <p:cNvPr id="91" name="Text 88">
            <a:extLst>
              <a:ext uri="{FF2B5EF4-FFF2-40B4-BE49-F238E27FC236}">
                <a16:creationId xmlns:a16="http://schemas.microsoft.com/office/drawing/2014/main" id="{01934C22-D5C8-C571-962D-34A94845A71F}"/>
              </a:ext>
            </a:extLst>
          </p:cNvPr>
          <p:cNvSpPr/>
          <p:nvPr/>
        </p:nvSpPr>
        <p:spPr>
          <a:xfrm>
            <a:off x="3798693" y="10667852"/>
            <a:ext cx="2841772" cy="202984"/>
          </a:xfrm>
          <a:prstGeom prst="rect">
            <a:avLst/>
          </a:prstGeom>
          <a:noFill/>
          <a:ln/>
        </p:spPr>
        <p:txBody>
          <a:bodyPr wrap="square" lIns="0" tIns="0" rIns="0" bIns="0" rtlCol="0" anchor="ctr"/>
          <a:lstStyle/>
          <a:p>
            <a:r>
              <a:rPr lang="en-US" sz="1200" b="1" dirty="0">
                <a:solidFill>
                  <a:srgbClr val="AAAAAA"/>
                </a:solidFill>
                <a:latin typeface="Calibri" pitchFamily="34" charset="0"/>
                <a:ea typeface="Calibri" pitchFamily="34" charset="-122"/>
                <a:cs typeface="Calibri" pitchFamily="34" charset="-120"/>
              </a:rPr>
              <a:t>Scan for More</a:t>
            </a:r>
            <a:endParaRPr lang="en-US" sz="1200" dirty="0"/>
          </a:p>
        </p:txBody>
      </p:sp>
      <p:sp>
        <p:nvSpPr>
          <p:cNvPr id="92" name="Shape 89">
            <a:extLst>
              <a:ext uri="{FF2B5EF4-FFF2-40B4-BE49-F238E27FC236}">
                <a16:creationId xmlns:a16="http://schemas.microsoft.com/office/drawing/2014/main" id="{49DE6A7D-4131-8F4E-B0A3-B9918768F0B3}"/>
              </a:ext>
            </a:extLst>
          </p:cNvPr>
          <p:cNvSpPr/>
          <p:nvPr/>
        </p:nvSpPr>
        <p:spPr>
          <a:xfrm>
            <a:off x="3559462" y="10878085"/>
            <a:ext cx="3088252" cy="0"/>
          </a:xfrm>
          <a:prstGeom prst="line">
            <a:avLst/>
          </a:prstGeom>
          <a:noFill/>
          <a:ln w="6350">
            <a:solidFill>
              <a:srgbClr val="444444"/>
            </a:solidFill>
            <a:prstDash val="solid"/>
          </a:ln>
        </p:spPr>
        <p:txBody>
          <a:bodyPr/>
          <a:lstStyle/>
          <a:p>
            <a:endParaRPr lang="fr-FR" sz="1427"/>
          </a:p>
        </p:txBody>
      </p:sp>
      <p:sp>
        <p:nvSpPr>
          <p:cNvPr id="93" name="Shape 90">
            <a:extLst>
              <a:ext uri="{FF2B5EF4-FFF2-40B4-BE49-F238E27FC236}">
                <a16:creationId xmlns:a16="http://schemas.microsoft.com/office/drawing/2014/main" id="{DA86DA69-4C9F-E34C-283A-033A08EB0BB3}"/>
              </a:ext>
            </a:extLst>
          </p:cNvPr>
          <p:cNvSpPr/>
          <p:nvPr/>
        </p:nvSpPr>
        <p:spPr>
          <a:xfrm>
            <a:off x="4161164" y="10965078"/>
            <a:ext cx="579953" cy="579953"/>
          </a:xfrm>
          <a:prstGeom prst="rect">
            <a:avLst/>
          </a:prstGeom>
          <a:solidFill>
            <a:srgbClr val="FFFFFF"/>
          </a:solidFill>
          <a:ln w="12700">
            <a:solidFill>
              <a:srgbClr val="C8102E"/>
            </a:solidFill>
            <a:prstDash val="solid"/>
          </a:ln>
        </p:spPr>
        <p:txBody>
          <a:bodyPr/>
          <a:lstStyle/>
          <a:p>
            <a:endParaRPr lang="fr-FR" sz="1427"/>
          </a:p>
        </p:txBody>
      </p:sp>
      <p:sp>
        <p:nvSpPr>
          <p:cNvPr id="94" name="Text 91">
            <a:extLst>
              <a:ext uri="{FF2B5EF4-FFF2-40B4-BE49-F238E27FC236}">
                <a16:creationId xmlns:a16="http://schemas.microsoft.com/office/drawing/2014/main" id="{634FE325-024E-13CC-CE12-3DBD514CF982}"/>
              </a:ext>
            </a:extLst>
          </p:cNvPr>
          <p:cNvSpPr/>
          <p:nvPr/>
        </p:nvSpPr>
        <p:spPr>
          <a:xfrm>
            <a:off x="4161164" y="10965078"/>
            <a:ext cx="579953" cy="579953"/>
          </a:xfrm>
          <a:prstGeom prst="rect">
            <a:avLst/>
          </a:prstGeom>
          <a:noFill/>
          <a:ln/>
        </p:spPr>
        <p:txBody>
          <a:bodyPr wrap="square" lIns="0" tIns="0" rIns="0" bIns="0" rtlCol="0" anchor="ctr"/>
          <a:lstStyle/>
          <a:p>
            <a:pPr algn="ctr"/>
            <a:r>
              <a:rPr lang="en-US" sz="714" b="1" dirty="0">
                <a:solidFill>
                  <a:srgbClr val="8C8C8C"/>
                </a:solidFill>
                <a:latin typeface="Calibri" pitchFamily="34" charset="0"/>
                <a:ea typeface="Calibri" pitchFamily="34" charset="-122"/>
                <a:cs typeface="Calibri" pitchFamily="34" charset="-120"/>
              </a:rPr>
              <a:t>QR</a:t>
            </a:r>
            <a:endParaRPr lang="en-US" sz="714" dirty="0"/>
          </a:p>
        </p:txBody>
      </p:sp>
      <p:sp>
        <p:nvSpPr>
          <p:cNvPr id="95" name="Text 92">
            <a:extLst>
              <a:ext uri="{FF2B5EF4-FFF2-40B4-BE49-F238E27FC236}">
                <a16:creationId xmlns:a16="http://schemas.microsoft.com/office/drawing/2014/main" id="{7F29265F-A9F7-A70F-50CA-E4B1893A1502}"/>
              </a:ext>
            </a:extLst>
          </p:cNvPr>
          <p:cNvSpPr/>
          <p:nvPr/>
        </p:nvSpPr>
        <p:spPr>
          <a:xfrm>
            <a:off x="3949025" y="11580628"/>
            <a:ext cx="652448" cy="217483"/>
          </a:xfrm>
          <a:prstGeom prst="rect">
            <a:avLst/>
          </a:prstGeom>
          <a:noFill/>
          <a:ln/>
        </p:spPr>
        <p:txBody>
          <a:bodyPr wrap="square" lIns="0" tIns="0" rIns="0" bIns="0" rtlCol="0" anchor="t"/>
          <a:lstStyle/>
          <a:p>
            <a:pPr algn="ctr"/>
            <a:r>
              <a:rPr lang="en-US" sz="515" dirty="0">
                <a:solidFill>
                  <a:srgbClr val="AAAAAA"/>
                </a:solidFill>
                <a:latin typeface="Calibri" pitchFamily="34" charset="0"/>
                <a:ea typeface="Calibri" pitchFamily="34" charset="-122"/>
                <a:cs typeface="Calibri" pitchFamily="34" charset="-120"/>
              </a:rPr>
              <a:t>Extended</a:t>
            </a:r>
            <a:endParaRPr lang="en-US" sz="515" dirty="0"/>
          </a:p>
          <a:p>
            <a:pPr algn="ctr"/>
            <a:r>
              <a:rPr lang="en-US" sz="515" dirty="0">
                <a:solidFill>
                  <a:srgbClr val="AAAAAA"/>
                </a:solidFill>
                <a:latin typeface="Calibri" pitchFamily="34" charset="0"/>
                <a:ea typeface="Calibri" pitchFamily="34" charset="-122"/>
                <a:cs typeface="Calibri" pitchFamily="34" charset="-120"/>
              </a:rPr>
              <a:t>Abstract</a:t>
            </a:r>
            <a:endParaRPr lang="en-US" sz="515" dirty="0"/>
          </a:p>
        </p:txBody>
      </p:sp>
      <p:sp>
        <p:nvSpPr>
          <p:cNvPr id="96" name="Shape 93">
            <a:extLst>
              <a:ext uri="{FF2B5EF4-FFF2-40B4-BE49-F238E27FC236}">
                <a16:creationId xmlns:a16="http://schemas.microsoft.com/office/drawing/2014/main" id="{40CAAD5F-27E4-8699-904E-AD94558571A1}"/>
              </a:ext>
            </a:extLst>
          </p:cNvPr>
          <p:cNvSpPr/>
          <p:nvPr/>
        </p:nvSpPr>
        <p:spPr>
          <a:xfrm>
            <a:off x="4813612" y="10965078"/>
            <a:ext cx="579953" cy="579953"/>
          </a:xfrm>
          <a:prstGeom prst="rect">
            <a:avLst/>
          </a:prstGeom>
          <a:solidFill>
            <a:srgbClr val="FFFFFF"/>
          </a:solidFill>
          <a:ln w="12700">
            <a:solidFill>
              <a:srgbClr val="C8102E"/>
            </a:solidFill>
            <a:prstDash val="solid"/>
          </a:ln>
        </p:spPr>
        <p:txBody>
          <a:bodyPr/>
          <a:lstStyle/>
          <a:p>
            <a:endParaRPr lang="fr-FR" sz="1427"/>
          </a:p>
        </p:txBody>
      </p:sp>
      <p:sp>
        <p:nvSpPr>
          <p:cNvPr id="97" name="Text 94">
            <a:extLst>
              <a:ext uri="{FF2B5EF4-FFF2-40B4-BE49-F238E27FC236}">
                <a16:creationId xmlns:a16="http://schemas.microsoft.com/office/drawing/2014/main" id="{BE4E5798-94BB-B2D2-7522-364C6BCD5205}"/>
              </a:ext>
            </a:extLst>
          </p:cNvPr>
          <p:cNvSpPr/>
          <p:nvPr/>
        </p:nvSpPr>
        <p:spPr>
          <a:xfrm>
            <a:off x="4813612" y="10965078"/>
            <a:ext cx="579953" cy="579953"/>
          </a:xfrm>
          <a:prstGeom prst="rect">
            <a:avLst/>
          </a:prstGeom>
          <a:noFill/>
          <a:ln/>
        </p:spPr>
        <p:txBody>
          <a:bodyPr wrap="square" lIns="0" tIns="0" rIns="0" bIns="0" rtlCol="0" anchor="ctr"/>
          <a:lstStyle/>
          <a:p>
            <a:pPr algn="ctr"/>
            <a:r>
              <a:rPr lang="en-US" sz="714" b="1" dirty="0">
                <a:solidFill>
                  <a:srgbClr val="8C8C8C"/>
                </a:solidFill>
                <a:latin typeface="Calibri" pitchFamily="34" charset="0"/>
                <a:ea typeface="Calibri" pitchFamily="34" charset="-122"/>
                <a:cs typeface="Calibri" pitchFamily="34" charset="-120"/>
              </a:rPr>
              <a:t>QR</a:t>
            </a:r>
            <a:endParaRPr lang="en-US" sz="714" dirty="0"/>
          </a:p>
        </p:txBody>
      </p:sp>
      <p:sp>
        <p:nvSpPr>
          <p:cNvPr id="98" name="Text 95">
            <a:extLst>
              <a:ext uri="{FF2B5EF4-FFF2-40B4-BE49-F238E27FC236}">
                <a16:creationId xmlns:a16="http://schemas.microsoft.com/office/drawing/2014/main" id="{015938E0-BDEC-A71A-CE8B-C6CC3B0C03B3}"/>
              </a:ext>
            </a:extLst>
          </p:cNvPr>
          <p:cNvSpPr/>
          <p:nvPr/>
        </p:nvSpPr>
        <p:spPr>
          <a:xfrm>
            <a:off x="4601472" y="11580628"/>
            <a:ext cx="652448" cy="217483"/>
          </a:xfrm>
          <a:prstGeom prst="rect">
            <a:avLst/>
          </a:prstGeom>
          <a:noFill/>
          <a:ln/>
        </p:spPr>
        <p:txBody>
          <a:bodyPr wrap="square" lIns="0" tIns="0" rIns="0" bIns="0" rtlCol="0" anchor="t"/>
          <a:lstStyle/>
          <a:p>
            <a:pPr algn="ctr"/>
            <a:r>
              <a:rPr lang="en-US" sz="515" dirty="0">
                <a:solidFill>
                  <a:srgbClr val="AAAAAA"/>
                </a:solidFill>
                <a:latin typeface="Calibri" pitchFamily="34" charset="0"/>
                <a:ea typeface="Calibri" pitchFamily="34" charset="-122"/>
                <a:cs typeface="Calibri" pitchFamily="34" charset="-120"/>
              </a:rPr>
              <a:t>Slides /</a:t>
            </a:r>
            <a:endParaRPr lang="en-US" sz="515" dirty="0"/>
          </a:p>
          <a:p>
            <a:pPr algn="ctr"/>
            <a:r>
              <a:rPr lang="en-US" sz="515" dirty="0">
                <a:solidFill>
                  <a:srgbClr val="AAAAAA"/>
                </a:solidFill>
                <a:latin typeface="Calibri" pitchFamily="34" charset="0"/>
                <a:ea typeface="Calibri" pitchFamily="34" charset="-122"/>
                <a:cs typeface="Calibri" pitchFamily="34" charset="-120"/>
              </a:rPr>
              <a:t>Demo</a:t>
            </a:r>
            <a:endParaRPr lang="en-US" sz="515" dirty="0"/>
          </a:p>
        </p:txBody>
      </p:sp>
      <p:sp>
        <p:nvSpPr>
          <p:cNvPr id="99" name="Shape 96">
            <a:extLst>
              <a:ext uri="{FF2B5EF4-FFF2-40B4-BE49-F238E27FC236}">
                <a16:creationId xmlns:a16="http://schemas.microsoft.com/office/drawing/2014/main" id="{0F83CF16-B130-205D-22FA-464EE3A20F6B}"/>
              </a:ext>
            </a:extLst>
          </p:cNvPr>
          <p:cNvSpPr/>
          <p:nvPr/>
        </p:nvSpPr>
        <p:spPr>
          <a:xfrm>
            <a:off x="5466059" y="10965078"/>
            <a:ext cx="579953" cy="579953"/>
          </a:xfrm>
          <a:prstGeom prst="rect">
            <a:avLst/>
          </a:prstGeom>
          <a:solidFill>
            <a:srgbClr val="FFFFFF"/>
          </a:solidFill>
          <a:ln w="12700">
            <a:solidFill>
              <a:srgbClr val="C8102E"/>
            </a:solidFill>
            <a:prstDash val="solid"/>
          </a:ln>
        </p:spPr>
        <p:txBody>
          <a:bodyPr/>
          <a:lstStyle/>
          <a:p>
            <a:endParaRPr lang="fr-FR" sz="1427"/>
          </a:p>
        </p:txBody>
      </p:sp>
      <p:sp>
        <p:nvSpPr>
          <p:cNvPr id="100" name="Text 97">
            <a:extLst>
              <a:ext uri="{FF2B5EF4-FFF2-40B4-BE49-F238E27FC236}">
                <a16:creationId xmlns:a16="http://schemas.microsoft.com/office/drawing/2014/main" id="{EFD99F86-B220-4F28-8556-D7B1706CC8CE}"/>
              </a:ext>
            </a:extLst>
          </p:cNvPr>
          <p:cNvSpPr/>
          <p:nvPr/>
        </p:nvSpPr>
        <p:spPr>
          <a:xfrm>
            <a:off x="5466059" y="10965078"/>
            <a:ext cx="579953" cy="579953"/>
          </a:xfrm>
          <a:prstGeom prst="rect">
            <a:avLst/>
          </a:prstGeom>
          <a:noFill/>
          <a:ln/>
        </p:spPr>
        <p:txBody>
          <a:bodyPr wrap="square" lIns="0" tIns="0" rIns="0" bIns="0" rtlCol="0" anchor="ctr"/>
          <a:lstStyle/>
          <a:p>
            <a:pPr algn="ctr"/>
            <a:r>
              <a:rPr lang="en-US" sz="714" b="1" dirty="0">
                <a:solidFill>
                  <a:srgbClr val="8C8C8C"/>
                </a:solidFill>
                <a:latin typeface="Calibri" pitchFamily="34" charset="0"/>
                <a:ea typeface="Calibri" pitchFamily="34" charset="-122"/>
                <a:cs typeface="Calibri" pitchFamily="34" charset="-120"/>
              </a:rPr>
              <a:t>QR</a:t>
            </a:r>
            <a:endParaRPr lang="en-US" sz="714" dirty="0"/>
          </a:p>
        </p:txBody>
      </p:sp>
      <p:sp>
        <p:nvSpPr>
          <p:cNvPr id="101" name="Text 98">
            <a:extLst>
              <a:ext uri="{FF2B5EF4-FFF2-40B4-BE49-F238E27FC236}">
                <a16:creationId xmlns:a16="http://schemas.microsoft.com/office/drawing/2014/main" id="{3FBB3B5C-CA89-835C-E0EA-65D5426D6EAA}"/>
              </a:ext>
            </a:extLst>
          </p:cNvPr>
          <p:cNvSpPr/>
          <p:nvPr/>
        </p:nvSpPr>
        <p:spPr>
          <a:xfrm>
            <a:off x="5253920" y="11580628"/>
            <a:ext cx="652448" cy="217483"/>
          </a:xfrm>
          <a:prstGeom prst="rect">
            <a:avLst/>
          </a:prstGeom>
          <a:noFill/>
          <a:ln/>
        </p:spPr>
        <p:txBody>
          <a:bodyPr wrap="square" lIns="0" tIns="0" rIns="0" bIns="0" rtlCol="0" anchor="t"/>
          <a:lstStyle/>
          <a:p>
            <a:pPr algn="ctr"/>
            <a:r>
              <a:rPr lang="en-US" sz="515" dirty="0">
                <a:solidFill>
                  <a:srgbClr val="AAAAAA"/>
                </a:solidFill>
                <a:latin typeface="Calibri" pitchFamily="34" charset="0"/>
                <a:ea typeface="Calibri" pitchFamily="34" charset="-122"/>
                <a:cs typeface="Calibri" pitchFamily="34" charset="-120"/>
              </a:rPr>
              <a:t>Full Paper</a:t>
            </a:r>
            <a:endParaRPr lang="en-US" sz="515" dirty="0"/>
          </a:p>
          <a:p>
            <a:pPr algn="ctr"/>
            <a:r>
              <a:rPr lang="en-US" sz="515" dirty="0">
                <a:solidFill>
                  <a:srgbClr val="AAAAAA"/>
                </a:solidFill>
                <a:latin typeface="Calibri" pitchFamily="34" charset="0"/>
                <a:ea typeface="Calibri" pitchFamily="34" charset="-122"/>
                <a:cs typeface="Calibri" pitchFamily="34" charset="-120"/>
              </a:rPr>
              <a:t>or Dataset</a:t>
            </a:r>
            <a:endParaRPr lang="en-US" sz="515" dirty="0"/>
          </a:p>
        </p:txBody>
      </p:sp>
      <p:grpSp>
        <p:nvGrpSpPr>
          <p:cNvPr id="8" name="Group 7">
            <a:extLst>
              <a:ext uri="{FF2B5EF4-FFF2-40B4-BE49-F238E27FC236}">
                <a16:creationId xmlns:a16="http://schemas.microsoft.com/office/drawing/2014/main" id="{FDC35D52-1CCA-7923-5B97-E0614916BB0D}"/>
              </a:ext>
            </a:extLst>
          </p:cNvPr>
          <p:cNvGrpSpPr/>
          <p:nvPr/>
        </p:nvGrpSpPr>
        <p:grpSpPr>
          <a:xfrm>
            <a:off x="-49445" y="2725171"/>
            <a:ext cx="715085" cy="196513"/>
            <a:chOff x="-1473875" y="2739642"/>
            <a:chExt cx="715085" cy="196513"/>
          </a:xfrm>
        </p:grpSpPr>
        <p:sp>
          <p:nvSpPr>
            <p:cNvPr id="6" name="Shape 12">
              <a:extLst>
                <a:ext uri="{FF2B5EF4-FFF2-40B4-BE49-F238E27FC236}">
                  <a16:creationId xmlns:a16="http://schemas.microsoft.com/office/drawing/2014/main" id="{55CCCA21-CCB1-BFAD-2485-3967200BA1D6}"/>
                </a:ext>
              </a:extLst>
            </p:cNvPr>
            <p:cNvSpPr/>
            <p:nvPr/>
          </p:nvSpPr>
          <p:spPr>
            <a:xfrm>
              <a:off x="-1208566" y="2740421"/>
              <a:ext cx="195734" cy="195734"/>
            </a:xfrm>
            <a:prstGeom prst="ellipse">
              <a:avLst/>
            </a:prstGeom>
            <a:solidFill>
              <a:srgbClr val="46B6AE"/>
            </a:solidFill>
            <a:ln w="12700">
              <a:solidFill>
                <a:srgbClr val="46B6AE"/>
              </a:solidFill>
              <a:prstDash val="solid"/>
            </a:ln>
          </p:spPr>
          <p:txBody>
            <a:bodyPr/>
            <a:lstStyle/>
            <a:p>
              <a:endParaRPr lang="fr-FR" sz="1427"/>
            </a:p>
          </p:txBody>
        </p:sp>
        <p:sp>
          <p:nvSpPr>
            <p:cNvPr id="7" name="Text 13">
              <a:extLst>
                <a:ext uri="{FF2B5EF4-FFF2-40B4-BE49-F238E27FC236}">
                  <a16:creationId xmlns:a16="http://schemas.microsoft.com/office/drawing/2014/main" id="{D704436B-9C43-011D-2818-3E9652A40964}"/>
                </a:ext>
              </a:extLst>
            </p:cNvPr>
            <p:cNvSpPr/>
            <p:nvPr/>
          </p:nvSpPr>
          <p:spPr>
            <a:xfrm>
              <a:off x="-1473875" y="2739642"/>
              <a:ext cx="715085" cy="188482"/>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2</a:t>
              </a:r>
              <a:endParaRPr lang="en-US" sz="1000" dirty="0"/>
            </a:p>
          </p:txBody>
        </p:sp>
      </p:grpSp>
      <p:grpSp>
        <p:nvGrpSpPr>
          <p:cNvPr id="9" name="Group 8">
            <a:extLst>
              <a:ext uri="{FF2B5EF4-FFF2-40B4-BE49-F238E27FC236}">
                <a16:creationId xmlns:a16="http://schemas.microsoft.com/office/drawing/2014/main" id="{A6298043-5D06-7A5B-FF08-E1178DCE88B9}"/>
              </a:ext>
            </a:extLst>
          </p:cNvPr>
          <p:cNvGrpSpPr/>
          <p:nvPr/>
        </p:nvGrpSpPr>
        <p:grpSpPr>
          <a:xfrm>
            <a:off x="3285674" y="2717854"/>
            <a:ext cx="715085" cy="195734"/>
            <a:chOff x="-1473463" y="2740421"/>
            <a:chExt cx="715085" cy="195734"/>
          </a:xfrm>
        </p:grpSpPr>
        <p:sp>
          <p:nvSpPr>
            <p:cNvPr id="22" name="Shape 12">
              <a:extLst>
                <a:ext uri="{FF2B5EF4-FFF2-40B4-BE49-F238E27FC236}">
                  <a16:creationId xmlns:a16="http://schemas.microsoft.com/office/drawing/2014/main" id="{D619F015-6200-9B37-DC76-C5DC6419A21F}"/>
                </a:ext>
              </a:extLst>
            </p:cNvPr>
            <p:cNvSpPr/>
            <p:nvPr/>
          </p:nvSpPr>
          <p:spPr>
            <a:xfrm>
              <a:off x="-1208566" y="2740421"/>
              <a:ext cx="195734" cy="195734"/>
            </a:xfrm>
            <a:prstGeom prst="ellipse">
              <a:avLst/>
            </a:prstGeom>
            <a:solidFill>
              <a:srgbClr val="46B6AE"/>
            </a:solidFill>
            <a:ln w="12700">
              <a:solidFill>
                <a:srgbClr val="46B6AE"/>
              </a:solidFill>
              <a:prstDash val="solid"/>
            </a:ln>
          </p:spPr>
          <p:txBody>
            <a:bodyPr/>
            <a:lstStyle/>
            <a:p>
              <a:endParaRPr lang="fr-FR" sz="1427"/>
            </a:p>
          </p:txBody>
        </p:sp>
        <p:sp>
          <p:nvSpPr>
            <p:cNvPr id="29" name="Text 13">
              <a:extLst>
                <a:ext uri="{FF2B5EF4-FFF2-40B4-BE49-F238E27FC236}">
                  <a16:creationId xmlns:a16="http://schemas.microsoft.com/office/drawing/2014/main" id="{4CDD6289-25A3-D6D2-BF7B-CFBACA0AC928}"/>
                </a:ext>
              </a:extLst>
            </p:cNvPr>
            <p:cNvSpPr/>
            <p:nvPr/>
          </p:nvSpPr>
          <p:spPr>
            <a:xfrm>
              <a:off x="-1473463" y="2746312"/>
              <a:ext cx="715085" cy="188482"/>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3</a:t>
              </a:r>
              <a:endParaRPr lang="en-US" sz="1000" dirty="0"/>
            </a:p>
          </p:txBody>
        </p:sp>
      </p:grpSp>
      <p:grpSp>
        <p:nvGrpSpPr>
          <p:cNvPr id="52" name="Group 51">
            <a:extLst>
              <a:ext uri="{FF2B5EF4-FFF2-40B4-BE49-F238E27FC236}">
                <a16:creationId xmlns:a16="http://schemas.microsoft.com/office/drawing/2014/main" id="{7822E718-BEB9-9918-F69A-FC7D3748AEB9}"/>
              </a:ext>
            </a:extLst>
          </p:cNvPr>
          <p:cNvGrpSpPr/>
          <p:nvPr/>
        </p:nvGrpSpPr>
        <p:grpSpPr>
          <a:xfrm>
            <a:off x="-49445" y="6231206"/>
            <a:ext cx="715085" cy="207246"/>
            <a:chOff x="-1473463" y="2740421"/>
            <a:chExt cx="715085" cy="207246"/>
          </a:xfrm>
        </p:grpSpPr>
        <p:sp>
          <p:nvSpPr>
            <p:cNvPr id="107" name="Shape 12">
              <a:extLst>
                <a:ext uri="{FF2B5EF4-FFF2-40B4-BE49-F238E27FC236}">
                  <a16:creationId xmlns:a16="http://schemas.microsoft.com/office/drawing/2014/main" id="{9F084AC8-43FC-5DCE-2992-7E773A154B09}"/>
                </a:ext>
              </a:extLst>
            </p:cNvPr>
            <p:cNvSpPr/>
            <p:nvPr/>
          </p:nvSpPr>
          <p:spPr>
            <a:xfrm>
              <a:off x="-1208566" y="2740421"/>
              <a:ext cx="195734" cy="195734"/>
            </a:xfrm>
            <a:prstGeom prst="ellipse">
              <a:avLst/>
            </a:prstGeom>
            <a:solidFill>
              <a:srgbClr val="46B6AE"/>
            </a:solidFill>
            <a:ln w="12700">
              <a:solidFill>
                <a:srgbClr val="46B6AE"/>
              </a:solidFill>
              <a:prstDash val="solid"/>
            </a:ln>
          </p:spPr>
          <p:txBody>
            <a:bodyPr/>
            <a:lstStyle/>
            <a:p>
              <a:endParaRPr lang="fr-FR" sz="1427"/>
            </a:p>
          </p:txBody>
        </p:sp>
        <p:sp>
          <p:nvSpPr>
            <p:cNvPr id="108" name="Text 13">
              <a:extLst>
                <a:ext uri="{FF2B5EF4-FFF2-40B4-BE49-F238E27FC236}">
                  <a16:creationId xmlns:a16="http://schemas.microsoft.com/office/drawing/2014/main" id="{401E4D97-0CB0-B96E-B312-738A9EB9686C}"/>
                </a:ext>
              </a:extLst>
            </p:cNvPr>
            <p:cNvSpPr/>
            <p:nvPr/>
          </p:nvSpPr>
          <p:spPr>
            <a:xfrm>
              <a:off x="-1473463" y="2759185"/>
              <a:ext cx="715085" cy="188482"/>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5</a:t>
              </a:r>
              <a:endParaRPr lang="en-US" sz="1000" dirty="0"/>
            </a:p>
          </p:txBody>
        </p:sp>
      </p:grpSp>
      <p:sp>
        <p:nvSpPr>
          <p:cNvPr id="5" name="TextBox 4">
            <a:extLst>
              <a:ext uri="{FF2B5EF4-FFF2-40B4-BE49-F238E27FC236}">
                <a16:creationId xmlns:a16="http://schemas.microsoft.com/office/drawing/2014/main" id="{8B8029D1-3DBF-DF33-C5DC-3A72C37B5A25}"/>
              </a:ext>
            </a:extLst>
          </p:cNvPr>
          <p:cNvSpPr txBox="1"/>
          <p:nvPr/>
        </p:nvSpPr>
        <p:spPr>
          <a:xfrm>
            <a:off x="5727247" y="474772"/>
            <a:ext cx="3455504" cy="307777"/>
          </a:xfrm>
          <a:prstGeom prst="rect">
            <a:avLst/>
          </a:prstGeom>
          <a:noFill/>
        </p:spPr>
        <p:txBody>
          <a:bodyPr wrap="square">
            <a:spAutoFit/>
          </a:bodyPr>
          <a:lstStyle/>
          <a:p>
            <a:r>
              <a:rPr lang="en-US" sz="1400" b="1" dirty="0">
                <a:solidFill>
                  <a:srgbClr val="2C2C2C"/>
                </a:solidFill>
                <a:latin typeface="Calibri" pitchFamily="34" charset="0"/>
                <a:cs typeface="Calibri" pitchFamily="34" charset="-120"/>
              </a:rPr>
              <a:t>POSTER</a:t>
            </a:r>
            <a:r>
              <a:rPr lang="en-US" sz="1400" b="1" i="0" dirty="0">
                <a:solidFill>
                  <a:srgbClr val="242424"/>
                </a:solidFill>
                <a:effectLst/>
                <a:latin typeface="Calibri" panose="020F0502020204030204" pitchFamily="34" charset="0"/>
              </a:rPr>
              <a:t> </a:t>
            </a:r>
            <a:r>
              <a:rPr lang="en-US" sz="1400" b="1" dirty="0">
                <a:solidFill>
                  <a:srgbClr val="2C2C2C"/>
                </a:solidFill>
                <a:latin typeface="Calibri" pitchFamily="34" charset="0"/>
                <a:cs typeface="Calibri" pitchFamily="34" charset="-120"/>
              </a:rPr>
              <a:t>ID27</a:t>
            </a:r>
            <a:endParaRPr lang="fr-FR" sz="1400" b="1" dirty="0">
              <a:solidFill>
                <a:srgbClr val="2C2C2C"/>
              </a:solidFill>
              <a:latin typeface="Calibri" pitchFamily="34" charset="0"/>
              <a:cs typeface="Calibri" pitchFamily="34" charset="-120"/>
            </a:endParaRPr>
          </a:p>
        </p:txBody>
      </p:sp>
      <p:grpSp>
        <p:nvGrpSpPr>
          <p:cNvPr id="4" name="Group 3">
            <a:extLst>
              <a:ext uri="{FF2B5EF4-FFF2-40B4-BE49-F238E27FC236}">
                <a16:creationId xmlns:a16="http://schemas.microsoft.com/office/drawing/2014/main" id="{D77136FD-3A95-4507-974A-B904AACA9B26}"/>
              </a:ext>
            </a:extLst>
          </p:cNvPr>
          <p:cNvGrpSpPr/>
          <p:nvPr/>
        </p:nvGrpSpPr>
        <p:grpSpPr>
          <a:xfrm>
            <a:off x="932" y="11809868"/>
            <a:ext cx="6871047" cy="362471"/>
            <a:chOff x="-9470" y="-3874"/>
            <a:chExt cx="6871047" cy="362471"/>
          </a:xfrm>
        </p:grpSpPr>
        <p:sp>
          <p:nvSpPr>
            <p:cNvPr id="112" name="Shape 99">
              <a:extLst>
                <a:ext uri="{FF2B5EF4-FFF2-40B4-BE49-F238E27FC236}">
                  <a16:creationId xmlns:a16="http://schemas.microsoft.com/office/drawing/2014/main" id="{7C22BE2C-BCB3-FB3B-3B3A-D09E59A15290}"/>
                </a:ext>
              </a:extLst>
            </p:cNvPr>
            <p:cNvSpPr/>
            <p:nvPr/>
          </p:nvSpPr>
          <p:spPr>
            <a:xfrm>
              <a:off x="3627" y="-3874"/>
              <a:ext cx="6857950" cy="362471"/>
            </a:xfrm>
            <a:prstGeom prst="rect">
              <a:avLst/>
            </a:prstGeom>
            <a:solidFill>
              <a:srgbClr val="2C2C2C"/>
            </a:solidFill>
            <a:ln w="12700">
              <a:solidFill>
                <a:srgbClr val="2C2C2C"/>
              </a:solidFill>
              <a:prstDash val="solid"/>
            </a:ln>
          </p:spPr>
          <p:txBody>
            <a:bodyPr/>
            <a:lstStyle/>
            <a:p>
              <a:endParaRPr lang="fr-FR" sz="1427"/>
            </a:p>
          </p:txBody>
        </p:sp>
        <p:sp>
          <p:nvSpPr>
            <p:cNvPr id="113" name="Shape 100">
              <a:extLst>
                <a:ext uri="{FF2B5EF4-FFF2-40B4-BE49-F238E27FC236}">
                  <a16:creationId xmlns:a16="http://schemas.microsoft.com/office/drawing/2014/main" id="{F1786591-11E4-6891-05F0-A582EC848D38}"/>
                </a:ext>
              </a:extLst>
            </p:cNvPr>
            <p:cNvSpPr/>
            <p:nvPr/>
          </p:nvSpPr>
          <p:spPr>
            <a:xfrm>
              <a:off x="-9470" y="199116"/>
              <a:ext cx="6857950" cy="28998"/>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solidFill>
                  <a:schemeClr val="tx2">
                    <a:lumMod val="75000"/>
                    <a:lumOff val="25000"/>
                  </a:schemeClr>
                </a:solidFill>
              </a:endParaRPr>
            </a:p>
          </p:txBody>
        </p:sp>
        <p:sp>
          <p:nvSpPr>
            <p:cNvPr id="114" name="Text 101">
              <a:extLst>
                <a:ext uri="{FF2B5EF4-FFF2-40B4-BE49-F238E27FC236}">
                  <a16:creationId xmlns:a16="http://schemas.microsoft.com/office/drawing/2014/main" id="{A4DF7C50-BE57-06DE-A951-8B02286090AC}"/>
                </a:ext>
              </a:extLst>
            </p:cNvPr>
            <p:cNvSpPr/>
            <p:nvPr/>
          </p:nvSpPr>
          <p:spPr>
            <a:xfrm>
              <a:off x="181412" y="26025"/>
              <a:ext cx="6430166" cy="192110"/>
            </a:xfrm>
            <a:prstGeom prst="rect">
              <a:avLst/>
            </a:prstGeom>
            <a:noFill/>
            <a:ln/>
          </p:spPr>
          <p:txBody>
            <a:bodyPr wrap="square" lIns="0" tIns="0" rIns="0" bIns="0" rtlCol="0" anchor="ctr"/>
            <a:lstStyle/>
            <a:p>
              <a:pPr algn="ctr"/>
              <a:r>
                <a:rPr lang="en-US" sz="900" dirty="0">
                  <a:solidFill>
                    <a:srgbClr val="AAAAAA"/>
                  </a:solidFill>
                  <a:latin typeface="Calibri" pitchFamily="34" charset="0"/>
                  <a:ea typeface="Calibri" pitchFamily="34" charset="-122"/>
                  <a:cs typeface="Calibri" pitchFamily="34" charset="-120"/>
                </a:rPr>
                <a:t>WEITA 2026  •  April 17–18, 2026  •  Tunis, Tunisia</a:t>
              </a:r>
              <a:endParaRPr lang="en-US" sz="900" dirty="0"/>
            </a:p>
          </p:txBody>
        </p:sp>
        <p:sp>
          <p:nvSpPr>
            <p:cNvPr id="116" name="Text 102">
              <a:extLst>
                <a:ext uri="{FF2B5EF4-FFF2-40B4-BE49-F238E27FC236}">
                  <a16:creationId xmlns:a16="http://schemas.microsoft.com/office/drawing/2014/main" id="{B28F7E7C-7997-6EA9-F781-207F0D95F1EA}"/>
                </a:ext>
              </a:extLst>
            </p:cNvPr>
            <p:cNvSpPr/>
            <p:nvPr/>
          </p:nvSpPr>
          <p:spPr>
            <a:xfrm>
              <a:off x="1731903" y="242606"/>
              <a:ext cx="3595711" cy="115991"/>
            </a:xfrm>
            <a:prstGeom prst="rect">
              <a:avLst/>
            </a:prstGeom>
            <a:noFill/>
            <a:ln/>
          </p:spPr>
          <p:txBody>
            <a:bodyPr wrap="square" lIns="0" tIns="0" rIns="0" bIns="0" rtlCol="0" anchor="ctr"/>
            <a:lstStyle/>
            <a:p>
              <a:pPr algn="ctr"/>
              <a:r>
                <a:rPr lang="en-US" sz="900" i="1" dirty="0">
                  <a:solidFill>
                    <a:srgbClr val="46B6AE"/>
                  </a:solidFill>
                  <a:latin typeface="Calibri" pitchFamily="34" charset="0"/>
                  <a:ea typeface="Calibri" pitchFamily="34" charset="-122"/>
                  <a:cs typeface="Calibri" pitchFamily="34" charset="-120"/>
                </a:rPr>
                <a:t>AI and the University of the Future: Shaping Sustainable Impact</a:t>
              </a:r>
              <a:endParaRPr lang="en-US" sz="900" dirty="0">
                <a:solidFill>
                  <a:srgbClr val="46B6AE"/>
                </a:solidFill>
              </a:endParaRPr>
            </a:p>
          </p:txBody>
        </p:sp>
      </p:grpSp>
      <p:grpSp>
        <p:nvGrpSpPr>
          <p:cNvPr id="3" name="Group 2">
            <a:extLst>
              <a:ext uri="{FF2B5EF4-FFF2-40B4-BE49-F238E27FC236}">
                <a16:creationId xmlns:a16="http://schemas.microsoft.com/office/drawing/2014/main" id="{C70A3EB6-CAF9-093C-CAAF-C8782ED8E769}"/>
              </a:ext>
            </a:extLst>
          </p:cNvPr>
          <p:cNvGrpSpPr/>
          <p:nvPr/>
        </p:nvGrpSpPr>
        <p:grpSpPr>
          <a:xfrm>
            <a:off x="46545" y="-52577"/>
            <a:ext cx="6727513" cy="631996"/>
            <a:chOff x="130487" y="11654894"/>
            <a:chExt cx="6727513" cy="631996"/>
          </a:xfrm>
        </p:grpSpPr>
        <p:pic>
          <p:nvPicPr>
            <p:cNvPr id="115" name="Image 41" descr="Une image contenant texte, symbole, capture d’écran, Police&#10;&#10;Le contenu généré par l’IA peut être incorrect.">
              <a:extLst>
                <a:ext uri="{FF2B5EF4-FFF2-40B4-BE49-F238E27FC236}">
                  <a16:creationId xmlns:a16="http://schemas.microsoft.com/office/drawing/2014/main" id="{B0A7BD63-A919-F04B-AAA5-3369CEFB872A}"/>
                </a:ext>
              </a:extLst>
            </p:cNvPr>
            <p:cNvPicPr>
              <a:picLocks noChangeAspect="1"/>
            </p:cNvPicPr>
            <p:nvPr/>
          </p:nvPicPr>
          <p:blipFill>
            <a:blip r:embed="rId3"/>
            <a:stretch>
              <a:fillRect/>
            </a:stretch>
          </p:blipFill>
          <p:spPr>
            <a:xfrm>
              <a:off x="130487" y="11684878"/>
              <a:ext cx="943897" cy="572029"/>
            </a:xfrm>
            <a:prstGeom prst="rect">
              <a:avLst/>
            </a:prstGeom>
          </p:spPr>
        </p:pic>
        <p:pic>
          <p:nvPicPr>
            <p:cNvPr id="2" name="Picture 1">
              <a:extLst>
                <a:ext uri="{FF2B5EF4-FFF2-40B4-BE49-F238E27FC236}">
                  <a16:creationId xmlns:a16="http://schemas.microsoft.com/office/drawing/2014/main" id="{4BF972D3-39E1-1D99-B931-C9C06AD76A18}"/>
                </a:ext>
              </a:extLst>
            </p:cNvPr>
            <p:cNvPicPr>
              <a:picLocks noChangeAspect="1"/>
            </p:cNvPicPr>
            <p:nvPr/>
          </p:nvPicPr>
          <p:blipFill>
            <a:blip r:embed="rId4"/>
            <a:stretch>
              <a:fillRect/>
            </a:stretch>
          </p:blipFill>
          <p:spPr>
            <a:xfrm>
              <a:off x="5843747" y="11725615"/>
              <a:ext cx="1014253" cy="490554"/>
            </a:xfrm>
            <a:prstGeom prst="rect">
              <a:avLst/>
            </a:prstGeom>
          </p:spPr>
        </p:pic>
        <p:pic>
          <p:nvPicPr>
            <p:cNvPr id="110" name="Picture 6" descr="Une image contenant texte, capture d’écran, Police, Graphique&#10;&#10;Le contenu généré par l’IA peut être incorrect.">
              <a:extLst>
                <a:ext uri="{FF2B5EF4-FFF2-40B4-BE49-F238E27FC236}">
                  <a16:creationId xmlns:a16="http://schemas.microsoft.com/office/drawing/2014/main" id="{95F2A331-6B3B-BFBB-EB37-61DE3F03BD4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96556" y="11709892"/>
              <a:ext cx="956740" cy="522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Une image contenant texte, Police, symbole, capture d’écran&#10;&#10;Le contenu généré par l’IA peut être incorrect.">
              <a:extLst>
                <a:ext uri="{FF2B5EF4-FFF2-40B4-BE49-F238E27FC236}">
                  <a16:creationId xmlns:a16="http://schemas.microsoft.com/office/drawing/2014/main" id="{A5E603D7-11E8-F23F-1B01-F4E8A86E78B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75468" y="11654894"/>
              <a:ext cx="1123548" cy="631996"/>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117">
              <a:extLst>
                <a:ext uri="{FF2B5EF4-FFF2-40B4-BE49-F238E27FC236}">
                  <a16:creationId xmlns:a16="http://schemas.microsoft.com/office/drawing/2014/main" id="{9A47B8E5-901A-EFAB-FE2B-E0C4B0E7C0C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421188" y="11776870"/>
              <a:ext cx="1000388" cy="388044"/>
            </a:xfrm>
            <a:prstGeom prst="rect">
              <a:avLst/>
            </a:prstGeom>
          </p:spPr>
        </p:pic>
      </p:grpSp>
      <p:pic>
        <p:nvPicPr>
          <p:cNvPr id="30" name="Image 29">
            <a:extLst>
              <a:ext uri="{FF2B5EF4-FFF2-40B4-BE49-F238E27FC236}">
                <a16:creationId xmlns:a16="http://schemas.microsoft.com/office/drawing/2014/main" id="{FE9105DD-4EDC-3F89-BB9A-D9DFC88346C6}"/>
              </a:ext>
            </a:extLst>
          </p:cNvPr>
          <p:cNvPicPr>
            <a:picLocks noChangeAspect="1"/>
          </p:cNvPicPr>
          <p:nvPr/>
        </p:nvPicPr>
        <p:blipFill>
          <a:blip r:embed="rId8"/>
          <a:stretch>
            <a:fillRect/>
          </a:stretch>
        </p:blipFill>
        <p:spPr>
          <a:xfrm>
            <a:off x="896938" y="7373544"/>
            <a:ext cx="1603375" cy="1085355"/>
          </a:xfrm>
          <a:prstGeom prst="rect">
            <a:avLst/>
          </a:prstGeom>
        </p:spPr>
      </p:pic>
      <p:pic>
        <p:nvPicPr>
          <p:cNvPr id="102" name="Image 101">
            <a:extLst>
              <a:ext uri="{FF2B5EF4-FFF2-40B4-BE49-F238E27FC236}">
                <a16:creationId xmlns:a16="http://schemas.microsoft.com/office/drawing/2014/main" id="{485F7CFC-BD9A-C389-5EC3-FCB6A32C4A64}"/>
              </a:ext>
            </a:extLst>
          </p:cNvPr>
          <p:cNvPicPr>
            <a:picLocks noChangeAspect="1"/>
          </p:cNvPicPr>
          <p:nvPr/>
        </p:nvPicPr>
        <p:blipFill>
          <a:blip r:embed="rId9"/>
          <a:stretch>
            <a:fillRect/>
          </a:stretch>
        </p:blipFill>
        <p:spPr>
          <a:xfrm>
            <a:off x="4808600" y="10950019"/>
            <a:ext cx="616839" cy="624506"/>
          </a:xfrm>
          <a:prstGeom prst="rect">
            <a:avLst/>
          </a:prstGeom>
        </p:spPr>
      </p:pic>
      <p:pic>
        <p:nvPicPr>
          <p:cNvPr id="106" name="Image 105">
            <a:extLst>
              <a:ext uri="{FF2B5EF4-FFF2-40B4-BE49-F238E27FC236}">
                <a16:creationId xmlns:a16="http://schemas.microsoft.com/office/drawing/2014/main" id="{02AA5168-97FF-C88C-4FD4-B18D3EB36F9B}"/>
              </a:ext>
            </a:extLst>
          </p:cNvPr>
          <p:cNvPicPr>
            <a:picLocks noChangeAspect="1"/>
          </p:cNvPicPr>
          <p:nvPr/>
        </p:nvPicPr>
        <p:blipFill>
          <a:blip r:embed="rId10"/>
          <a:stretch>
            <a:fillRect/>
          </a:stretch>
        </p:blipFill>
        <p:spPr>
          <a:xfrm>
            <a:off x="5442698" y="10937239"/>
            <a:ext cx="643141" cy="646977"/>
          </a:xfrm>
          <a:prstGeom prst="rect">
            <a:avLst/>
          </a:prstGeom>
        </p:spPr>
      </p:pic>
      <p:pic>
        <p:nvPicPr>
          <p:cNvPr id="111" name="Image 110">
            <a:extLst>
              <a:ext uri="{FF2B5EF4-FFF2-40B4-BE49-F238E27FC236}">
                <a16:creationId xmlns:a16="http://schemas.microsoft.com/office/drawing/2014/main" id="{EAD9079A-E2C0-9380-5F09-08BD7D45FAE4}"/>
              </a:ext>
            </a:extLst>
          </p:cNvPr>
          <p:cNvPicPr>
            <a:picLocks noChangeAspect="1"/>
          </p:cNvPicPr>
          <p:nvPr/>
        </p:nvPicPr>
        <p:blipFill>
          <a:blip r:embed="rId11"/>
          <a:stretch>
            <a:fillRect/>
          </a:stretch>
        </p:blipFill>
        <p:spPr>
          <a:xfrm>
            <a:off x="4125298" y="10935053"/>
            <a:ext cx="644821" cy="642257"/>
          </a:xfrm>
          <a:prstGeom prst="rect">
            <a:avLst/>
          </a:prstGeom>
        </p:spPr>
      </p:pic>
    </p:spTree>
    <p:extLst>
      <p:ext uri="{BB962C8B-B14F-4D97-AF65-F5344CB8AC3E}">
        <p14:creationId xmlns:p14="http://schemas.microsoft.com/office/powerpoint/2010/main" val="23106769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7126</TotalTime>
  <Words>706</Words>
  <Application>Microsoft Office PowerPoint</Application>
  <PresentationFormat>Grand écran</PresentationFormat>
  <Paragraphs>74</Paragraphs>
  <Slides>1</Slides>
  <Notes>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vt:i4>
      </vt:variant>
    </vt:vector>
  </HeadingPairs>
  <TitlesOfParts>
    <vt:vector size="6" baseType="lpstr">
      <vt:lpstr>Aptos</vt:lpstr>
      <vt:lpstr>Aptos Display</vt:lpstr>
      <vt:lpstr>Arial</vt:lpstr>
      <vt:lpstr>Calibri</vt:lpstr>
      <vt:lpstr>Thème Office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sana</dc:creator>
  <cp:lastModifiedBy>sana BENFADHEL</cp:lastModifiedBy>
  <cp:revision>13</cp:revision>
  <dcterms:created xsi:type="dcterms:W3CDTF">2025-10-10T14:48:46Z</dcterms:created>
  <dcterms:modified xsi:type="dcterms:W3CDTF">2026-04-12T20:13:54Z</dcterms:modified>
</cp:coreProperties>
</file>