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8" r:id="rId2"/>
  </p:sldIdLst>
  <p:sldSz cx="6858000" cy="12192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B6A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588"/>
    <p:restoredTop sz="94632"/>
  </p:normalViewPr>
  <p:slideViewPr>
    <p:cSldViewPr snapToGrid="0">
      <p:cViewPr>
        <p:scale>
          <a:sx n="150" d="100"/>
          <a:sy n="150" d="100"/>
        </p:scale>
        <p:origin x="139" y="-59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D0F35-2838-124D-BFAA-F86900E7DFE2}" type="datetimeFigureOut">
              <a:rPr lang="fr-FR" smtClean="0"/>
              <a:t>08/04/2026</a:t>
            </a:fld>
            <a:endParaRPr lang="fr-FR"/>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FD4AAD-3C3B-E343-993F-57DAA6EA5845}" type="slidenum">
              <a:rPr lang="fr-FR" smtClean="0"/>
              <a:t>‹N°›</a:t>
            </a:fld>
            <a:endParaRPr lang="fr-FR"/>
          </a:p>
        </p:txBody>
      </p:sp>
    </p:spTree>
    <p:extLst>
      <p:ext uri="{BB962C8B-B14F-4D97-AF65-F5344CB8AC3E}">
        <p14:creationId xmlns:p14="http://schemas.microsoft.com/office/powerpoint/2010/main" val="3247511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2806-EEAE-B778-AA4A-EA2094476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C3B82-A199-093F-269B-56E8AA3B0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CFE26-9BD1-2BFF-B35F-18998C8350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6D710C-5DDD-689A-88FD-A0C1D570D326}"/>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158427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857250" y="1995312"/>
            <a:ext cx="5143500" cy="4244622"/>
          </a:xfrm>
        </p:spPr>
        <p:txBody>
          <a:bodyPr anchor="b"/>
          <a:lstStyle>
            <a:lvl1pPr algn="ctr">
              <a:defRPr sz="3375"/>
            </a:lvl1pPr>
          </a:lstStyle>
          <a:p>
            <a:r>
              <a:rPr lang="fr-FR"/>
              <a:t>Modifiez le style du titre</a:t>
            </a:r>
          </a:p>
        </p:txBody>
      </p:sp>
      <p:sp>
        <p:nvSpPr>
          <p:cNvPr id="3" name="Sous-titre 2"/>
          <p:cNvSpPr>
            <a:spLocks noGrp="1"/>
          </p:cNvSpPr>
          <p:nvPr>
            <p:ph type="subTitle" idx="1"/>
          </p:nvPr>
        </p:nvSpPr>
        <p:spPr>
          <a:xfrm>
            <a:off x="857250" y="6403623"/>
            <a:ext cx="5143500" cy="2943577"/>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467916" y="3039535"/>
            <a:ext cx="5915025" cy="5071532"/>
          </a:xfrm>
        </p:spPr>
        <p:txBody>
          <a:bodyPr anchor="b"/>
          <a:lstStyle>
            <a:lvl1pPr>
              <a:defRPr sz="3375"/>
            </a:lvl1pPr>
          </a:lstStyle>
          <a:p>
            <a:r>
              <a:rPr lang="fr-FR"/>
              <a:t>Modifiez le style du titre</a:t>
            </a:r>
          </a:p>
        </p:txBody>
      </p:sp>
      <p:sp>
        <p:nvSpPr>
          <p:cNvPr id="3" name="Espace réservé du texte 2"/>
          <p:cNvSpPr>
            <a:spLocks noGrp="1"/>
          </p:cNvSpPr>
          <p:nvPr>
            <p:ph type="body" idx="1"/>
          </p:nvPr>
        </p:nvSpPr>
        <p:spPr>
          <a:xfrm>
            <a:off x="467916" y="8159046"/>
            <a:ext cx="5915025" cy="2666999"/>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71488" y="3245556"/>
            <a:ext cx="2914650" cy="773571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3471863" y="3245556"/>
            <a:ext cx="2914650" cy="7735712"/>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08/04/2026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72381" y="649112"/>
            <a:ext cx="5915025" cy="2356556"/>
          </a:xfrm>
        </p:spPr>
        <p:txBody>
          <a:bodyPr/>
          <a:lstStyle/>
          <a:p>
            <a:r>
              <a:rPr lang="fr-FR"/>
              <a:t>Modifiez le style du titre</a:t>
            </a:r>
          </a:p>
        </p:txBody>
      </p:sp>
      <p:sp>
        <p:nvSpPr>
          <p:cNvPr id="3" name="Espace réservé du texte 2"/>
          <p:cNvSpPr>
            <a:spLocks noGrp="1"/>
          </p:cNvSpPr>
          <p:nvPr>
            <p:ph type="body" idx="1"/>
          </p:nvPr>
        </p:nvSpPr>
        <p:spPr>
          <a:xfrm>
            <a:off x="472381" y="2988734"/>
            <a:ext cx="2901255" cy="146473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Modifiez les styles du texte du masque</a:t>
            </a:r>
          </a:p>
        </p:txBody>
      </p:sp>
      <p:sp>
        <p:nvSpPr>
          <p:cNvPr id="4" name="Espace réservé du contenu 3"/>
          <p:cNvSpPr>
            <a:spLocks noGrp="1"/>
          </p:cNvSpPr>
          <p:nvPr>
            <p:ph sz="half" idx="2"/>
          </p:nvPr>
        </p:nvSpPr>
        <p:spPr>
          <a:xfrm>
            <a:off x="472381" y="4453467"/>
            <a:ext cx="2901255" cy="6550379"/>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3471863" y="2988734"/>
            <a:ext cx="2915543" cy="1464732"/>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Modifiez les styles du texte du masque</a:t>
            </a:r>
          </a:p>
        </p:txBody>
      </p:sp>
      <p:sp>
        <p:nvSpPr>
          <p:cNvPr id="6" name="Espace réservé du contenu 5"/>
          <p:cNvSpPr>
            <a:spLocks noGrp="1"/>
          </p:cNvSpPr>
          <p:nvPr>
            <p:ph sz="quarter" idx="4"/>
          </p:nvPr>
        </p:nvSpPr>
        <p:spPr>
          <a:xfrm>
            <a:off x="3471863" y="4453467"/>
            <a:ext cx="2915543" cy="6550379"/>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08/04/2026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08/04/2026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08/04/2026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72381" y="812800"/>
            <a:ext cx="2211883" cy="2844800"/>
          </a:xfrm>
        </p:spPr>
        <p:txBody>
          <a:bodyPr anchor="b"/>
          <a:lstStyle>
            <a:lvl1pPr>
              <a:defRPr sz="1800"/>
            </a:lvl1pPr>
          </a:lstStyle>
          <a:p>
            <a:r>
              <a:rPr lang="fr-FR"/>
              <a:t>Modifiez le style du titre</a:t>
            </a:r>
          </a:p>
        </p:txBody>
      </p:sp>
      <p:sp>
        <p:nvSpPr>
          <p:cNvPr id="3" name="Espace réservé du contenu 2"/>
          <p:cNvSpPr>
            <a:spLocks noGrp="1"/>
          </p:cNvSpPr>
          <p:nvPr>
            <p:ph idx="1"/>
          </p:nvPr>
        </p:nvSpPr>
        <p:spPr>
          <a:xfrm>
            <a:off x="2915543" y="1755423"/>
            <a:ext cx="3471863" cy="8664222"/>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72381" y="3657600"/>
            <a:ext cx="2211883" cy="6776156"/>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08/04/2026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72381" y="812800"/>
            <a:ext cx="2211883" cy="2844800"/>
          </a:xfrm>
        </p:spPr>
        <p:txBody>
          <a:bodyPr anchor="b"/>
          <a:lstStyle>
            <a:lvl1pPr>
              <a:defRPr sz="1800"/>
            </a:lvl1pPr>
          </a:lstStyle>
          <a:p>
            <a:r>
              <a:rPr lang="fr-FR"/>
              <a:t>Modifiez le style du titre</a:t>
            </a:r>
          </a:p>
        </p:txBody>
      </p:sp>
      <p:sp>
        <p:nvSpPr>
          <p:cNvPr id="3" name="Espace réservé pour une image  2"/>
          <p:cNvSpPr>
            <a:spLocks noGrp="1"/>
          </p:cNvSpPr>
          <p:nvPr>
            <p:ph type="pic" idx="1"/>
          </p:nvPr>
        </p:nvSpPr>
        <p:spPr>
          <a:xfrm>
            <a:off x="2915543" y="1755423"/>
            <a:ext cx="3471863" cy="8664222"/>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fr-FR"/>
          </a:p>
        </p:txBody>
      </p:sp>
      <p:sp>
        <p:nvSpPr>
          <p:cNvPr id="4" name="Espace réservé du texte 3"/>
          <p:cNvSpPr>
            <a:spLocks noGrp="1"/>
          </p:cNvSpPr>
          <p:nvPr>
            <p:ph type="body" sz="half" idx="2"/>
          </p:nvPr>
        </p:nvSpPr>
        <p:spPr>
          <a:xfrm>
            <a:off x="472381" y="3657600"/>
            <a:ext cx="2211883" cy="6776156"/>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08/04/2026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4907756" y="649111"/>
            <a:ext cx="1478756" cy="10332156"/>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71487" y="649111"/>
            <a:ext cx="4350544" cy="10332156"/>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83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71488" y="649112"/>
            <a:ext cx="5915025" cy="2356556"/>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71488" y="11300179"/>
            <a:ext cx="1543050" cy="649111"/>
          </a:xfrm>
          <a:prstGeom prst="rect">
            <a:avLst/>
          </a:prstGeom>
        </p:spPr>
        <p:txBody>
          <a:bodyPr vert="horz" lIns="91440" tIns="45720" rIns="91440" bIns="45720" rtlCol="0" anchor="ctr"/>
          <a:lstStyle>
            <a:lvl1pPr algn="l">
              <a:defRPr sz="675">
                <a:solidFill>
                  <a:schemeClr val="tx1">
                    <a:tint val="82000"/>
                  </a:schemeClr>
                </a:solidFill>
              </a:defRPr>
            </a:lvl1pPr>
          </a:lstStyle>
          <a:p>
            <a:fld id="{638941B0-F4D5-4460-BCAD-F7E2B41A8257}" type="datetimeFigureOut">
              <a:rPr lang="fr-FR" smtClean="0"/>
              <a:t>08/04/2026</a:t>
            </a:fld>
            <a:endParaRPr lang="fr-FR"/>
          </a:p>
        </p:txBody>
      </p:sp>
      <p:sp>
        <p:nvSpPr>
          <p:cNvPr id="5" name="Espace réservé du pied de page 4"/>
          <p:cNvSpPr>
            <a:spLocks noGrp="1"/>
          </p:cNvSpPr>
          <p:nvPr>
            <p:ph type="ftr" sz="quarter" idx="3"/>
          </p:nvPr>
        </p:nvSpPr>
        <p:spPr>
          <a:xfrm>
            <a:off x="2271713" y="11300179"/>
            <a:ext cx="2314575" cy="649111"/>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4843463" y="11300179"/>
            <a:ext cx="1543050" cy="649111"/>
          </a:xfrm>
          <a:prstGeom prst="rect">
            <a:avLst/>
          </a:prstGeom>
        </p:spPr>
        <p:txBody>
          <a:bodyPr vert="horz" lIns="91440" tIns="45720" rIns="91440" bIns="45720" rtlCol="0" anchor="ctr"/>
          <a:lstStyle>
            <a:lvl1pPr algn="r">
              <a:defRPr sz="675">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3754C-6CF0-E86C-5BB8-A41EF0943574}"/>
            </a:ext>
          </a:extLst>
        </p:cNvPr>
        <p:cNvGrpSpPr/>
        <p:nvPr/>
      </p:nvGrpSpPr>
      <p:grpSpPr>
        <a:xfrm>
          <a:off x="0" y="0"/>
          <a:ext cx="0" cy="0"/>
          <a:chOff x="0" y="0"/>
          <a:chExt cx="0" cy="0"/>
        </a:xfrm>
      </p:grpSpPr>
      <p:sp>
        <p:nvSpPr>
          <p:cNvPr id="10" name="Text 7">
            <a:extLst>
              <a:ext uri="{FF2B5EF4-FFF2-40B4-BE49-F238E27FC236}">
                <a16:creationId xmlns:a16="http://schemas.microsoft.com/office/drawing/2014/main" id="{66C7C670-EBDB-74B2-76E1-3EF36373D6A0}"/>
              </a:ext>
            </a:extLst>
          </p:cNvPr>
          <p:cNvSpPr/>
          <p:nvPr/>
        </p:nvSpPr>
        <p:spPr>
          <a:xfrm>
            <a:off x="689287" y="441451"/>
            <a:ext cx="5451564" cy="550956"/>
          </a:xfrm>
          <a:prstGeom prst="rect">
            <a:avLst/>
          </a:prstGeom>
          <a:noFill/>
          <a:ln/>
        </p:spPr>
        <p:txBody>
          <a:bodyPr wrap="square" lIns="0" tIns="0" rIns="0" bIns="0" rtlCol="0" anchor="ctr"/>
          <a:lstStyle/>
          <a:p>
            <a:pPr algn="ctr"/>
            <a:r>
              <a:rPr lang="fr-FR" sz="1400" b="1" dirty="0" err="1"/>
              <a:t>EspriHub</a:t>
            </a:r>
            <a:r>
              <a:rPr lang="fr-FR" sz="1400" b="1" dirty="0"/>
              <a:t>: A Git-</a:t>
            </a:r>
            <a:r>
              <a:rPr lang="fr-FR" sz="1400" b="1" dirty="0" err="1"/>
              <a:t>based</a:t>
            </a:r>
            <a:r>
              <a:rPr lang="fr-FR" sz="1400" b="1" dirty="0"/>
              <a:t> Academic Platform for Project and Evaluation Management</a:t>
            </a:r>
            <a:endParaRPr lang="fr-FR" sz="1400" dirty="0"/>
          </a:p>
        </p:txBody>
      </p:sp>
      <p:sp>
        <p:nvSpPr>
          <p:cNvPr id="11" name="Shape 8">
            <a:extLst>
              <a:ext uri="{FF2B5EF4-FFF2-40B4-BE49-F238E27FC236}">
                <a16:creationId xmlns:a16="http://schemas.microsoft.com/office/drawing/2014/main" id="{A9CB875E-1CBE-6FC9-C05F-38121EBE5DFD}"/>
              </a:ext>
            </a:extLst>
          </p:cNvPr>
          <p:cNvSpPr/>
          <p:nvPr/>
        </p:nvSpPr>
        <p:spPr>
          <a:xfrm>
            <a:off x="1275897" y="918064"/>
            <a:ext cx="4306154" cy="12277"/>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12" name="Text 9">
            <a:extLst>
              <a:ext uri="{FF2B5EF4-FFF2-40B4-BE49-F238E27FC236}">
                <a16:creationId xmlns:a16="http://schemas.microsoft.com/office/drawing/2014/main" id="{5CB85314-B871-2204-8E9F-E7E3F6A8351B}"/>
              </a:ext>
            </a:extLst>
          </p:cNvPr>
          <p:cNvSpPr/>
          <p:nvPr/>
        </p:nvSpPr>
        <p:spPr>
          <a:xfrm>
            <a:off x="1225152" y="948865"/>
            <a:ext cx="4306154" cy="449464"/>
          </a:xfrm>
          <a:prstGeom prst="rect">
            <a:avLst/>
          </a:prstGeom>
          <a:noFill/>
          <a:ln/>
        </p:spPr>
        <p:txBody>
          <a:bodyPr wrap="square" lIns="0" tIns="0" rIns="0" bIns="0" rtlCol="0" anchor="t"/>
          <a:lstStyle/>
          <a:p>
            <a:pPr algn="ctr"/>
            <a:r>
              <a:rPr lang="en-US" sz="1000" b="1" dirty="0">
                <a:solidFill>
                  <a:srgbClr val="2C2C2C"/>
                </a:solidFill>
                <a:latin typeface="Calibri" pitchFamily="34" charset="0"/>
                <a:ea typeface="Calibri" pitchFamily="34" charset="-122"/>
                <a:cs typeface="Calibri" pitchFamily="34" charset="-120"/>
              </a:rPr>
              <a:t>Author Name¹, Co-Author Name², Third Author¹</a:t>
            </a:r>
            <a:endParaRPr lang="en-US" sz="1000" dirty="0"/>
          </a:p>
          <a:p>
            <a:pPr algn="ctr"/>
            <a:r>
              <a:rPr lang="en-US" sz="1000" dirty="0" err="1">
                <a:solidFill>
                  <a:srgbClr val="C8102E"/>
                </a:solidFill>
                <a:latin typeface="Calibri" pitchFamily="34" charset="0"/>
                <a:ea typeface="Calibri" pitchFamily="34" charset="-122"/>
                <a:cs typeface="Calibri" pitchFamily="34" charset="-120"/>
              </a:rPr>
              <a:t>contact@esprit.tn</a:t>
            </a:r>
            <a:r>
              <a:rPr lang="en-US" sz="1000" b="1" dirty="0">
                <a:solidFill>
                  <a:srgbClr val="2C2C2C"/>
                </a:solidFill>
                <a:latin typeface="Calibri" pitchFamily="34" charset="0"/>
                <a:ea typeface="Calibri" pitchFamily="34" charset="-122"/>
                <a:cs typeface="Calibri" pitchFamily="34" charset="-120"/>
              </a:rPr>
              <a:t>, </a:t>
            </a:r>
            <a:r>
              <a:rPr lang="en-US" sz="1000" dirty="0" err="1">
                <a:solidFill>
                  <a:srgbClr val="C8102E"/>
                </a:solidFill>
                <a:latin typeface="Calibri" pitchFamily="34" charset="0"/>
                <a:ea typeface="Calibri" pitchFamily="34" charset="-122"/>
                <a:cs typeface="Calibri" pitchFamily="34" charset="-120"/>
              </a:rPr>
              <a:t>contact@esprit.tn</a:t>
            </a:r>
            <a:r>
              <a:rPr lang="en-US" sz="1000" b="1" dirty="0">
                <a:solidFill>
                  <a:srgbClr val="2C2C2C"/>
                </a:solidFill>
                <a:latin typeface="Calibri" pitchFamily="34" charset="0"/>
                <a:ea typeface="Calibri" pitchFamily="34" charset="-122"/>
                <a:cs typeface="Calibri" pitchFamily="34" charset="-120"/>
              </a:rPr>
              <a:t>, </a:t>
            </a:r>
            <a:r>
              <a:rPr lang="en-US" sz="1000" dirty="0" err="1">
                <a:solidFill>
                  <a:srgbClr val="C8102E"/>
                </a:solidFill>
                <a:latin typeface="Calibri" pitchFamily="34" charset="0"/>
                <a:ea typeface="Calibri" pitchFamily="34" charset="-122"/>
                <a:cs typeface="Calibri" pitchFamily="34" charset="-120"/>
              </a:rPr>
              <a:t>contact@esprit.tn</a:t>
            </a:r>
            <a:r>
              <a:rPr lang="en-US" sz="1000" b="1" dirty="0">
                <a:solidFill>
                  <a:srgbClr val="2C2C2C"/>
                </a:solidFill>
                <a:latin typeface="Calibri" pitchFamily="34" charset="0"/>
                <a:ea typeface="Calibri" pitchFamily="34" charset="-122"/>
                <a:cs typeface="Calibri" pitchFamily="34" charset="-120"/>
              </a:rPr>
              <a:t> </a:t>
            </a:r>
            <a:r>
              <a:rPr lang="en-US" sz="1000" dirty="0">
                <a:solidFill>
                  <a:srgbClr val="C8102E"/>
                </a:solidFill>
                <a:latin typeface="Calibri" pitchFamily="34" charset="0"/>
                <a:ea typeface="Calibri" pitchFamily="34" charset="-122"/>
                <a:cs typeface="Calibri" pitchFamily="34" charset="-120"/>
              </a:rPr>
              <a:t>   </a:t>
            </a:r>
          </a:p>
          <a:p>
            <a:pPr algn="ctr"/>
            <a:r>
              <a:rPr lang="en-US" sz="1000" dirty="0">
                <a:solidFill>
                  <a:srgbClr val="C8102E"/>
                </a:solidFill>
                <a:latin typeface="Calibri" pitchFamily="34" charset="0"/>
                <a:ea typeface="Calibri" pitchFamily="34" charset="-122"/>
                <a:cs typeface="Calibri" pitchFamily="34" charset="-120"/>
              </a:rPr>
              <a:t>ESPRIT School of Business</a:t>
            </a:r>
            <a:r>
              <a:rPr lang="en-US" sz="1000" b="1" dirty="0">
                <a:solidFill>
                  <a:srgbClr val="2C2C2C"/>
                </a:solidFill>
                <a:latin typeface="Calibri" pitchFamily="34" charset="0"/>
                <a:ea typeface="Calibri" pitchFamily="34" charset="-122"/>
                <a:cs typeface="Calibri" pitchFamily="34" charset="-120"/>
              </a:rPr>
              <a:t>¹</a:t>
            </a:r>
            <a:r>
              <a:rPr lang="en-US" sz="1000" dirty="0">
                <a:solidFill>
                  <a:srgbClr val="C8102E"/>
                </a:solidFill>
                <a:latin typeface="Calibri" pitchFamily="34" charset="0"/>
                <a:ea typeface="Calibri" pitchFamily="34" charset="-122"/>
                <a:cs typeface="Calibri" pitchFamily="34" charset="-120"/>
              </a:rPr>
              <a:t>, ESPRIT School of Engineering  </a:t>
            </a:r>
            <a:endParaRPr lang="en-US" sz="1000" dirty="0"/>
          </a:p>
        </p:txBody>
      </p:sp>
      <p:sp>
        <p:nvSpPr>
          <p:cNvPr id="13" name="Shape 10">
            <a:extLst>
              <a:ext uri="{FF2B5EF4-FFF2-40B4-BE49-F238E27FC236}">
                <a16:creationId xmlns:a16="http://schemas.microsoft.com/office/drawing/2014/main" id="{D610663D-2467-E11D-EAAD-45E97CCFED2F}"/>
              </a:ext>
            </a:extLst>
          </p:cNvPr>
          <p:cNvSpPr/>
          <p:nvPr/>
        </p:nvSpPr>
        <p:spPr>
          <a:xfrm>
            <a:off x="130514" y="1505757"/>
            <a:ext cx="6596971" cy="103975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14" name="Shape 11">
            <a:extLst>
              <a:ext uri="{FF2B5EF4-FFF2-40B4-BE49-F238E27FC236}">
                <a16:creationId xmlns:a16="http://schemas.microsoft.com/office/drawing/2014/main" id="{3A4531CD-42A8-9137-039F-40D6687C79CF}"/>
              </a:ext>
            </a:extLst>
          </p:cNvPr>
          <p:cNvSpPr/>
          <p:nvPr/>
        </p:nvSpPr>
        <p:spPr>
          <a:xfrm>
            <a:off x="130514" y="1444797"/>
            <a:ext cx="6596971"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15" name="Shape 12">
            <a:extLst>
              <a:ext uri="{FF2B5EF4-FFF2-40B4-BE49-F238E27FC236}">
                <a16:creationId xmlns:a16="http://schemas.microsoft.com/office/drawing/2014/main" id="{5AD0BEA8-1F18-0AD7-210B-EB610D68E450}"/>
              </a:ext>
            </a:extLst>
          </p:cNvPr>
          <p:cNvSpPr/>
          <p:nvPr/>
        </p:nvSpPr>
        <p:spPr>
          <a:xfrm>
            <a:off x="210258" y="1507502"/>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16" name="Text 13">
            <a:extLst>
              <a:ext uri="{FF2B5EF4-FFF2-40B4-BE49-F238E27FC236}">
                <a16:creationId xmlns:a16="http://schemas.microsoft.com/office/drawing/2014/main" id="{DEB9354A-198D-3ADC-AC05-5F69499152F1}"/>
              </a:ext>
            </a:extLst>
          </p:cNvPr>
          <p:cNvSpPr/>
          <p:nvPr/>
        </p:nvSpPr>
        <p:spPr>
          <a:xfrm>
            <a:off x="-49445" y="1492941"/>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4">
            <a:extLst>
              <a:ext uri="{FF2B5EF4-FFF2-40B4-BE49-F238E27FC236}">
                <a16:creationId xmlns:a16="http://schemas.microsoft.com/office/drawing/2014/main" id="{F40E217E-E6CC-13E8-837A-B19F2A3D91D0}"/>
              </a:ext>
            </a:extLst>
          </p:cNvPr>
          <p:cNvSpPr/>
          <p:nvPr/>
        </p:nvSpPr>
        <p:spPr>
          <a:xfrm>
            <a:off x="449489" y="1490992"/>
            <a:ext cx="6191003"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Context &amp; Problem</a:t>
            </a:r>
            <a:endParaRPr lang="en-US" sz="1200" dirty="0"/>
          </a:p>
        </p:txBody>
      </p:sp>
      <p:sp>
        <p:nvSpPr>
          <p:cNvPr id="18" name="Shape 15">
            <a:extLst>
              <a:ext uri="{FF2B5EF4-FFF2-40B4-BE49-F238E27FC236}">
                <a16:creationId xmlns:a16="http://schemas.microsoft.com/office/drawing/2014/main" id="{23699B90-7A56-A505-4946-A6FBB471920B}"/>
              </a:ext>
            </a:extLst>
          </p:cNvPr>
          <p:cNvSpPr/>
          <p:nvPr/>
        </p:nvSpPr>
        <p:spPr>
          <a:xfrm>
            <a:off x="210258" y="1720275"/>
            <a:ext cx="6437483" cy="0"/>
          </a:xfrm>
          <a:prstGeom prst="line">
            <a:avLst/>
          </a:prstGeom>
          <a:noFill/>
          <a:ln w="6350">
            <a:solidFill>
              <a:srgbClr val="E8E8E8"/>
            </a:solidFill>
            <a:prstDash val="solid"/>
          </a:ln>
        </p:spPr>
        <p:txBody>
          <a:bodyPr/>
          <a:lstStyle/>
          <a:p>
            <a:endParaRPr lang="fr-FR" sz="1427"/>
          </a:p>
        </p:txBody>
      </p:sp>
      <p:sp>
        <p:nvSpPr>
          <p:cNvPr id="19" name="Text 16">
            <a:extLst>
              <a:ext uri="{FF2B5EF4-FFF2-40B4-BE49-F238E27FC236}">
                <a16:creationId xmlns:a16="http://schemas.microsoft.com/office/drawing/2014/main" id="{47549292-B7C2-AEA3-7D3E-5C5E53B5281A}"/>
              </a:ext>
            </a:extLst>
          </p:cNvPr>
          <p:cNvSpPr/>
          <p:nvPr/>
        </p:nvSpPr>
        <p:spPr>
          <a:xfrm>
            <a:off x="196327" y="1709504"/>
            <a:ext cx="6437483" cy="420466"/>
          </a:xfrm>
          <a:prstGeom prst="rect">
            <a:avLst/>
          </a:prstGeom>
          <a:noFill/>
          <a:ln/>
        </p:spPr>
        <p:txBody>
          <a:bodyPr wrap="square" lIns="0" tIns="0" rIns="0" bIns="0" rtlCol="0" anchor="t"/>
          <a:lstStyle/>
          <a:p>
            <a:pPr algn="just">
              <a:spcAft>
                <a:spcPts val="159"/>
              </a:spcAft>
              <a:buSzPct val="100000"/>
            </a:pPr>
            <a:r>
              <a:rPr lang="en-US" sz="1000" dirty="0">
                <a:solidFill>
                  <a:srgbClr val="5A5A5A"/>
                </a:solidFill>
                <a:latin typeface="Calibri" pitchFamily="34" charset="0"/>
                <a:ea typeface="Calibri" pitchFamily="34" charset="-122"/>
                <a:cs typeface="Calibri" pitchFamily="34" charset="-120"/>
              </a:rPr>
              <a:t>P</a:t>
            </a:r>
            <a:r>
              <a:rPr lang="en-US" sz="900" dirty="0">
                <a:solidFill>
                  <a:srgbClr val="5A5A5A"/>
                </a:solidFill>
                <a:latin typeface="Calibri" pitchFamily="34" charset="0"/>
                <a:ea typeface="Calibri" pitchFamily="34" charset="-122"/>
                <a:cs typeface="Calibri" pitchFamily="34" charset="-120"/>
              </a:rPr>
              <a:t>roject-based learning is central to engineering education at Esprit University, involving large cohorts of students working collaboratively on software projects. While platforms such as GitHub and GitLab are widely used for version control, they are not designed for academic evaluation workflows. Teachers face fragmented processes for repository creation, submission tracking, contribution monitoring, and grading. These limitations increase administrative workload and reduce assessment transparency. </a:t>
            </a:r>
            <a:r>
              <a:rPr lang="en-US" sz="900" dirty="0" err="1">
                <a:solidFill>
                  <a:srgbClr val="5A5A5A"/>
                </a:solidFill>
                <a:latin typeface="Calibri" pitchFamily="34" charset="0"/>
                <a:ea typeface="Calibri" pitchFamily="34" charset="-122"/>
                <a:cs typeface="Calibri" pitchFamily="34" charset="-120"/>
              </a:rPr>
              <a:t>EspriHub</a:t>
            </a:r>
            <a:r>
              <a:rPr lang="en-US" sz="900" dirty="0">
                <a:solidFill>
                  <a:srgbClr val="5A5A5A"/>
                </a:solidFill>
                <a:latin typeface="Calibri" pitchFamily="34" charset="0"/>
                <a:ea typeface="Calibri" pitchFamily="34" charset="-122"/>
                <a:cs typeface="Calibri" pitchFamily="34" charset="-120"/>
              </a:rPr>
              <a:t> is a platform that integrate software development tools with institutional structures, pedagogical requirements, and scalable evaluation mechanisms.</a:t>
            </a:r>
            <a:endParaRPr lang="en-US" sz="900" dirty="0"/>
          </a:p>
        </p:txBody>
      </p:sp>
      <p:sp>
        <p:nvSpPr>
          <p:cNvPr id="20" name="Shape 17">
            <a:extLst>
              <a:ext uri="{FF2B5EF4-FFF2-40B4-BE49-F238E27FC236}">
                <a16:creationId xmlns:a16="http://schemas.microsoft.com/office/drawing/2014/main" id="{82DC8142-9A1E-C3E3-5133-68CC926D39CB}"/>
              </a:ext>
            </a:extLst>
          </p:cNvPr>
          <p:cNvSpPr/>
          <p:nvPr/>
        </p:nvSpPr>
        <p:spPr>
          <a:xfrm>
            <a:off x="130490" y="2647702"/>
            <a:ext cx="3247739" cy="2041646"/>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21" name="Shape 18">
            <a:extLst>
              <a:ext uri="{FF2B5EF4-FFF2-40B4-BE49-F238E27FC236}">
                <a16:creationId xmlns:a16="http://schemas.microsoft.com/office/drawing/2014/main" id="{2F840FEE-AEBA-8DEF-FCD3-BEE06577DE2D}"/>
              </a:ext>
            </a:extLst>
          </p:cNvPr>
          <p:cNvSpPr/>
          <p:nvPr/>
        </p:nvSpPr>
        <p:spPr>
          <a:xfrm>
            <a:off x="130490" y="2647703"/>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24" name="Text 21">
            <a:extLst>
              <a:ext uri="{FF2B5EF4-FFF2-40B4-BE49-F238E27FC236}">
                <a16:creationId xmlns:a16="http://schemas.microsoft.com/office/drawing/2014/main" id="{52FE9C5C-5F84-1555-234D-30E780D7EC76}"/>
              </a:ext>
            </a:extLst>
          </p:cNvPr>
          <p:cNvSpPr/>
          <p:nvPr/>
        </p:nvSpPr>
        <p:spPr>
          <a:xfrm>
            <a:off x="449464" y="2712947"/>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Research Problem: Importance &amp; Relevance</a:t>
            </a:r>
            <a:endParaRPr lang="en-US" sz="1200" dirty="0"/>
          </a:p>
        </p:txBody>
      </p:sp>
      <p:sp>
        <p:nvSpPr>
          <p:cNvPr id="25" name="Shape 22">
            <a:extLst>
              <a:ext uri="{FF2B5EF4-FFF2-40B4-BE49-F238E27FC236}">
                <a16:creationId xmlns:a16="http://schemas.microsoft.com/office/drawing/2014/main" id="{B8C472B3-C4CE-1312-C67F-2F6A37B0498A}"/>
              </a:ext>
            </a:extLst>
          </p:cNvPr>
          <p:cNvSpPr/>
          <p:nvPr/>
        </p:nvSpPr>
        <p:spPr>
          <a:xfrm>
            <a:off x="210233" y="2923181"/>
            <a:ext cx="3088252" cy="0"/>
          </a:xfrm>
          <a:prstGeom prst="line">
            <a:avLst/>
          </a:prstGeom>
          <a:noFill/>
          <a:ln w="6350">
            <a:solidFill>
              <a:srgbClr val="E8E8E8"/>
            </a:solidFill>
            <a:prstDash val="solid"/>
          </a:ln>
        </p:spPr>
        <p:txBody>
          <a:bodyPr/>
          <a:lstStyle/>
          <a:p>
            <a:endParaRPr lang="fr-FR" sz="1427"/>
          </a:p>
        </p:txBody>
      </p:sp>
      <p:sp>
        <p:nvSpPr>
          <p:cNvPr id="26" name="Text 23">
            <a:extLst>
              <a:ext uri="{FF2B5EF4-FFF2-40B4-BE49-F238E27FC236}">
                <a16:creationId xmlns:a16="http://schemas.microsoft.com/office/drawing/2014/main" id="{13ABFA43-90A4-F39E-3704-C469B67A1924}"/>
              </a:ext>
            </a:extLst>
          </p:cNvPr>
          <p:cNvSpPr/>
          <p:nvPr/>
        </p:nvSpPr>
        <p:spPr>
          <a:xfrm>
            <a:off x="150092" y="2987892"/>
            <a:ext cx="3208527" cy="1087413"/>
          </a:xfrm>
          <a:prstGeom prst="rect">
            <a:avLst/>
          </a:prstGeom>
          <a:noFill/>
          <a:ln/>
        </p:spPr>
        <p:txBody>
          <a:bodyPr wrap="square" lIns="0" tIns="0" rIns="0" bIns="0" rtlCol="0" anchor="t"/>
          <a:lstStyle/>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Reduces</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manual</a:t>
            </a:r>
            <a:r>
              <a:rPr lang="fr-FR" sz="900" dirty="0">
                <a:solidFill>
                  <a:srgbClr val="5A5A5A"/>
                </a:solidFill>
                <a:latin typeface="Calibri" pitchFamily="34" charset="0"/>
                <a:ea typeface="Calibri" pitchFamily="34" charset="-122"/>
                <a:cs typeface="Calibri" pitchFamily="34" charset="-120"/>
              </a:rPr>
              <a:t> repository </a:t>
            </a:r>
            <a:r>
              <a:rPr lang="fr-FR" sz="900" dirty="0" err="1">
                <a:solidFill>
                  <a:srgbClr val="5A5A5A"/>
                </a:solidFill>
                <a:latin typeface="Calibri" pitchFamily="34" charset="0"/>
                <a:ea typeface="Calibri" pitchFamily="34" charset="-122"/>
                <a:cs typeface="Calibri" pitchFamily="34" charset="-120"/>
              </a:rPr>
              <a:t>creation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submission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tracking</a:t>
            </a:r>
            <a:r>
              <a:rPr lang="fr-FR" sz="900" dirty="0">
                <a:solidFill>
                  <a:srgbClr val="5A5A5A"/>
                </a:solidFill>
                <a:latin typeface="Calibri" pitchFamily="34" charset="0"/>
                <a:ea typeface="Calibri" pitchFamily="34" charset="-122"/>
                <a:cs typeface="Calibri" pitchFamily="34" charset="-120"/>
              </a:rPr>
              <a:t>, and monitoring </a:t>
            </a:r>
            <a:r>
              <a:rPr lang="fr-FR" sz="900" dirty="0" err="1">
                <a:solidFill>
                  <a:srgbClr val="5A5A5A"/>
                </a:solidFill>
                <a:latin typeface="Calibri" pitchFamily="34" charset="0"/>
                <a:ea typeface="Calibri" pitchFamily="34" charset="-122"/>
                <a:cs typeface="Calibri" pitchFamily="34" charset="-120"/>
              </a:rPr>
              <a:t>workload</a:t>
            </a:r>
            <a:endParaRPr lang="fr-FR" sz="900" dirty="0">
              <a:solidFill>
                <a:srgbClr val="5A5A5A"/>
              </a:solidFill>
              <a:latin typeface="Calibri" pitchFamily="34" charset="0"/>
              <a:ea typeface="Calibri" pitchFamily="34" charset="-122"/>
              <a:cs typeface="Calibri" pitchFamily="34" charset="-120"/>
            </a:endParaRPr>
          </a:p>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Improves</a:t>
            </a:r>
            <a:r>
              <a:rPr lang="fr-FR" sz="900" dirty="0">
                <a:solidFill>
                  <a:srgbClr val="5A5A5A"/>
                </a:solidFill>
                <a:latin typeface="Calibri" pitchFamily="34" charset="0"/>
                <a:ea typeface="Calibri" pitchFamily="34" charset="-122"/>
                <a:cs typeface="Calibri" pitchFamily="34" charset="-120"/>
              </a:rPr>
              <a:t> feedback </a:t>
            </a:r>
            <a:r>
              <a:rPr lang="fr-FR" sz="900" dirty="0" err="1">
                <a:solidFill>
                  <a:srgbClr val="5A5A5A"/>
                </a:solidFill>
                <a:latin typeface="Calibri" pitchFamily="34" charset="0"/>
                <a:ea typeface="Calibri" pitchFamily="34" charset="-122"/>
                <a:cs typeface="Calibri" pitchFamily="34" charset="-120"/>
              </a:rPr>
              <a:t>timeliness</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transparency</a:t>
            </a:r>
            <a:r>
              <a:rPr lang="fr-FR" sz="900" dirty="0">
                <a:solidFill>
                  <a:srgbClr val="5A5A5A"/>
                </a:solidFill>
                <a:latin typeface="Calibri" pitchFamily="34" charset="0"/>
                <a:ea typeface="Calibri" pitchFamily="34" charset="-122"/>
                <a:cs typeface="Calibri" pitchFamily="34" charset="-120"/>
              </a:rPr>
              <a:t>, and </a:t>
            </a:r>
            <a:r>
              <a:rPr lang="fr-FR" sz="900" dirty="0" err="1">
                <a:solidFill>
                  <a:srgbClr val="5A5A5A"/>
                </a:solidFill>
                <a:latin typeface="Calibri" pitchFamily="34" charset="0"/>
                <a:ea typeface="Calibri" pitchFamily="34" charset="-122"/>
                <a:cs typeface="Calibri" pitchFamily="34" charset="-120"/>
              </a:rPr>
              <a:t>visibility</a:t>
            </a:r>
            <a:r>
              <a:rPr lang="fr-FR" sz="900" dirty="0">
                <a:solidFill>
                  <a:srgbClr val="5A5A5A"/>
                </a:solidFill>
                <a:latin typeface="Calibri" pitchFamily="34" charset="0"/>
                <a:ea typeface="Calibri" pitchFamily="34" charset="-122"/>
                <a:cs typeface="Calibri" pitchFamily="34" charset="-120"/>
              </a:rPr>
              <a:t> of </a:t>
            </a:r>
            <a:r>
              <a:rPr lang="fr-FR" sz="900" dirty="0" err="1">
                <a:solidFill>
                  <a:srgbClr val="5A5A5A"/>
                </a:solidFill>
                <a:latin typeface="Calibri" pitchFamily="34" charset="0"/>
                <a:ea typeface="Calibri" pitchFamily="34" charset="-122"/>
                <a:cs typeface="Calibri" pitchFamily="34" charset="-120"/>
              </a:rPr>
              <a:t>individual</a:t>
            </a:r>
            <a:r>
              <a:rPr lang="fr-FR" sz="900" dirty="0">
                <a:solidFill>
                  <a:srgbClr val="5A5A5A"/>
                </a:solidFill>
                <a:latin typeface="Calibri" pitchFamily="34" charset="0"/>
                <a:ea typeface="Calibri" pitchFamily="34" charset="-122"/>
                <a:cs typeface="Calibri" pitchFamily="34" charset="-120"/>
              </a:rPr>
              <a:t> contributions</a:t>
            </a:r>
          </a:p>
          <a:p>
            <a:pPr marL="271851" indent="-271851">
              <a:spcAft>
                <a:spcPts val="159"/>
              </a:spcAft>
              <a:buSzPct val="100000"/>
              <a:buFontTx/>
              <a:buChar char="•"/>
            </a:pPr>
            <a:r>
              <a:rPr lang="fr-FR" sz="900" dirty="0">
                <a:solidFill>
                  <a:srgbClr val="5A5A5A"/>
                </a:solidFill>
                <a:latin typeface="Calibri" pitchFamily="34" charset="0"/>
                <a:ea typeface="Calibri" pitchFamily="34" charset="-122"/>
                <a:cs typeface="Calibri" pitchFamily="34" charset="-120"/>
              </a:rPr>
              <a:t>Supports scalable management of </a:t>
            </a:r>
            <a:r>
              <a:rPr lang="fr-FR" sz="900" dirty="0" err="1">
                <a:solidFill>
                  <a:srgbClr val="5A5A5A"/>
                </a:solidFill>
                <a:latin typeface="Calibri" pitchFamily="34" charset="0"/>
                <a:ea typeface="Calibri" pitchFamily="34" charset="-122"/>
                <a:cs typeface="Calibri" pitchFamily="34" charset="-120"/>
              </a:rPr>
              <a:t>project-based</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learning</a:t>
            </a:r>
            <a:r>
              <a:rPr lang="fr-FR" sz="900" dirty="0">
                <a:solidFill>
                  <a:srgbClr val="5A5A5A"/>
                </a:solidFill>
                <a:latin typeface="Calibri" pitchFamily="34" charset="0"/>
                <a:ea typeface="Calibri" pitchFamily="34" charset="-122"/>
                <a:cs typeface="Calibri" pitchFamily="34" charset="-120"/>
              </a:rPr>
              <a:t> in high-</a:t>
            </a:r>
            <a:r>
              <a:rPr lang="fr-FR" sz="900" dirty="0" err="1">
                <a:solidFill>
                  <a:srgbClr val="5A5A5A"/>
                </a:solidFill>
                <a:latin typeface="Calibri" pitchFamily="34" charset="0"/>
                <a:ea typeface="Calibri" pitchFamily="34" charset="-122"/>
                <a:cs typeface="Calibri" pitchFamily="34" charset="-120"/>
              </a:rPr>
              <a:t>enrollment</a:t>
            </a:r>
            <a:r>
              <a:rPr lang="fr-FR" sz="900" dirty="0">
                <a:solidFill>
                  <a:srgbClr val="5A5A5A"/>
                </a:solidFill>
                <a:latin typeface="Calibri" pitchFamily="34" charset="0"/>
                <a:ea typeface="Calibri" pitchFamily="34" charset="-122"/>
                <a:cs typeface="Calibri" pitchFamily="34" charset="-120"/>
              </a:rPr>
              <a:t> programmes.</a:t>
            </a:r>
          </a:p>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Leverages</a:t>
            </a:r>
            <a:r>
              <a:rPr lang="fr-FR" sz="900" dirty="0">
                <a:solidFill>
                  <a:srgbClr val="5A5A5A"/>
                </a:solidFill>
                <a:latin typeface="Calibri" pitchFamily="34" charset="0"/>
                <a:ea typeface="Calibri" pitchFamily="34" charset="-122"/>
                <a:cs typeface="Calibri" pitchFamily="34" charset="-120"/>
              </a:rPr>
              <a:t> AI-</a:t>
            </a:r>
            <a:r>
              <a:rPr lang="fr-FR" sz="900" dirty="0" err="1">
                <a:solidFill>
                  <a:srgbClr val="5A5A5A"/>
                </a:solidFill>
                <a:latin typeface="Calibri" pitchFamily="34" charset="0"/>
                <a:ea typeface="Calibri" pitchFamily="34" charset="-122"/>
                <a:cs typeface="Calibri" pitchFamily="34" charset="-120"/>
              </a:rPr>
              <a:t>assisted</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evaluation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while</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preserving</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human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decision-making</a:t>
            </a:r>
            <a:endParaRPr lang="fr-FR" sz="900" dirty="0">
              <a:solidFill>
                <a:srgbClr val="5A5A5A"/>
              </a:solidFill>
              <a:latin typeface="Calibri" pitchFamily="34" charset="0"/>
              <a:ea typeface="Calibri" pitchFamily="34" charset="-122"/>
              <a:cs typeface="Calibri" pitchFamily="34" charset="-120"/>
            </a:endParaRPr>
          </a:p>
          <a:p>
            <a:pPr marL="271851" indent="-271851">
              <a:spcAft>
                <a:spcPts val="159"/>
              </a:spcAft>
              <a:buSzPct val="100000"/>
              <a:buFontTx/>
              <a:buChar char="•"/>
            </a:pPr>
            <a:r>
              <a:rPr lang="fr-FR" sz="900" dirty="0" err="1">
                <a:solidFill>
                  <a:srgbClr val="5A5A5A"/>
                </a:solidFill>
                <a:latin typeface="Calibri" pitchFamily="34" charset="0"/>
                <a:ea typeface="Calibri" pitchFamily="34" charset="-122"/>
                <a:cs typeface="Calibri" pitchFamily="34" charset="-120"/>
              </a:rPr>
              <a:t>EspriHub</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aligns</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with</a:t>
            </a:r>
            <a:r>
              <a:rPr lang="fr-FR" sz="900" dirty="0">
                <a:solidFill>
                  <a:srgbClr val="5A5A5A"/>
                </a:solidFill>
                <a:latin typeface="Calibri" pitchFamily="34" charset="0"/>
                <a:ea typeface="Calibri" pitchFamily="34" charset="-122"/>
                <a:cs typeface="Calibri" pitchFamily="34" charset="-120"/>
              </a:rPr>
              <a:t> the future-</a:t>
            </a:r>
            <a:r>
              <a:rPr lang="fr-FR" sz="900" dirty="0" err="1">
                <a:solidFill>
                  <a:srgbClr val="5A5A5A"/>
                </a:solidFill>
                <a:latin typeface="Calibri" pitchFamily="34" charset="0"/>
                <a:ea typeface="Calibri" pitchFamily="34" charset="-122"/>
                <a:cs typeface="Calibri" pitchFamily="34" charset="-120"/>
              </a:rPr>
              <a:t>oriented</a:t>
            </a:r>
            <a:r>
              <a:rPr lang="fr-FR" sz="900" dirty="0">
                <a:solidFill>
                  <a:srgbClr val="5A5A5A"/>
                </a:solidFill>
                <a:latin typeface="Calibri" pitchFamily="34" charset="0"/>
                <a:ea typeface="Calibri" pitchFamily="34" charset="-122"/>
                <a:cs typeface="Calibri" pitchFamily="34" charset="-120"/>
              </a:rPr>
              <a:t> agenda of building efficient, intelligent, and </a:t>
            </a:r>
            <a:r>
              <a:rPr lang="fr-FR" sz="900" dirty="0" err="1">
                <a:solidFill>
                  <a:srgbClr val="5A5A5A"/>
                </a:solidFill>
                <a:latin typeface="Calibri" pitchFamily="34" charset="0"/>
                <a:ea typeface="Calibri" pitchFamily="34" charset="-122"/>
                <a:cs typeface="Calibri" pitchFamily="34" charset="-120"/>
              </a:rPr>
              <a:t>human-centered</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higher</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education</a:t>
            </a:r>
            <a:r>
              <a:rPr lang="fr-FR" sz="900" dirty="0">
                <a:solidFill>
                  <a:srgbClr val="5A5A5A"/>
                </a:solidFill>
                <a:latin typeface="Calibri" pitchFamily="34" charset="0"/>
                <a:ea typeface="Calibri" pitchFamily="34" charset="-122"/>
                <a:cs typeface="Calibri" pitchFamily="34" charset="-120"/>
              </a:rPr>
              <a:t> </a:t>
            </a:r>
            <a:r>
              <a:rPr lang="fr-FR" sz="900" dirty="0" err="1">
                <a:solidFill>
                  <a:srgbClr val="5A5A5A"/>
                </a:solidFill>
                <a:latin typeface="Calibri" pitchFamily="34" charset="0"/>
                <a:ea typeface="Calibri" pitchFamily="34" charset="-122"/>
                <a:cs typeface="Calibri" pitchFamily="34" charset="-120"/>
              </a:rPr>
              <a:t>systems</a:t>
            </a:r>
            <a:r>
              <a:rPr lang="fr-FR" sz="900" dirty="0">
                <a:solidFill>
                  <a:srgbClr val="5A5A5A"/>
                </a:solidFill>
                <a:latin typeface="Calibri" pitchFamily="34" charset="0"/>
                <a:ea typeface="Calibri" pitchFamily="34" charset="-122"/>
                <a:cs typeface="Calibri" pitchFamily="34" charset="-120"/>
              </a:rPr>
              <a:t>.</a:t>
            </a:r>
          </a:p>
          <a:p>
            <a:pPr marL="271851" indent="-271851">
              <a:spcAft>
                <a:spcPts val="159"/>
              </a:spcAft>
              <a:buSzPct val="100000"/>
              <a:buFontTx/>
              <a:buChar char="•"/>
            </a:pPr>
            <a:endParaRPr lang="fr-FR" sz="1000" dirty="0">
              <a:solidFill>
                <a:srgbClr val="5A5A5A"/>
              </a:solidFill>
              <a:latin typeface="Calibri" pitchFamily="34" charset="0"/>
              <a:ea typeface="Calibri" pitchFamily="34" charset="-122"/>
              <a:cs typeface="Calibri" pitchFamily="34" charset="-120"/>
            </a:endParaRPr>
          </a:p>
          <a:p>
            <a:pPr marL="271851" indent="-271851">
              <a:spcAft>
                <a:spcPts val="159"/>
              </a:spcAft>
              <a:buSzPct val="100000"/>
              <a:buChar char="•"/>
            </a:pPr>
            <a:endParaRPr lang="en-US" sz="1000" dirty="0"/>
          </a:p>
        </p:txBody>
      </p:sp>
      <p:sp>
        <p:nvSpPr>
          <p:cNvPr id="27" name="Shape 24">
            <a:extLst>
              <a:ext uri="{FF2B5EF4-FFF2-40B4-BE49-F238E27FC236}">
                <a16:creationId xmlns:a16="http://schemas.microsoft.com/office/drawing/2014/main" id="{269C1247-7EDD-299D-6681-C69A5EA724E3}"/>
              </a:ext>
            </a:extLst>
          </p:cNvPr>
          <p:cNvSpPr/>
          <p:nvPr/>
        </p:nvSpPr>
        <p:spPr>
          <a:xfrm>
            <a:off x="3479721" y="2647702"/>
            <a:ext cx="3247739" cy="2041646"/>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28" name="Shape 25">
            <a:extLst>
              <a:ext uri="{FF2B5EF4-FFF2-40B4-BE49-F238E27FC236}">
                <a16:creationId xmlns:a16="http://schemas.microsoft.com/office/drawing/2014/main" id="{B2BCD0EA-2E7F-934C-7C94-44FED456A232}"/>
              </a:ext>
            </a:extLst>
          </p:cNvPr>
          <p:cNvSpPr/>
          <p:nvPr/>
        </p:nvSpPr>
        <p:spPr>
          <a:xfrm>
            <a:off x="3479721" y="2647703"/>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31" name="Text 28">
            <a:extLst>
              <a:ext uri="{FF2B5EF4-FFF2-40B4-BE49-F238E27FC236}">
                <a16:creationId xmlns:a16="http://schemas.microsoft.com/office/drawing/2014/main" id="{F8D5877D-8A67-5D6B-752C-D9E80E6DC396}"/>
              </a:ext>
            </a:extLst>
          </p:cNvPr>
          <p:cNvSpPr/>
          <p:nvPr/>
        </p:nvSpPr>
        <p:spPr>
          <a:xfrm>
            <a:off x="3798695" y="2712947"/>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Approach &amp; Methodology</a:t>
            </a:r>
            <a:endParaRPr lang="en-US" sz="1200" dirty="0"/>
          </a:p>
        </p:txBody>
      </p:sp>
      <p:sp>
        <p:nvSpPr>
          <p:cNvPr id="32" name="Shape 29">
            <a:extLst>
              <a:ext uri="{FF2B5EF4-FFF2-40B4-BE49-F238E27FC236}">
                <a16:creationId xmlns:a16="http://schemas.microsoft.com/office/drawing/2014/main" id="{C0C3297C-9646-8936-557C-16BC91F4F08B}"/>
              </a:ext>
            </a:extLst>
          </p:cNvPr>
          <p:cNvSpPr/>
          <p:nvPr/>
        </p:nvSpPr>
        <p:spPr>
          <a:xfrm>
            <a:off x="3428974" y="2923181"/>
            <a:ext cx="3088252" cy="0"/>
          </a:xfrm>
          <a:prstGeom prst="line">
            <a:avLst/>
          </a:prstGeom>
          <a:noFill/>
          <a:ln w="6350">
            <a:solidFill>
              <a:srgbClr val="E8E8E8"/>
            </a:solidFill>
            <a:prstDash val="solid"/>
          </a:ln>
        </p:spPr>
        <p:txBody>
          <a:bodyPr/>
          <a:lstStyle/>
          <a:p>
            <a:endParaRPr lang="fr-FR" sz="1427"/>
          </a:p>
        </p:txBody>
      </p:sp>
      <p:sp>
        <p:nvSpPr>
          <p:cNvPr id="33" name="Text 30">
            <a:extLst>
              <a:ext uri="{FF2B5EF4-FFF2-40B4-BE49-F238E27FC236}">
                <a16:creationId xmlns:a16="http://schemas.microsoft.com/office/drawing/2014/main" id="{0A0E625A-DF52-9981-2BCC-C38E40FA36EB}"/>
              </a:ext>
            </a:extLst>
          </p:cNvPr>
          <p:cNvSpPr/>
          <p:nvPr/>
        </p:nvSpPr>
        <p:spPr>
          <a:xfrm>
            <a:off x="3552212" y="3056470"/>
            <a:ext cx="3088252" cy="159487"/>
          </a:xfrm>
          <a:prstGeom prst="rect">
            <a:avLst/>
          </a:prstGeom>
          <a:noFill/>
          <a:ln/>
        </p:spPr>
        <p:txBody>
          <a:bodyPr wrap="square" lIns="0" tIns="0" rIns="0" bIns="0" rtlCol="0" anchor="t"/>
          <a:lstStyle/>
          <a:p>
            <a:r>
              <a:rPr lang="en-US" sz="1000" i="1" dirty="0">
                <a:solidFill>
                  <a:srgbClr val="8C8C8C"/>
                </a:solidFill>
                <a:latin typeface="Calibri" pitchFamily="34" charset="0"/>
                <a:ea typeface="Calibri" pitchFamily="34" charset="-122"/>
                <a:cs typeface="Calibri" pitchFamily="34" charset="-120"/>
              </a:rPr>
              <a:t>Preferred formats: diagram · workflow · pedagogical schema — avoid dense text.</a:t>
            </a:r>
            <a:endParaRPr lang="en-US" sz="1000" dirty="0"/>
          </a:p>
        </p:txBody>
      </p:sp>
      <p:sp>
        <p:nvSpPr>
          <p:cNvPr id="34" name="Shape 31">
            <a:extLst>
              <a:ext uri="{FF2B5EF4-FFF2-40B4-BE49-F238E27FC236}">
                <a16:creationId xmlns:a16="http://schemas.microsoft.com/office/drawing/2014/main" id="{616C38B5-A4BD-FC70-1586-FD2A8F5038E2}"/>
              </a:ext>
            </a:extLst>
          </p:cNvPr>
          <p:cNvSpPr/>
          <p:nvPr/>
        </p:nvSpPr>
        <p:spPr>
          <a:xfrm>
            <a:off x="3559461" y="3439365"/>
            <a:ext cx="3088252" cy="1107510"/>
          </a:xfrm>
          <a:prstGeom prst="rect">
            <a:avLst/>
          </a:prstGeom>
          <a:solidFill>
            <a:srgbClr val="EEEEEE"/>
          </a:solidFill>
          <a:ln w="6350">
            <a:solidFill>
              <a:srgbClr val="E8E8E8"/>
            </a:solidFill>
            <a:prstDash val="solid"/>
          </a:ln>
        </p:spPr>
        <p:txBody>
          <a:bodyPr/>
          <a:lstStyle/>
          <a:p>
            <a:endParaRPr lang="fr-FR" sz="1427"/>
          </a:p>
        </p:txBody>
      </p:sp>
      <p:sp>
        <p:nvSpPr>
          <p:cNvPr id="35" name="Text 32">
            <a:extLst>
              <a:ext uri="{FF2B5EF4-FFF2-40B4-BE49-F238E27FC236}">
                <a16:creationId xmlns:a16="http://schemas.microsoft.com/office/drawing/2014/main" id="{FAF73C2B-80E8-2385-E8A1-A053CF55C1D8}"/>
              </a:ext>
            </a:extLst>
          </p:cNvPr>
          <p:cNvSpPr/>
          <p:nvPr/>
        </p:nvSpPr>
        <p:spPr>
          <a:xfrm>
            <a:off x="3559464" y="3155162"/>
            <a:ext cx="3088252" cy="884429"/>
          </a:xfrm>
          <a:prstGeom prst="rect">
            <a:avLst/>
          </a:prstGeom>
          <a:noFill/>
          <a:ln/>
        </p:spPr>
        <p:txBody>
          <a:bodyPr wrap="square" lIns="0" tIns="0" rIns="0" bIns="0" rtlCol="0" anchor="ctr"/>
          <a:lstStyle/>
          <a:p>
            <a:pPr algn="ctr"/>
            <a:r>
              <a:rPr lang="en-US" sz="555" i="1" dirty="0">
                <a:solidFill>
                  <a:srgbClr val="8C8C8C"/>
                </a:solidFill>
                <a:latin typeface="Calibri" pitchFamily="34" charset="0"/>
                <a:ea typeface="Calibri" pitchFamily="34" charset="-122"/>
                <a:cs typeface="Calibri" pitchFamily="34" charset="-120"/>
              </a:rPr>
              <a:t>[ Insert: Diagram / Workflow / Pedagogical Schema / AI Tools Map ]</a:t>
            </a:r>
            <a:endParaRPr lang="en-US" sz="555" dirty="0"/>
          </a:p>
        </p:txBody>
      </p:sp>
      <p:sp>
        <p:nvSpPr>
          <p:cNvPr id="36" name="Shape 33">
            <a:extLst>
              <a:ext uri="{FF2B5EF4-FFF2-40B4-BE49-F238E27FC236}">
                <a16:creationId xmlns:a16="http://schemas.microsoft.com/office/drawing/2014/main" id="{0D234056-CFE2-E38F-86EB-CB7C218B0B5F}"/>
              </a:ext>
            </a:extLst>
          </p:cNvPr>
          <p:cNvSpPr/>
          <p:nvPr/>
        </p:nvSpPr>
        <p:spPr>
          <a:xfrm>
            <a:off x="43493" y="4783473"/>
            <a:ext cx="6596971" cy="1231815"/>
          </a:xfrm>
          <a:prstGeom prst="rect">
            <a:avLst/>
          </a:prstGeom>
          <a:solidFill>
            <a:srgbClr val="FFFFFF">
              <a:alpha val="60000"/>
            </a:srgbClr>
          </a:solidFill>
          <a:ln w="12700">
            <a:noFill/>
            <a:prstDash val="solid"/>
          </a:ln>
          <a:effectLst>
            <a:outerShdw blurRad="63500" dist="12700" dir="8100000" algn="bl" rotWithShape="0">
              <a:srgbClr val="000000">
                <a:alpha val="6000"/>
              </a:srgbClr>
            </a:outerShdw>
          </a:effectLst>
        </p:spPr>
        <p:txBody>
          <a:bodyPr/>
          <a:lstStyle/>
          <a:p>
            <a:endParaRPr lang="fr-FR" sz="1427" dirty="0"/>
          </a:p>
        </p:txBody>
      </p:sp>
      <p:sp>
        <p:nvSpPr>
          <p:cNvPr id="37" name="Shape 34">
            <a:extLst>
              <a:ext uri="{FF2B5EF4-FFF2-40B4-BE49-F238E27FC236}">
                <a16:creationId xmlns:a16="http://schemas.microsoft.com/office/drawing/2014/main" id="{D5827D74-3DB5-CC38-83F4-F01D980C8FF5}"/>
              </a:ext>
            </a:extLst>
          </p:cNvPr>
          <p:cNvSpPr/>
          <p:nvPr/>
        </p:nvSpPr>
        <p:spPr>
          <a:xfrm>
            <a:off x="130488" y="4783474"/>
            <a:ext cx="6596971" cy="50746"/>
          </a:xfrm>
          <a:prstGeom prst="rect">
            <a:avLst/>
          </a:prstGeom>
          <a:solidFill>
            <a:srgbClr val="46B6AE"/>
          </a:solidFill>
          <a:ln w="12700">
            <a:solidFill>
              <a:srgbClr val="46B6AE"/>
            </a:solidFill>
            <a:prstDash val="solid"/>
          </a:ln>
        </p:spPr>
        <p:txBody>
          <a:bodyPr/>
          <a:lstStyle/>
          <a:p>
            <a:endParaRPr lang="fr-FR" sz="1427"/>
          </a:p>
        </p:txBody>
      </p:sp>
      <p:sp>
        <p:nvSpPr>
          <p:cNvPr id="38" name="Shape 35">
            <a:extLst>
              <a:ext uri="{FF2B5EF4-FFF2-40B4-BE49-F238E27FC236}">
                <a16:creationId xmlns:a16="http://schemas.microsoft.com/office/drawing/2014/main" id="{F80785FB-3645-7A00-A6CC-874BE0045B4C}"/>
              </a:ext>
            </a:extLst>
          </p:cNvPr>
          <p:cNvSpPr/>
          <p:nvPr/>
        </p:nvSpPr>
        <p:spPr>
          <a:xfrm>
            <a:off x="210232" y="4848719"/>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39" name="Text 36">
            <a:extLst>
              <a:ext uri="{FF2B5EF4-FFF2-40B4-BE49-F238E27FC236}">
                <a16:creationId xmlns:a16="http://schemas.microsoft.com/office/drawing/2014/main" id="{0CA2681D-B844-BFD8-EB8C-842D5C009E68}"/>
              </a:ext>
            </a:extLst>
          </p:cNvPr>
          <p:cNvSpPr/>
          <p:nvPr/>
        </p:nvSpPr>
        <p:spPr>
          <a:xfrm>
            <a:off x="210232" y="4848719"/>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0" name="Text 37">
            <a:extLst>
              <a:ext uri="{FF2B5EF4-FFF2-40B4-BE49-F238E27FC236}">
                <a16:creationId xmlns:a16="http://schemas.microsoft.com/office/drawing/2014/main" id="{DF4E05DB-3D21-2351-C7B0-9ADCA11F43C1}"/>
              </a:ext>
            </a:extLst>
          </p:cNvPr>
          <p:cNvSpPr/>
          <p:nvPr/>
        </p:nvSpPr>
        <p:spPr>
          <a:xfrm>
            <a:off x="449463" y="4848718"/>
            <a:ext cx="6191003" cy="202984"/>
          </a:xfrm>
          <a:prstGeom prst="rect">
            <a:avLst/>
          </a:prstGeom>
          <a:noFill/>
          <a:ln/>
        </p:spPr>
        <p:txBody>
          <a:bodyPr wrap="square" lIns="0" tIns="0" rIns="0" bIns="0" rtlCol="0" anchor="ctr"/>
          <a:lstStyle/>
          <a:p>
            <a:r>
              <a:rPr lang="en-US" sz="1200" b="1" dirty="0">
                <a:solidFill>
                  <a:srgbClr val="002060"/>
                </a:solidFill>
                <a:latin typeface="Calibri" pitchFamily="34" charset="0"/>
                <a:ea typeface="Calibri" pitchFamily="34" charset="-122"/>
                <a:cs typeface="Calibri" pitchFamily="34" charset="-120"/>
              </a:rPr>
              <a:t>Innovation &amp; Contribution ⭐  —  What is new?</a:t>
            </a:r>
            <a:endParaRPr lang="en-US" sz="1200" dirty="0">
              <a:solidFill>
                <a:srgbClr val="002060"/>
              </a:solidFill>
            </a:endParaRPr>
          </a:p>
        </p:txBody>
      </p:sp>
      <p:sp>
        <p:nvSpPr>
          <p:cNvPr id="41" name="Shape 38">
            <a:extLst>
              <a:ext uri="{FF2B5EF4-FFF2-40B4-BE49-F238E27FC236}">
                <a16:creationId xmlns:a16="http://schemas.microsoft.com/office/drawing/2014/main" id="{E4CB103A-9917-4598-825A-A4B69A2BBB40}"/>
              </a:ext>
            </a:extLst>
          </p:cNvPr>
          <p:cNvSpPr/>
          <p:nvPr/>
        </p:nvSpPr>
        <p:spPr>
          <a:xfrm>
            <a:off x="210232" y="5066201"/>
            <a:ext cx="6437483" cy="0"/>
          </a:xfrm>
          <a:prstGeom prst="line">
            <a:avLst/>
          </a:prstGeom>
          <a:noFill/>
          <a:ln w="6350">
            <a:solidFill>
              <a:srgbClr val="555555"/>
            </a:solidFill>
            <a:prstDash val="solid"/>
          </a:ln>
        </p:spPr>
        <p:txBody>
          <a:bodyPr/>
          <a:lstStyle/>
          <a:p>
            <a:endParaRPr lang="fr-FR" sz="1427"/>
          </a:p>
        </p:txBody>
      </p:sp>
      <p:sp>
        <p:nvSpPr>
          <p:cNvPr id="42" name="Text 39">
            <a:extLst>
              <a:ext uri="{FF2B5EF4-FFF2-40B4-BE49-F238E27FC236}">
                <a16:creationId xmlns:a16="http://schemas.microsoft.com/office/drawing/2014/main" id="{4137EAA5-4FA6-BE69-5261-41DA24F1966A}"/>
              </a:ext>
            </a:extLst>
          </p:cNvPr>
          <p:cNvSpPr/>
          <p:nvPr/>
        </p:nvSpPr>
        <p:spPr>
          <a:xfrm>
            <a:off x="289975" y="5102448"/>
            <a:ext cx="2049169" cy="144988"/>
          </a:xfrm>
          <a:prstGeom prst="rect">
            <a:avLst/>
          </a:prstGeom>
          <a:noFill/>
          <a:ln/>
        </p:spPr>
        <p:txBody>
          <a:bodyPr wrap="square" lIns="0" tIns="0" rIns="0" bIns="0" rtlCol="0" anchor="t"/>
          <a:lstStyle/>
          <a:p>
            <a:r>
              <a:rPr lang="en-US" sz="1000" b="1" dirty="0">
                <a:solidFill>
                  <a:srgbClr val="002060"/>
                </a:solidFill>
                <a:latin typeface="Calibri" pitchFamily="34" charset="0"/>
                <a:ea typeface="Calibri" pitchFamily="34" charset="-122"/>
                <a:cs typeface="Calibri" pitchFamily="34" charset="-120"/>
              </a:rPr>
              <a:t>Pedagogical Innovation</a:t>
            </a:r>
            <a:endParaRPr lang="en-US" sz="1000" dirty="0">
              <a:solidFill>
                <a:srgbClr val="002060"/>
              </a:solidFill>
            </a:endParaRPr>
          </a:p>
        </p:txBody>
      </p:sp>
      <p:sp>
        <p:nvSpPr>
          <p:cNvPr id="43" name="Text 40">
            <a:extLst>
              <a:ext uri="{FF2B5EF4-FFF2-40B4-BE49-F238E27FC236}">
                <a16:creationId xmlns:a16="http://schemas.microsoft.com/office/drawing/2014/main" id="{E2189642-120E-7366-6282-C67B89AA85A6}"/>
              </a:ext>
            </a:extLst>
          </p:cNvPr>
          <p:cNvSpPr/>
          <p:nvPr/>
        </p:nvSpPr>
        <p:spPr>
          <a:xfrm>
            <a:off x="210231" y="5247437"/>
            <a:ext cx="1962397" cy="318974"/>
          </a:xfrm>
          <a:prstGeom prst="rect">
            <a:avLst/>
          </a:prstGeom>
          <a:noFill/>
          <a:ln/>
        </p:spPr>
        <p:txBody>
          <a:bodyPr wrap="square" lIns="0" tIns="0" rIns="0" bIns="0" rtlCol="0" anchor="t"/>
          <a:lstStyle/>
          <a:p>
            <a:pPr algn="just"/>
            <a:r>
              <a:rPr lang="en-US" sz="1000" dirty="0">
                <a:latin typeface="Calibri" pitchFamily="34" charset="0"/>
                <a:ea typeface="Calibri" pitchFamily="34" charset="-122"/>
                <a:cs typeface="Calibri" pitchFamily="34" charset="-120"/>
              </a:rPr>
              <a:t>Integrating version control  enables transparent assessment in project-based learning. It improves the visibility of individual contributions within group projects.</a:t>
            </a:r>
            <a:endParaRPr lang="en-US" sz="1000" dirty="0"/>
          </a:p>
        </p:txBody>
      </p:sp>
      <p:sp>
        <p:nvSpPr>
          <p:cNvPr id="44" name="Shape 41">
            <a:extLst>
              <a:ext uri="{FF2B5EF4-FFF2-40B4-BE49-F238E27FC236}">
                <a16:creationId xmlns:a16="http://schemas.microsoft.com/office/drawing/2014/main" id="{5749A0E0-E0C6-DACD-C171-A546580B67A8}"/>
              </a:ext>
            </a:extLst>
          </p:cNvPr>
          <p:cNvSpPr/>
          <p:nvPr/>
        </p:nvSpPr>
        <p:spPr>
          <a:xfrm flipH="1">
            <a:off x="2360948" y="5102447"/>
            <a:ext cx="14444" cy="699117"/>
          </a:xfrm>
          <a:prstGeom prst="line">
            <a:avLst/>
          </a:prstGeom>
          <a:noFill/>
          <a:ln w="6350">
            <a:solidFill>
              <a:srgbClr val="555555"/>
            </a:solidFill>
            <a:prstDash val="solid"/>
          </a:ln>
        </p:spPr>
        <p:txBody>
          <a:bodyPr/>
          <a:lstStyle/>
          <a:p>
            <a:endParaRPr lang="fr-FR" sz="1427"/>
          </a:p>
        </p:txBody>
      </p:sp>
      <p:sp>
        <p:nvSpPr>
          <p:cNvPr id="45" name="Text 42">
            <a:extLst>
              <a:ext uri="{FF2B5EF4-FFF2-40B4-BE49-F238E27FC236}">
                <a16:creationId xmlns:a16="http://schemas.microsoft.com/office/drawing/2014/main" id="{31156BA5-2E5C-D532-3EA7-A5FD660568E0}"/>
              </a:ext>
            </a:extLst>
          </p:cNvPr>
          <p:cNvSpPr/>
          <p:nvPr/>
        </p:nvSpPr>
        <p:spPr>
          <a:xfrm>
            <a:off x="2411639" y="5102448"/>
            <a:ext cx="2049169" cy="144988"/>
          </a:xfrm>
          <a:prstGeom prst="rect">
            <a:avLst/>
          </a:prstGeom>
          <a:noFill/>
          <a:ln/>
        </p:spPr>
        <p:txBody>
          <a:bodyPr wrap="square" lIns="0" tIns="0" rIns="0" bIns="0" rtlCol="0" anchor="t"/>
          <a:lstStyle/>
          <a:p>
            <a:r>
              <a:rPr lang="en-US" sz="1000" b="1" dirty="0">
                <a:solidFill>
                  <a:srgbClr val="002060"/>
                </a:solidFill>
                <a:latin typeface="Calibri" pitchFamily="34" charset="0"/>
                <a:ea typeface="Calibri" pitchFamily="34" charset="-122"/>
                <a:cs typeface="Calibri" pitchFamily="34" charset="-120"/>
              </a:rPr>
              <a:t>Scientific Contribution</a:t>
            </a:r>
            <a:endParaRPr lang="en-US" sz="1000" dirty="0">
              <a:solidFill>
                <a:srgbClr val="002060"/>
              </a:solidFill>
            </a:endParaRPr>
          </a:p>
        </p:txBody>
      </p:sp>
      <p:sp>
        <p:nvSpPr>
          <p:cNvPr id="46" name="Text 43">
            <a:extLst>
              <a:ext uri="{FF2B5EF4-FFF2-40B4-BE49-F238E27FC236}">
                <a16:creationId xmlns:a16="http://schemas.microsoft.com/office/drawing/2014/main" id="{44361E9B-D3E5-EBB9-975C-7A91C32A5383}"/>
              </a:ext>
            </a:extLst>
          </p:cNvPr>
          <p:cNvSpPr/>
          <p:nvPr/>
        </p:nvSpPr>
        <p:spPr>
          <a:xfrm>
            <a:off x="2411639" y="5247437"/>
            <a:ext cx="2049169" cy="318974"/>
          </a:xfrm>
          <a:prstGeom prst="rect">
            <a:avLst/>
          </a:prstGeom>
          <a:noFill/>
          <a:ln/>
        </p:spPr>
        <p:txBody>
          <a:bodyPr wrap="square" lIns="0" tIns="0" rIns="0" bIns="0" rtlCol="0" anchor="t"/>
          <a:lstStyle/>
          <a:p>
            <a:pPr algn="just"/>
            <a:r>
              <a:rPr lang="en-US" sz="1000" dirty="0">
                <a:latin typeface="Calibri" pitchFamily="34" charset="0"/>
                <a:ea typeface="Calibri" pitchFamily="34" charset="-122"/>
                <a:cs typeface="Calibri" pitchFamily="34" charset="-120"/>
              </a:rPr>
              <a:t>An AI-enabled academic Git platform that bridges software engineering tools with pedagogy while offering insights into scalable academic project management.</a:t>
            </a:r>
          </a:p>
        </p:txBody>
      </p:sp>
      <p:sp>
        <p:nvSpPr>
          <p:cNvPr id="47" name="Shape 44">
            <a:extLst>
              <a:ext uri="{FF2B5EF4-FFF2-40B4-BE49-F238E27FC236}">
                <a16:creationId xmlns:a16="http://schemas.microsoft.com/office/drawing/2014/main" id="{9A3A556F-0EF3-DD5C-C947-4B3535C36780}"/>
              </a:ext>
            </a:extLst>
          </p:cNvPr>
          <p:cNvSpPr/>
          <p:nvPr/>
        </p:nvSpPr>
        <p:spPr>
          <a:xfrm flipH="1">
            <a:off x="4497053" y="5102447"/>
            <a:ext cx="2" cy="713171"/>
          </a:xfrm>
          <a:prstGeom prst="line">
            <a:avLst/>
          </a:prstGeom>
          <a:noFill/>
          <a:ln w="6350">
            <a:solidFill>
              <a:srgbClr val="555555"/>
            </a:solidFill>
            <a:prstDash val="solid"/>
          </a:ln>
        </p:spPr>
        <p:txBody>
          <a:bodyPr/>
          <a:lstStyle/>
          <a:p>
            <a:endParaRPr lang="fr-FR" sz="1427"/>
          </a:p>
        </p:txBody>
      </p:sp>
      <p:sp>
        <p:nvSpPr>
          <p:cNvPr id="48" name="Text 45">
            <a:extLst>
              <a:ext uri="{FF2B5EF4-FFF2-40B4-BE49-F238E27FC236}">
                <a16:creationId xmlns:a16="http://schemas.microsoft.com/office/drawing/2014/main" id="{58F238C9-3A93-A740-3E2B-C33814FB855B}"/>
              </a:ext>
            </a:extLst>
          </p:cNvPr>
          <p:cNvSpPr/>
          <p:nvPr/>
        </p:nvSpPr>
        <p:spPr>
          <a:xfrm>
            <a:off x="4533302" y="5102448"/>
            <a:ext cx="2049169" cy="144988"/>
          </a:xfrm>
          <a:prstGeom prst="rect">
            <a:avLst/>
          </a:prstGeom>
          <a:noFill/>
          <a:ln/>
        </p:spPr>
        <p:txBody>
          <a:bodyPr wrap="square" lIns="0" tIns="0" rIns="0" bIns="0" rtlCol="0" anchor="t"/>
          <a:lstStyle/>
          <a:p>
            <a:r>
              <a:rPr lang="en-US" sz="1000" b="1" dirty="0">
                <a:solidFill>
                  <a:srgbClr val="002060"/>
                </a:solidFill>
                <a:latin typeface="Calibri" pitchFamily="34" charset="0"/>
                <a:ea typeface="Calibri" pitchFamily="34" charset="-122"/>
                <a:cs typeface="Calibri" pitchFamily="34" charset="-120"/>
              </a:rPr>
              <a:t>Originality vs. Existing Practice</a:t>
            </a:r>
            <a:endParaRPr lang="en-US" sz="1000" dirty="0">
              <a:solidFill>
                <a:srgbClr val="002060"/>
              </a:solidFill>
            </a:endParaRPr>
          </a:p>
        </p:txBody>
      </p:sp>
      <p:sp>
        <p:nvSpPr>
          <p:cNvPr id="49" name="Text 46">
            <a:extLst>
              <a:ext uri="{FF2B5EF4-FFF2-40B4-BE49-F238E27FC236}">
                <a16:creationId xmlns:a16="http://schemas.microsoft.com/office/drawing/2014/main" id="{BB5D32A2-0E0C-FBEF-123D-EA6555FC195D}"/>
              </a:ext>
            </a:extLst>
          </p:cNvPr>
          <p:cNvSpPr/>
          <p:nvPr/>
        </p:nvSpPr>
        <p:spPr>
          <a:xfrm>
            <a:off x="4544189" y="5247437"/>
            <a:ext cx="2038282" cy="318974"/>
          </a:xfrm>
          <a:prstGeom prst="rect">
            <a:avLst/>
          </a:prstGeom>
          <a:noFill/>
          <a:ln/>
        </p:spPr>
        <p:txBody>
          <a:bodyPr wrap="square" lIns="0" tIns="0" rIns="0" bIns="0" rtlCol="0" anchor="t"/>
          <a:lstStyle/>
          <a:p>
            <a:pPr algn="just"/>
            <a:r>
              <a:rPr lang="en-US" sz="1000" dirty="0">
                <a:latin typeface="Calibri" pitchFamily="34" charset="0"/>
                <a:ea typeface="Calibri" pitchFamily="34" charset="-122"/>
                <a:cs typeface="Calibri" pitchFamily="34" charset="-120"/>
              </a:rPr>
              <a:t>Unlike GitHub or GitLab, </a:t>
            </a:r>
            <a:r>
              <a:rPr lang="en-US" sz="1000" dirty="0" err="1">
                <a:latin typeface="Calibri" pitchFamily="34" charset="0"/>
                <a:ea typeface="Calibri" pitchFamily="34" charset="-122"/>
                <a:cs typeface="Calibri" pitchFamily="34" charset="-120"/>
              </a:rPr>
              <a:t>EspriHub</a:t>
            </a:r>
            <a:r>
              <a:rPr lang="en-US" sz="1000" dirty="0">
                <a:latin typeface="Calibri" pitchFamily="34" charset="0"/>
                <a:ea typeface="Calibri" pitchFamily="34" charset="-122"/>
                <a:cs typeface="Calibri" pitchFamily="34" charset="-120"/>
              </a:rPr>
              <a:t> natively supports academic structures, automated submissions, deadline enforcement, and AI-powered grading assistance tailored to higher education.</a:t>
            </a:r>
            <a:endParaRPr lang="en-US" sz="1000" dirty="0"/>
          </a:p>
        </p:txBody>
      </p:sp>
      <p:sp>
        <p:nvSpPr>
          <p:cNvPr id="50" name="Shape 47">
            <a:extLst>
              <a:ext uri="{FF2B5EF4-FFF2-40B4-BE49-F238E27FC236}">
                <a16:creationId xmlns:a16="http://schemas.microsoft.com/office/drawing/2014/main" id="{FB1EA278-B0F5-EF8A-3410-9DD77D6F66DA}"/>
              </a:ext>
            </a:extLst>
          </p:cNvPr>
          <p:cNvSpPr/>
          <p:nvPr/>
        </p:nvSpPr>
        <p:spPr>
          <a:xfrm>
            <a:off x="130487" y="6180342"/>
            <a:ext cx="3247739" cy="264599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51" name="Shape 48">
            <a:extLst>
              <a:ext uri="{FF2B5EF4-FFF2-40B4-BE49-F238E27FC236}">
                <a16:creationId xmlns:a16="http://schemas.microsoft.com/office/drawing/2014/main" id="{C57D1F22-AA28-78FF-B218-63CEFD1694A0}"/>
              </a:ext>
            </a:extLst>
          </p:cNvPr>
          <p:cNvSpPr/>
          <p:nvPr/>
        </p:nvSpPr>
        <p:spPr>
          <a:xfrm>
            <a:off x="130487" y="6153165"/>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54" name="Text 51">
            <a:extLst>
              <a:ext uri="{FF2B5EF4-FFF2-40B4-BE49-F238E27FC236}">
                <a16:creationId xmlns:a16="http://schemas.microsoft.com/office/drawing/2014/main" id="{901BE0FF-7282-77F6-AD4A-5A92D3EEE552}"/>
              </a:ext>
            </a:extLst>
          </p:cNvPr>
          <p:cNvSpPr/>
          <p:nvPr/>
        </p:nvSpPr>
        <p:spPr>
          <a:xfrm>
            <a:off x="449461" y="6218409"/>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Results &amp; Evidence</a:t>
            </a:r>
            <a:endParaRPr lang="en-US" sz="1200" dirty="0"/>
          </a:p>
        </p:txBody>
      </p:sp>
      <p:sp>
        <p:nvSpPr>
          <p:cNvPr id="55" name="Shape 52">
            <a:extLst>
              <a:ext uri="{FF2B5EF4-FFF2-40B4-BE49-F238E27FC236}">
                <a16:creationId xmlns:a16="http://schemas.microsoft.com/office/drawing/2014/main" id="{03E1B11E-C072-40F3-DEF0-BBAA220BD280}"/>
              </a:ext>
            </a:extLst>
          </p:cNvPr>
          <p:cNvSpPr/>
          <p:nvPr/>
        </p:nvSpPr>
        <p:spPr>
          <a:xfrm>
            <a:off x="210230" y="6428643"/>
            <a:ext cx="3088252" cy="0"/>
          </a:xfrm>
          <a:prstGeom prst="line">
            <a:avLst/>
          </a:prstGeom>
          <a:noFill/>
          <a:ln w="6350">
            <a:solidFill>
              <a:srgbClr val="E8E8E8"/>
            </a:solidFill>
            <a:prstDash val="solid"/>
          </a:ln>
        </p:spPr>
        <p:txBody>
          <a:bodyPr/>
          <a:lstStyle/>
          <a:p>
            <a:endParaRPr lang="fr-FR" sz="1427"/>
          </a:p>
        </p:txBody>
      </p:sp>
      <p:sp>
        <p:nvSpPr>
          <p:cNvPr id="56" name="Text 53">
            <a:extLst>
              <a:ext uri="{FF2B5EF4-FFF2-40B4-BE49-F238E27FC236}">
                <a16:creationId xmlns:a16="http://schemas.microsoft.com/office/drawing/2014/main" id="{EBF62CD1-4604-A186-E030-C3C29480C196}"/>
              </a:ext>
            </a:extLst>
          </p:cNvPr>
          <p:cNvSpPr/>
          <p:nvPr/>
        </p:nvSpPr>
        <p:spPr>
          <a:xfrm>
            <a:off x="210230" y="6653376"/>
            <a:ext cx="3088252" cy="304476"/>
          </a:xfrm>
          <a:prstGeom prst="rect">
            <a:avLst/>
          </a:prstGeom>
          <a:noFill/>
          <a:ln/>
        </p:spPr>
        <p:txBody>
          <a:bodyPr wrap="square" lIns="0" tIns="0" rIns="0" bIns="0" rtlCol="0" anchor="t"/>
          <a:lstStyle/>
          <a:p>
            <a:r>
              <a:rPr lang="en-US" sz="1000" b="1" dirty="0">
                <a:solidFill>
                  <a:srgbClr val="2C2C2C"/>
                </a:solidFill>
                <a:latin typeface="Calibri" pitchFamily="34" charset="0"/>
                <a:ea typeface="Calibri" pitchFamily="34" charset="-122"/>
                <a:cs typeface="Calibri" pitchFamily="34" charset="-120"/>
              </a:rPr>
              <a:t>Early-stage work: </a:t>
            </a:r>
            <a:r>
              <a:rPr lang="en-US" sz="1000" dirty="0">
                <a:solidFill>
                  <a:srgbClr val="5A5A5A"/>
                </a:solidFill>
                <a:latin typeface="Calibri" pitchFamily="34" charset="0"/>
                <a:ea typeface="Calibri" pitchFamily="34" charset="-122"/>
                <a:cs typeface="Calibri" pitchFamily="34" charset="-120"/>
              </a:rPr>
              <a:t>preliminary observations, student feedback, prototype.</a:t>
            </a:r>
            <a:endParaRPr lang="en-US" sz="1000" dirty="0"/>
          </a:p>
          <a:p>
            <a:r>
              <a:rPr lang="en-US" sz="1000" b="1" dirty="0">
                <a:solidFill>
                  <a:srgbClr val="2C2C2C"/>
                </a:solidFill>
                <a:latin typeface="Calibri" pitchFamily="34" charset="0"/>
                <a:ea typeface="Calibri" pitchFamily="34" charset="-122"/>
                <a:cs typeface="Calibri" pitchFamily="34" charset="-120"/>
              </a:rPr>
              <a:t>Practice-based work: </a:t>
            </a:r>
            <a:r>
              <a:rPr lang="en-US" sz="1000" dirty="0">
                <a:solidFill>
                  <a:srgbClr val="5A5A5A"/>
                </a:solidFill>
                <a:latin typeface="Calibri" pitchFamily="34" charset="0"/>
                <a:ea typeface="Calibri" pitchFamily="34" charset="-122"/>
                <a:cs typeface="Calibri" pitchFamily="34" charset="-120"/>
              </a:rPr>
              <a:t>results, impact metrics, concrete examples.</a:t>
            </a:r>
            <a:endParaRPr lang="en-US" sz="1000" dirty="0"/>
          </a:p>
        </p:txBody>
      </p:sp>
      <p:sp>
        <p:nvSpPr>
          <p:cNvPr id="57" name="Shape 54">
            <a:extLst>
              <a:ext uri="{FF2B5EF4-FFF2-40B4-BE49-F238E27FC236}">
                <a16:creationId xmlns:a16="http://schemas.microsoft.com/office/drawing/2014/main" id="{F05D9E90-0E3E-1E12-7691-DD1E058EA3F7}"/>
              </a:ext>
            </a:extLst>
          </p:cNvPr>
          <p:cNvSpPr/>
          <p:nvPr/>
        </p:nvSpPr>
        <p:spPr>
          <a:xfrm>
            <a:off x="202981" y="7286775"/>
            <a:ext cx="3088252" cy="1352205"/>
          </a:xfrm>
          <a:prstGeom prst="rect">
            <a:avLst/>
          </a:prstGeom>
          <a:solidFill>
            <a:srgbClr val="EEEEEE"/>
          </a:solidFill>
          <a:ln w="6350">
            <a:solidFill>
              <a:srgbClr val="E8E8E8"/>
            </a:solidFill>
            <a:prstDash val="solid"/>
          </a:ln>
        </p:spPr>
        <p:txBody>
          <a:bodyPr/>
          <a:lstStyle/>
          <a:p>
            <a:endParaRPr lang="fr-FR" sz="1427"/>
          </a:p>
        </p:txBody>
      </p:sp>
      <p:sp>
        <p:nvSpPr>
          <p:cNvPr id="58" name="Text 55">
            <a:extLst>
              <a:ext uri="{FF2B5EF4-FFF2-40B4-BE49-F238E27FC236}">
                <a16:creationId xmlns:a16="http://schemas.microsoft.com/office/drawing/2014/main" id="{84447B5F-E84A-1FEE-4788-F93B8931422B}"/>
              </a:ext>
            </a:extLst>
          </p:cNvPr>
          <p:cNvSpPr/>
          <p:nvPr/>
        </p:nvSpPr>
        <p:spPr>
          <a:xfrm>
            <a:off x="210230" y="7805298"/>
            <a:ext cx="3088252" cy="826434"/>
          </a:xfrm>
          <a:prstGeom prst="rect">
            <a:avLst/>
          </a:prstGeom>
          <a:noFill/>
          <a:ln/>
        </p:spPr>
        <p:txBody>
          <a:bodyPr wrap="square" lIns="0" tIns="0" rIns="0" bIns="0" rtlCol="0" anchor="ctr"/>
          <a:lstStyle/>
          <a:p>
            <a:pPr algn="ctr"/>
            <a:r>
              <a:rPr lang="en-US" sz="555" i="1" dirty="0">
                <a:solidFill>
                  <a:srgbClr val="8C8C8C"/>
                </a:solidFill>
                <a:latin typeface="Calibri" pitchFamily="34" charset="0"/>
                <a:ea typeface="Calibri" pitchFamily="34" charset="-122"/>
                <a:cs typeface="Calibri" pitchFamily="34" charset="-120"/>
              </a:rPr>
              <a:t>[ Chart · Table · Key Metrics · Student Quotes ]</a:t>
            </a:r>
            <a:endParaRPr lang="en-US" sz="555" dirty="0"/>
          </a:p>
        </p:txBody>
      </p:sp>
      <p:sp>
        <p:nvSpPr>
          <p:cNvPr id="59" name="Shape 56">
            <a:extLst>
              <a:ext uri="{FF2B5EF4-FFF2-40B4-BE49-F238E27FC236}">
                <a16:creationId xmlns:a16="http://schemas.microsoft.com/office/drawing/2014/main" id="{95252F8A-ABC8-6356-6709-5A29E78E1143}"/>
              </a:ext>
            </a:extLst>
          </p:cNvPr>
          <p:cNvSpPr/>
          <p:nvPr/>
        </p:nvSpPr>
        <p:spPr>
          <a:xfrm>
            <a:off x="3479718" y="6153164"/>
            <a:ext cx="3247739" cy="264599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60" name="Shape 57">
            <a:extLst>
              <a:ext uri="{FF2B5EF4-FFF2-40B4-BE49-F238E27FC236}">
                <a16:creationId xmlns:a16="http://schemas.microsoft.com/office/drawing/2014/main" id="{01291D6B-31D2-669A-3EC0-3B68B671D1AF}"/>
              </a:ext>
            </a:extLst>
          </p:cNvPr>
          <p:cNvSpPr/>
          <p:nvPr/>
        </p:nvSpPr>
        <p:spPr>
          <a:xfrm>
            <a:off x="3479718" y="6153165"/>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61" name="Shape 58">
            <a:extLst>
              <a:ext uri="{FF2B5EF4-FFF2-40B4-BE49-F238E27FC236}">
                <a16:creationId xmlns:a16="http://schemas.microsoft.com/office/drawing/2014/main" id="{80AD8576-52A8-0225-6C1E-8DB1EEF29BDA}"/>
              </a:ext>
            </a:extLst>
          </p:cNvPr>
          <p:cNvSpPr/>
          <p:nvPr/>
        </p:nvSpPr>
        <p:spPr>
          <a:xfrm>
            <a:off x="3559461" y="6218410"/>
            <a:ext cx="195734" cy="195734"/>
          </a:xfrm>
          <a:prstGeom prst="ellipse">
            <a:avLst/>
          </a:prstGeom>
          <a:solidFill>
            <a:srgbClr val="46B6AE"/>
          </a:solidFill>
          <a:ln w="12700">
            <a:solidFill>
              <a:srgbClr val="46B6AE"/>
            </a:solidFill>
            <a:prstDash val="solid"/>
          </a:ln>
        </p:spPr>
        <p:txBody>
          <a:bodyPr/>
          <a:lstStyle/>
          <a:p>
            <a:endParaRPr lang="fr-FR" sz="1000"/>
          </a:p>
        </p:txBody>
      </p:sp>
      <p:sp>
        <p:nvSpPr>
          <p:cNvPr id="62" name="Text 59">
            <a:extLst>
              <a:ext uri="{FF2B5EF4-FFF2-40B4-BE49-F238E27FC236}">
                <a16:creationId xmlns:a16="http://schemas.microsoft.com/office/drawing/2014/main" id="{67B11C2D-19BC-89B9-AF24-3C894B059305}"/>
              </a:ext>
            </a:extLst>
          </p:cNvPr>
          <p:cNvSpPr/>
          <p:nvPr/>
        </p:nvSpPr>
        <p:spPr>
          <a:xfrm>
            <a:off x="3559461" y="6218410"/>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63" name="Text 60">
            <a:extLst>
              <a:ext uri="{FF2B5EF4-FFF2-40B4-BE49-F238E27FC236}">
                <a16:creationId xmlns:a16="http://schemas.microsoft.com/office/drawing/2014/main" id="{90BBBC28-A2A1-9D9D-C2AF-519D622242D8}"/>
              </a:ext>
            </a:extLst>
          </p:cNvPr>
          <p:cNvSpPr/>
          <p:nvPr/>
        </p:nvSpPr>
        <p:spPr>
          <a:xfrm>
            <a:off x="3798692" y="6218409"/>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Implications &amp; Best Practices</a:t>
            </a:r>
            <a:endParaRPr lang="en-US" sz="1200" dirty="0"/>
          </a:p>
        </p:txBody>
      </p:sp>
      <p:sp>
        <p:nvSpPr>
          <p:cNvPr id="64" name="Shape 61">
            <a:extLst>
              <a:ext uri="{FF2B5EF4-FFF2-40B4-BE49-F238E27FC236}">
                <a16:creationId xmlns:a16="http://schemas.microsoft.com/office/drawing/2014/main" id="{3784FE32-DF0B-CF0A-BA50-ECAAB5AC279C}"/>
              </a:ext>
            </a:extLst>
          </p:cNvPr>
          <p:cNvSpPr/>
          <p:nvPr/>
        </p:nvSpPr>
        <p:spPr>
          <a:xfrm>
            <a:off x="3559461" y="6428643"/>
            <a:ext cx="3088252" cy="0"/>
          </a:xfrm>
          <a:prstGeom prst="line">
            <a:avLst/>
          </a:prstGeom>
          <a:noFill/>
          <a:ln w="6350">
            <a:solidFill>
              <a:srgbClr val="E8E8E8"/>
            </a:solidFill>
            <a:prstDash val="solid"/>
          </a:ln>
        </p:spPr>
        <p:txBody>
          <a:bodyPr/>
          <a:lstStyle/>
          <a:p>
            <a:endParaRPr lang="fr-FR" sz="1200"/>
          </a:p>
        </p:txBody>
      </p:sp>
      <p:sp>
        <p:nvSpPr>
          <p:cNvPr id="65" name="Text 62">
            <a:extLst>
              <a:ext uri="{FF2B5EF4-FFF2-40B4-BE49-F238E27FC236}">
                <a16:creationId xmlns:a16="http://schemas.microsoft.com/office/drawing/2014/main" id="{8D14342C-2943-9815-DC80-2B85F12F7D3E}"/>
              </a:ext>
            </a:extLst>
          </p:cNvPr>
          <p:cNvSpPr/>
          <p:nvPr/>
        </p:nvSpPr>
        <p:spPr>
          <a:xfrm>
            <a:off x="3559461" y="6472139"/>
            <a:ext cx="3088252" cy="1188905"/>
          </a:xfrm>
          <a:prstGeom prst="rect">
            <a:avLst/>
          </a:prstGeom>
          <a:noFill/>
          <a:ln/>
        </p:spPr>
        <p:txBody>
          <a:bodyPr wrap="square" lIns="0" tIns="0" rIns="0" bIns="0" rtlCol="0" anchor="t"/>
          <a:lstStyle/>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Start </a:t>
            </a:r>
            <a:r>
              <a:rPr lang="fr-FR" sz="1000" dirty="0" err="1">
                <a:solidFill>
                  <a:srgbClr val="5A5A5A"/>
                </a:solidFill>
                <a:latin typeface="Calibri" pitchFamily="34" charset="0"/>
                <a:ea typeface="Calibri" pitchFamily="34" charset="-122"/>
                <a:cs typeface="Calibri" pitchFamily="34" charset="-120"/>
              </a:rPr>
              <a:t>with</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institutional</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alignment</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before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technical</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deployment</a:t>
            </a:r>
            <a:endParaRPr lang="fr-FR" sz="1000" dirty="0">
              <a:solidFill>
                <a:srgbClr val="5A5A5A"/>
              </a:solidFill>
              <a:latin typeface="Calibri" pitchFamily="34" charset="0"/>
              <a:ea typeface="Calibri" pitchFamily="34" charset="-122"/>
              <a:cs typeface="Calibri" pitchFamily="34" charset="-120"/>
            </a:endParaRPr>
          </a:p>
          <a:p>
            <a:pPr marL="271851"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Maintain</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human</a:t>
            </a:r>
            <a:r>
              <a:rPr lang="fr-FR" sz="1000" dirty="0">
                <a:solidFill>
                  <a:srgbClr val="5A5A5A"/>
                </a:solidFill>
                <a:latin typeface="Calibri" pitchFamily="34" charset="0"/>
                <a:ea typeface="Calibri" pitchFamily="34" charset="-122"/>
                <a:cs typeface="Calibri" pitchFamily="34" charset="-120"/>
              </a:rPr>
              <a:t>-in-the-</a:t>
            </a:r>
            <a:r>
              <a:rPr lang="fr-FR" sz="1000" dirty="0" err="1">
                <a:solidFill>
                  <a:srgbClr val="5A5A5A"/>
                </a:solidFill>
                <a:latin typeface="Calibri" pitchFamily="34" charset="0"/>
                <a:ea typeface="Calibri" pitchFamily="34" charset="-122"/>
                <a:cs typeface="Calibri" pitchFamily="34" charset="-120"/>
              </a:rPr>
              <a:t>loop</a:t>
            </a:r>
            <a:r>
              <a:rPr lang="fr-FR" sz="1000" dirty="0">
                <a:solidFill>
                  <a:srgbClr val="5A5A5A"/>
                </a:solidFill>
                <a:latin typeface="Calibri" pitchFamily="34" charset="0"/>
                <a:ea typeface="Calibri" pitchFamily="34" charset="-122"/>
                <a:cs typeface="Calibri" pitchFamily="34" charset="-120"/>
              </a:rPr>
              <a:t> for AI-</a:t>
            </a:r>
            <a:r>
              <a:rPr lang="fr-FR" sz="1000" dirty="0" err="1">
                <a:solidFill>
                  <a:srgbClr val="5A5A5A"/>
                </a:solidFill>
                <a:latin typeface="Calibri" pitchFamily="34" charset="0"/>
                <a:ea typeface="Calibri" pitchFamily="34" charset="-122"/>
                <a:cs typeface="Calibri" pitchFamily="34" charset="-120"/>
              </a:rPr>
              <a:t>based</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grading</a:t>
            </a:r>
            <a:endParaRPr lang="en-US" sz="1000" dirty="0"/>
          </a:p>
          <a:p>
            <a:pPr marL="271851"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Ensure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clear</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role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definitions</a:t>
            </a:r>
            <a:r>
              <a:rPr lang="fr-FR" sz="1000" dirty="0">
                <a:solidFill>
                  <a:srgbClr val="5A5A5A"/>
                </a:solidFill>
                <a:latin typeface="Calibri" pitchFamily="34" charset="0"/>
                <a:ea typeface="Calibri" pitchFamily="34" charset="-122"/>
                <a:cs typeface="Calibri" pitchFamily="34" charset="-120"/>
              </a:rPr>
              <a:t> and </a:t>
            </a:r>
            <a:r>
              <a:rPr lang="fr-FR" sz="1000" dirty="0" err="1">
                <a:solidFill>
                  <a:srgbClr val="5A5A5A"/>
                </a:solidFill>
                <a:latin typeface="Calibri" pitchFamily="34" charset="0"/>
                <a:ea typeface="Calibri" pitchFamily="34" charset="-122"/>
                <a:cs typeface="Calibri" pitchFamily="34" charset="-120"/>
              </a:rPr>
              <a:t>access</a:t>
            </a:r>
            <a:r>
              <a:rPr lang="fr-FR" sz="1000" dirty="0">
                <a:solidFill>
                  <a:srgbClr val="5A5A5A"/>
                </a:solidFill>
                <a:latin typeface="Calibri" pitchFamily="34" charset="0"/>
                <a:ea typeface="Calibri" pitchFamily="34" charset="-122"/>
                <a:cs typeface="Calibri" pitchFamily="34" charset="-120"/>
              </a:rPr>
              <a:t> control</a:t>
            </a:r>
          </a:p>
          <a:p>
            <a:pPr marL="271851"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Easily</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transferable</a:t>
            </a:r>
            <a:r>
              <a:rPr lang="fr-FR" sz="1000" dirty="0">
                <a:solidFill>
                  <a:srgbClr val="5A5A5A"/>
                </a:solidFill>
                <a:latin typeface="Calibri" pitchFamily="34" charset="0"/>
                <a:ea typeface="Calibri" pitchFamily="34" charset="-122"/>
                <a:cs typeface="Calibri" pitchFamily="34" charset="-120"/>
              </a:rPr>
              <a:t> to </a:t>
            </a:r>
            <a:r>
              <a:rPr lang="fr-FR" sz="1000" dirty="0" err="1">
                <a:solidFill>
                  <a:srgbClr val="5A5A5A"/>
                </a:solidFill>
                <a:latin typeface="Calibri" pitchFamily="34" charset="0"/>
                <a:ea typeface="Calibri" pitchFamily="34" charset="-122"/>
                <a:cs typeface="Calibri" pitchFamily="34" charset="-120"/>
              </a:rPr>
              <a:t>other</a:t>
            </a:r>
            <a:r>
              <a:rPr lang="fr-FR" sz="1000" dirty="0">
                <a:solidFill>
                  <a:srgbClr val="5A5A5A"/>
                </a:solidFill>
                <a:latin typeface="Calibri" pitchFamily="34" charset="0"/>
                <a:ea typeface="Calibri" pitchFamily="34" charset="-122"/>
                <a:cs typeface="Calibri" pitchFamily="34" charset="-120"/>
              </a:rPr>
              <a:t> engineering programs</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Use </a:t>
            </a:r>
            <a:r>
              <a:rPr lang="fr-FR" sz="1000" dirty="0" err="1">
                <a:solidFill>
                  <a:srgbClr val="5A5A5A"/>
                </a:solidFill>
                <a:latin typeface="Calibri" pitchFamily="34" charset="0"/>
                <a:ea typeface="Calibri" pitchFamily="34" charset="-122"/>
                <a:cs typeface="Calibri" pitchFamily="34" charset="-120"/>
              </a:rPr>
              <a:t>dashboards</a:t>
            </a:r>
            <a:r>
              <a:rPr lang="fr-FR" sz="1000" dirty="0">
                <a:solidFill>
                  <a:srgbClr val="5A5A5A"/>
                </a:solidFill>
                <a:latin typeface="Calibri" pitchFamily="34" charset="0"/>
                <a:ea typeface="Calibri" pitchFamily="34" charset="-122"/>
                <a:cs typeface="Calibri" pitchFamily="34" charset="-120"/>
              </a:rPr>
              <a:t> ti support </a:t>
            </a:r>
            <a:r>
              <a:rPr lang="fr-FR" sz="1000" dirty="0" err="1">
                <a:solidFill>
                  <a:srgbClr val="5A5A5A"/>
                </a:solidFill>
                <a:latin typeface="Calibri" pitchFamily="34" charset="0"/>
                <a:ea typeface="Calibri" pitchFamily="34" charset="-122"/>
                <a:cs typeface="Calibri" pitchFamily="34" charset="-120"/>
              </a:rPr>
              <a:t>both</a:t>
            </a:r>
            <a:r>
              <a:rPr lang="fr-FR" sz="1000" dirty="0">
                <a:solidFill>
                  <a:srgbClr val="5A5A5A"/>
                </a:solidFill>
                <a:latin typeface="Calibri" pitchFamily="34" charset="0"/>
                <a:ea typeface="Calibri" pitchFamily="34" charset="-122"/>
                <a:cs typeface="Calibri" pitchFamily="34" charset="-120"/>
              </a:rPr>
              <a:t> formative and </a:t>
            </a:r>
            <a:r>
              <a:rPr lang="fr-FR" sz="1000" dirty="0" err="1">
                <a:solidFill>
                  <a:srgbClr val="5A5A5A"/>
                </a:solidFill>
                <a:latin typeface="Calibri" pitchFamily="34" charset="0"/>
                <a:ea typeface="Calibri" pitchFamily="34" charset="-122"/>
                <a:cs typeface="Calibri" pitchFamily="34" charset="-120"/>
              </a:rPr>
              <a:t>summative</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assessement</a:t>
            </a:r>
            <a:endParaRPr lang="fr-FR" sz="1000" dirty="0">
              <a:solidFill>
                <a:srgbClr val="5A5A5A"/>
              </a:solidFill>
              <a:latin typeface="Calibri" pitchFamily="34" charset="0"/>
              <a:ea typeface="Calibri" pitchFamily="34" charset="-122"/>
              <a:cs typeface="Calibri" pitchFamily="34" charset="-120"/>
            </a:endParaRP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Design for </a:t>
            </a:r>
            <a:r>
              <a:rPr lang="fr-FR" sz="1000" dirty="0" err="1">
                <a:solidFill>
                  <a:srgbClr val="5A5A5A"/>
                </a:solidFill>
                <a:latin typeface="Calibri" pitchFamily="34" charset="0"/>
                <a:ea typeface="Calibri" pitchFamily="34" charset="-122"/>
                <a:cs typeface="Calibri" pitchFamily="34" charset="-120"/>
              </a:rPr>
              <a:t>scalability</a:t>
            </a:r>
            <a:r>
              <a:rPr lang="fr-FR" sz="1000" dirty="0">
                <a:solidFill>
                  <a:srgbClr val="5A5A5A"/>
                </a:solidFill>
                <a:latin typeface="Calibri" pitchFamily="34" charset="0"/>
                <a:ea typeface="Calibri" pitchFamily="34" charset="-122"/>
                <a:cs typeface="Calibri" pitchFamily="34" charset="-120"/>
              </a:rPr>
              <a:t> , </a:t>
            </a:r>
            <a:r>
              <a:rPr lang="fr-FR" sz="1000" dirty="0" err="1">
                <a:solidFill>
                  <a:srgbClr val="5A5A5A"/>
                </a:solidFill>
                <a:latin typeface="Calibri" pitchFamily="34" charset="0"/>
                <a:ea typeface="Calibri" pitchFamily="34" charset="-122"/>
                <a:cs typeface="Calibri" pitchFamily="34" charset="-120"/>
              </a:rPr>
              <a:t>especially</a:t>
            </a:r>
            <a:r>
              <a:rPr lang="fr-FR" sz="1000" dirty="0">
                <a:solidFill>
                  <a:srgbClr val="5A5A5A"/>
                </a:solidFill>
                <a:latin typeface="Calibri" pitchFamily="34" charset="0"/>
                <a:ea typeface="Calibri" pitchFamily="34" charset="-122"/>
                <a:cs typeface="Calibri" pitchFamily="34" charset="-120"/>
              </a:rPr>
              <a:t> in programmes </a:t>
            </a:r>
            <a:r>
              <a:rPr lang="fr-FR" sz="1000" dirty="0" err="1">
                <a:solidFill>
                  <a:srgbClr val="5A5A5A"/>
                </a:solidFill>
                <a:latin typeface="Calibri" pitchFamily="34" charset="0"/>
                <a:ea typeface="Calibri" pitchFamily="34" charset="-122"/>
                <a:cs typeface="Calibri" pitchFamily="34" charset="-120"/>
              </a:rPr>
              <a:t>with</a:t>
            </a:r>
            <a:r>
              <a:rPr lang="fr-FR" sz="1000" dirty="0">
                <a:solidFill>
                  <a:srgbClr val="5A5A5A"/>
                </a:solidFill>
                <a:latin typeface="Calibri" pitchFamily="34" charset="0"/>
                <a:ea typeface="Calibri" pitchFamily="34" charset="-122"/>
                <a:cs typeface="Calibri" pitchFamily="34" charset="-120"/>
              </a:rPr>
              <a:t> large </a:t>
            </a:r>
            <a:r>
              <a:rPr lang="fr-FR" sz="1000" dirty="0" err="1">
                <a:solidFill>
                  <a:srgbClr val="5A5A5A"/>
                </a:solidFill>
                <a:latin typeface="Calibri" pitchFamily="34" charset="0"/>
                <a:ea typeface="Calibri" pitchFamily="34" charset="-122"/>
                <a:cs typeface="Calibri" pitchFamily="34" charset="-120"/>
              </a:rPr>
              <a:t>numbers</a:t>
            </a:r>
            <a:r>
              <a:rPr lang="fr-FR" sz="1000" dirty="0">
                <a:solidFill>
                  <a:srgbClr val="5A5A5A"/>
                </a:solidFill>
                <a:latin typeface="Calibri" pitchFamily="34" charset="0"/>
                <a:ea typeface="Calibri" pitchFamily="34" charset="-122"/>
                <a:cs typeface="Calibri" pitchFamily="34" charset="-120"/>
              </a:rPr>
              <a:t> of </a:t>
            </a:r>
            <a:r>
              <a:rPr lang="fr-FR" sz="1000" dirty="0" err="1">
                <a:solidFill>
                  <a:srgbClr val="5A5A5A"/>
                </a:solidFill>
                <a:latin typeface="Calibri" pitchFamily="34" charset="0"/>
                <a:ea typeface="Calibri" pitchFamily="34" charset="-122"/>
                <a:cs typeface="Calibri" pitchFamily="34" charset="-120"/>
              </a:rPr>
              <a:t>project-based</a:t>
            </a:r>
            <a:r>
              <a:rPr lang="fr-FR" sz="1000" dirty="0">
                <a:solidFill>
                  <a:srgbClr val="5A5A5A"/>
                </a:solidFill>
                <a:latin typeface="Calibri" pitchFamily="34" charset="0"/>
                <a:ea typeface="Calibri" pitchFamily="34" charset="-122"/>
                <a:cs typeface="Calibri" pitchFamily="34" charset="-120"/>
              </a:rPr>
              <a:t> courses</a:t>
            </a:r>
          </a:p>
        </p:txBody>
      </p:sp>
      <p:sp>
        <p:nvSpPr>
          <p:cNvPr id="66" name="Shape 63">
            <a:extLst>
              <a:ext uri="{FF2B5EF4-FFF2-40B4-BE49-F238E27FC236}">
                <a16:creationId xmlns:a16="http://schemas.microsoft.com/office/drawing/2014/main" id="{CD76640F-4FE6-C1C6-4764-1863ABCABC74}"/>
              </a:ext>
            </a:extLst>
          </p:cNvPr>
          <p:cNvSpPr/>
          <p:nvPr/>
        </p:nvSpPr>
        <p:spPr>
          <a:xfrm>
            <a:off x="130488" y="8929646"/>
            <a:ext cx="3247739" cy="1564219"/>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67" name="Shape 64">
            <a:extLst>
              <a:ext uri="{FF2B5EF4-FFF2-40B4-BE49-F238E27FC236}">
                <a16:creationId xmlns:a16="http://schemas.microsoft.com/office/drawing/2014/main" id="{F7387481-CEDD-96AE-90C7-9F3F50559619}"/>
              </a:ext>
            </a:extLst>
          </p:cNvPr>
          <p:cNvSpPr/>
          <p:nvPr/>
        </p:nvSpPr>
        <p:spPr>
          <a:xfrm>
            <a:off x="130488" y="892964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600"/>
          </a:p>
        </p:txBody>
      </p:sp>
      <p:sp>
        <p:nvSpPr>
          <p:cNvPr id="68" name="Shape 65">
            <a:extLst>
              <a:ext uri="{FF2B5EF4-FFF2-40B4-BE49-F238E27FC236}">
                <a16:creationId xmlns:a16="http://schemas.microsoft.com/office/drawing/2014/main" id="{1B620EE5-1283-3A42-F394-82BC3924A014}"/>
              </a:ext>
            </a:extLst>
          </p:cNvPr>
          <p:cNvSpPr/>
          <p:nvPr/>
        </p:nvSpPr>
        <p:spPr>
          <a:xfrm>
            <a:off x="210231" y="8994892"/>
            <a:ext cx="195734" cy="195734"/>
          </a:xfrm>
          <a:prstGeom prst="ellipse">
            <a:avLst/>
          </a:prstGeom>
          <a:solidFill>
            <a:srgbClr val="46B6AE"/>
          </a:solidFill>
          <a:ln w="12700">
            <a:solidFill>
              <a:srgbClr val="46B6AE"/>
            </a:solidFill>
            <a:prstDash val="solid"/>
          </a:ln>
        </p:spPr>
        <p:txBody>
          <a:bodyPr/>
          <a:lstStyle/>
          <a:p>
            <a:endParaRPr lang="fr-FR" sz="2400"/>
          </a:p>
        </p:txBody>
      </p:sp>
      <p:sp>
        <p:nvSpPr>
          <p:cNvPr id="69" name="Text 66">
            <a:extLst>
              <a:ext uri="{FF2B5EF4-FFF2-40B4-BE49-F238E27FC236}">
                <a16:creationId xmlns:a16="http://schemas.microsoft.com/office/drawing/2014/main" id="{AF7AD5C0-C3AC-3D84-9D4D-5B98DE9067BA}"/>
              </a:ext>
            </a:extLst>
          </p:cNvPr>
          <p:cNvSpPr/>
          <p:nvPr/>
        </p:nvSpPr>
        <p:spPr>
          <a:xfrm>
            <a:off x="210231" y="8994892"/>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70" name="Text 67">
            <a:extLst>
              <a:ext uri="{FF2B5EF4-FFF2-40B4-BE49-F238E27FC236}">
                <a16:creationId xmlns:a16="http://schemas.microsoft.com/office/drawing/2014/main" id="{31684F13-685D-3CFC-FF04-2EA783A6C731}"/>
              </a:ext>
            </a:extLst>
          </p:cNvPr>
          <p:cNvSpPr/>
          <p:nvPr/>
        </p:nvSpPr>
        <p:spPr>
          <a:xfrm>
            <a:off x="449462" y="8994891"/>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Ethical &amp; Responsible AI Considerations</a:t>
            </a:r>
            <a:endParaRPr lang="en-US" sz="1200" dirty="0"/>
          </a:p>
        </p:txBody>
      </p:sp>
      <p:sp>
        <p:nvSpPr>
          <p:cNvPr id="71" name="Shape 68">
            <a:extLst>
              <a:ext uri="{FF2B5EF4-FFF2-40B4-BE49-F238E27FC236}">
                <a16:creationId xmlns:a16="http://schemas.microsoft.com/office/drawing/2014/main" id="{F9A2A931-AE46-36DB-9204-54B98CD268FE}"/>
              </a:ext>
            </a:extLst>
          </p:cNvPr>
          <p:cNvSpPr/>
          <p:nvPr/>
        </p:nvSpPr>
        <p:spPr>
          <a:xfrm>
            <a:off x="210231" y="9205125"/>
            <a:ext cx="3088252" cy="0"/>
          </a:xfrm>
          <a:prstGeom prst="line">
            <a:avLst/>
          </a:prstGeom>
          <a:noFill/>
          <a:ln w="6350">
            <a:solidFill>
              <a:srgbClr val="E8E8E8"/>
            </a:solidFill>
            <a:prstDash val="solid"/>
          </a:ln>
        </p:spPr>
        <p:txBody>
          <a:bodyPr/>
          <a:lstStyle/>
          <a:p>
            <a:endParaRPr lang="fr-FR" sz="2400"/>
          </a:p>
        </p:txBody>
      </p:sp>
      <p:sp>
        <p:nvSpPr>
          <p:cNvPr id="72" name="Text 69">
            <a:extLst>
              <a:ext uri="{FF2B5EF4-FFF2-40B4-BE49-F238E27FC236}">
                <a16:creationId xmlns:a16="http://schemas.microsoft.com/office/drawing/2014/main" id="{2C88BC09-3908-0ED0-61BB-6C91AD856589}"/>
              </a:ext>
            </a:extLst>
          </p:cNvPr>
          <p:cNvSpPr/>
          <p:nvPr/>
        </p:nvSpPr>
        <p:spPr>
          <a:xfrm>
            <a:off x="210231" y="9366392"/>
            <a:ext cx="3081003" cy="608951"/>
          </a:xfrm>
          <a:prstGeom prst="rect">
            <a:avLst/>
          </a:prstGeom>
          <a:noFill/>
          <a:ln/>
        </p:spPr>
        <p:txBody>
          <a:bodyPr wrap="square" lIns="0" tIns="0" rIns="0" bIns="0" rtlCol="0" anchor="t"/>
          <a:lstStyle/>
          <a:p>
            <a:pPr marL="271851" lvl="0"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AI </a:t>
            </a:r>
            <a:r>
              <a:rPr lang="fr-FR" sz="1000" dirty="0" err="1">
                <a:solidFill>
                  <a:srgbClr val="5A5A5A"/>
                </a:solidFill>
                <a:latin typeface="Calibri" pitchFamily="34" charset="0"/>
                <a:ea typeface="Calibri" pitchFamily="34" charset="-122"/>
                <a:cs typeface="Calibri" pitchFamily="34" charset="-120"/>
              </a:rPr>
              <a:t>provides</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recommendations</a:t>
            </a:r>
            <a:r>
              <a:rPr lang="fr-FR" sz="1000" dirty="0">
                <a:solidFill>
                  <a:srgbClr val="5A5A5A"/>
                </a:solidFill>
                <a:latin typeface="Calibri" pitchFamily="34" charset="0"/>
                <a:ea typeface="Calibri" pitchFamily="34" charset="-122"/>
                <a:cs typeface="Calibri" pitchFamily="34" charset="-120"/>
              </a:rPr>
              <a:t>, not final grades</a:t>
            </a:r>
          </a:p>
          <a:p>
            <a:pPr marL="271851" lvl="0" indent="-271851" algn="just">
              <a:spcAft>
                <a:spcPts val="159"/>
              </a:spcAft>
              <a:buSzPct val="100000"/>
              <a:buFontTx/>
              <a:buChar char="•"/>
            </a:pPr>
            <a:r>
              <a:rPr lang="fr-FR" sz="1000" dirty="0" err="1">
                <a:solidFill>
                  <a:srgbClr val="5A5A5A"/>
                </a:solidFill>
                <a:latin typeface="Calibri" pitchFamily="34" charset="0"/>
                <a:ea typeface="Calibri" pitchFamily="34" charset="-122"/>
                <a:cs typeface="Calibri" pitchFamily="34" charset="-120"/>
              </a:rPr>
              <a:t>Transparency</a:t>
            </a:r>
            <a:r>
              <a:rPr lang="fr-FR" sz="1000" dirty="0">
                <a:solidFill>
                  <a:srgbClr val="5A5A5A"/>
                </a:solidFill>
                <a:latin typeface="Calibri" pitchFamily="34" charset="0"/>
                <a:ea typeface="Calibri" pitchFamily="34" charset="-122"/>
                <a:cs typeface="Calibri" pitchFamily="34" charset="-120"/>
              </a:rPr>
              <a:t> in </a:t>
            </a:r>
            <a:r>
              <a:rPr lang="fr-FR" sz="1000" dirty="0" err="1">
                <a:solidFill>
                  <a:srgbClr val="5A5A5A"/>
                </a:solidFill>
                <a:latin typeface="Calibri" pitchFamily="34" charset="0"/>
                <a:ea typeface="Calibri" pitchFamily="34" charset="-122"/>
                <a:cs typeface="Calibri" pitchFamily="34" charset="-120"/>
              </a:rPr>
              <a:t>evaluation</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criteria</a:t>
            </a:r>
            <a:r>
              <a:rPr lang="fr-FR" sz="1000" dirty="0">
                <a:solidFill>
                  <a:srgbClr val="5A5A5A"/>
                </a:solidFill>
                <a:latin typeface="Calibri" pitchFamily="34" charset="0"/>
                <a:ea typeface="Calibri" pitchFamily="34" charset="-122"/>
                <a:cs typeface="Calibri" pitchFamily="34" charset="-120"/>
              </a:rPr>
              <a:t> and data usage</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Protection of </a:t>
            </a:r>
            <a:r>
              <a:rPr lang="fr-FR" sz="1000" dirty="0" err="1">
                <a:solidFill>
                  <a:srgbClr val="5A5A5A"/>
                </a:solidFill>
                <a:latin typeface="Calibri" pitchFamily="34" charset="0"/>
                <a:ea typeface="Calibri" pitchFamily="34" charset="-122"/>
                <a:cs typeface="Calibri" pitchFamily="34" charset="-120"/>
              </a:rPr>
              <a:t>student</a:t>
            </a:r>
            <a:r>
              <a:rPr lang="fr-FR" sz="1000" dirty="0">
                <a:solidFill>
                  <a:srgbClr val="5A5A5A"/>
                </a:solidFill>
                <a:latin typeface="Calibri" pitchFamily="34" charset="0"/>
                <a:ea typeface="Calibri" pitchFamily="34" charset="-122"/>
                <a:cs typeface="Calibri" pitchFamily="34" charset="-120"/>
              </a:rPr>
              <a:t> data and </a:t>
            </a:r>
            <a:r>
              <a:rPr lang="fr-FR" sz="1000" dirty="0" err="1">
                <a:solidFill>
                  <a:srgbClr val="5A5A5A"/>
                </a:solidFill>
                <a:latin typeface="Calibri" pitchFamily="34" charset="0"/>
                <a:ea typeface="Calibri" pitchFamily="34" charset="-122"/>
                <a:cs typeface="Calibri" pitchFamily="34" charset="-120"/>
              </a:rPr>
              <a:t>privacy</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internal</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hosting</a:t>
            </a:r>
            <a:r>
              <a:rPr lang="fr-FR" sz="1000" dirty="0">
                <a:solidFill>
                  <a:srgbClr val="5A5A5A"/>
                </a:solidFill>
                <a:latin typeface="Calibri" pitchFamily="34" charset="0"/>
                <a:ea typeface="Calibri" pitchFamily="34" charset="-122"/>
                <a:cs typeface="Calibri" pitchFamily="34" charset="-120"/>
              </a:rPr>
              <a:t>)</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Mitigation of </a:t>
            </a:r>
            <a:r>
              <a:rPr lang="fr-FR" sz="1000" dirty="0" err="1">
                <a:solidFill>
                  <a:srgbClr val="5A5A5A"/>
                </a:solidFill>
                <a:latin typeface="Calibri" pitchFamily="34" charset="0"/>
                <a:ea typeface="Calibri" pitchFamily="34" charset="-122"/>
                <a:cs typeface="Calibri" pitchFamily="34" charset="-120"/>
              </a:rPr>
              <a:t>bias</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through</a:t>
            </a:r>
            <a:r>
              <a:rPr lang="fr-FR" sz="1000" dirty="0">
                <a:solidFill>
                  <a:srgbClr val="5A5A5A"/>
                </a:solidFill>
                <a:latin typeface="Calibri" pitchFamily="34" charset="0"/>
                <a:ea typeface="Calibri" pitchFamily="34" charset="-122"/>
                <a:cs typeface="Calibri" pitchFamily="34" charset="-120"/>
              </a:rPr>
              <a:t> </a:t>
            </a:r>
            <a:r>
              <a:rPr lang="fr-FR" sz="1000" dirty="0" err="1">
                <a:solidFill>
                  <a:srgbClr val="5A5A5A"/>
                </a:solidFill>
                <a:latin typeface="Calibri" pitchFamily="34" charset="0"/>
                <a:ea typeface="Calibri" pitchFamily="34" charset="-122"/>
                <a:cs typeface="Calibri" pitchFamily="34" charset="-120"/>
              </a:rPr>
              <a:t>teacher</a:t>
            </a:r>
            <a:r>
              <a:rPr lang="fr-FR" sz="1000" dirty="0">
                <a:solidFill>
                  <a:srgbClr val="5A5A5A"/>
                </a:solidFill>
                <a:latin typeface="Calibri" pitchFamily="34" charset="0"/>
                <a:ea typeface="Calibri" pitchFamily="34" charset="-122"/>
                <a:cs typeface="Calibri" pitchFamily="34" charset="-120"/>
              </a:rPr>
              <a:t> validation</a:t>
            </a:r>
          </a:p>
          <a:p>
            <a:pPr marL="271851" indent="-271851" algn="just">
              <a:spcAft>
                <a:spcPts val="159"/>
              </a:spcAft>
              <a:buSzPct val="100000"/>
              <a:buFontTx/>
              <a:buChar char="•"/>
            </a:pPr>
            <a:r>
              <a:rPr lang="fr-FR" sz="1000" dirty="0">
                <a:solidFill>
                  <a:srgbClr val="5A5A5A"/>
                </a:solidFill>
                <a:latin typeface="Calibri" pitchFamily="34" charset="0"/>
                <a:ea typeface="Calibri" pitchFamily="34" charset="-122"/>
                <a:cs typeface="Calibri" pitchFamily="34" charset="-120"/>
              </a:rPr>
              <a:t>Clear communication and consent </a:t>
            </a:r>
            <a:r>
              <a:rPr lang="fr-FR" sz="1000" dirty="0" err="1">
                <a:solidFill>
                  <a:srgbClr val="5A5A5A"/>
                </a:solidFill>
                <a:latin typeface="Calibri" pitchFamily="34" charset="0"/>
                <a:ea typeface="Calibri" pitchFamily="34" charset="-122"/>
                <a:cs typeface="Calibri" pitchFamily="34" charset="-120"/>
              </a:rPr>
              <a:t>regarding</a:t>
            </a:r>
            <a:r>
              <a:rPr lang="fr-FR" sz="1000" dirty="0">
                <a:solidFill>
                  <a:srgbClr val="5A5A5A"/>
                </a:solidFill>
                <a:latin typeface="Calibri" pitchFamily="34" charset="0"/>
                <a:ea typeface="Calibri" pitchFamily="34" charset="-122"/>
                <a:cs typeface="Calibri" pitchFamily="34" charset="-120"/>
              </a:rPr>
              <a:t> AI use</a:t>
            </a:r>
          </a:p>
        </p:txBody>
      </p:sp>
      <p:sp>
        <p:nvSpPr>
          <p:cNvPr id="73" name="Shape 70">
            <a:extLst>
              <a:ext uri="{FF2B5EF4-FFF2-40B4-BE49-F238E27FC236}">
                <a16:creationId xmlns:a16="http://schemas.microsoft.com/office/drawing/2014/main" id="{6F022752-781E-FC89-A201-A451FF03E3EB}"/>
              </a:ext>
            </a:extLst>
          </p:cNvPr>
          <p:cNvSpPr/>
          <p:nvPr/>
        </p:nvSpPr>
        <p:spPr>
          <a:xfrm>
            <a:off x="3479719" y="8929646"/>
            <a:ext cx="3247739" cy="1564219"/>
          </a:xfrm>
          <a:prstGeom prst="rect">
            <a:avLst/>
          </a:prstGeom>
          <a:noFill/>
          <a:ln w="12700">
            <a:noFill/>
            <a:prstDash val="solid"/>
          </a:ln>
          <a:effectLst>
            <a:outerShdw blurRad="63500" dist="12700" dir="8100000" algn="bl" rotWithShape="0">
              <a:srgbClr val="000000">
                <a:alpha val="6000"/>
              </a:srgbClr>
            </a:outerShdw>
          </a:effectLst>
        </p:spPr>
        <p:txBody>
          <a:bodyPr/>
          <a:lstStyle/>
          <a:p>
            <a:endParaRPr lang="fr-FR" sz="1427"/>
          </a:p>
        </p:txBody>
      </p:sp>
      <p:sp>
        <p:nvSpPr>
          <p:cNvPr id="74" name="Shape 71">
            <a:extLst>
              <a:ext uri="{FF2B5EF4-FFF2-40B4-BE49-F238E27FC236}">
                <a16:creationId xmlns:a16="http://schemas.microsoft.com/office/drawing/2014/main" id="{FBDF4FA3-4CE2-402F-C771-5F6A4BB41E27}"/>
              </a:ext>
            </a:extLst>
          </p:cNvPr>
          <p:cNvSpPr/>
          <p:nvPr/>
        </p:nvSpPr>
        <p:spPr>
          <a:xfrm>
            <a:off x="3479719" y="892964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600"/>
          </a:p>
        </p:txBody>
      </p:sp>
      <p:sp>
        <p:nvSpPr>
          <p:cNvPr id="75" name="Shape 72">
            <a:extLst>
              <a:ext uri="{FF2B5EF4-FFF2-40B4-BE49-F238E27FC236}">
                <a16:creationId xmlns:a16="http://schemas.microsoft.com/office/drawing/2014/main" id="{554A253A-AD44-5EDD-8A53-C83E46DC34C7}"/>
              </a:ext>
            </a:extLst>
          </p:cNvPr>
          <p:cNvSpPr/>
          <p:nvPr/>
        </p:nvSpPr>
        <p:spPr>
          <a:xfrm>
            <a:off x="3559462" y="8994892"/>
            <a:ext cx="195734" cy="195734"/>
          </a:xfrm>
          <a:prstGeom prst="ellipse">
            <a:avLst/>
          </a:prstGeom>
          <a:solidFill>
            <a:srgbClr val="FFFFFF"/>
          </a:solidFill>
          <a:ln w="12700">
            <a:solidFill>
              <a:srgbClr val="FFFFFF"/>
            </a:solidFill>
            <a:prstDash val="solid"/>
          </a:ln>
        </p:spPr>
        <p:txBody>
          <a:bodyPr/>
          <a:lstStyle/>
          <a:p>
            <a:endParaRPr lang="fr-FR" sz="2400"/>
          </a:p>
        </p:txBody>
      </p:sp>
      <p:sp>
        <p:nvSpPr>
          <p:cNvPr id="76" name="Text 73">
            <a:extLst>
              <a:ext uri="{FF2B5EF4-FFF2-40B4-BE49-F238E27FC236}">
                <a16:creationId xmlns:a16="http://schemas.microsoft.com/office/drawing/2014/main" id="{986379DE-EE7C-4C67-BF8B-3814DDF8B284}"/>
              </a:ext>
            </a:extLst>
          </p:cNvPr>
          <p:cNvSpPr/>
          <p:nvPr/>
        </p:nvSpPr>
        <p:spPr>
          <a:xfrm>
            <a:off x="3559462" y="8994892"/>
            <a:ext cx="195734" cy="195734"/>
          </a:xfrm>
          <a:prstGeom prst="rect">
            <a:avLst/>
          </a:prstGeom>
          <a:noFill/>
          <a:ln/>
        </p:spPr>
        <p:txBody>
          <a:bodyPr wrap="square" lIns="0" tIns="0" rIns="0" bIns="0" rtlCol="0" anchor="ctr"/>
          <a:lstStyle/>
          <a:p>
            <a:pPr algn="ctr"/>
            <a:r>
              <a:rPr lang="en-US" sz="1000" b="1" dirty="0">
                <a:solidFill>
                  <a:srgbClr val="C8102E"/>
                </a:solidFill>
                <a:latin typeface="Calibri" pitchFamily="34" charset="0"/>
                <a:ea typeface="Calibri" pitchFamily="34" charset="-122"/>
                <a:cs typeface="Calibri" pitchFamily="34" charset="-120"/>
              </a:rPr>
              <a:t>8</a:t>
            </a:r>
            <a:endParaRPr lang="en-US" sz="1000" dirty="0"/>
          </a:p>
        </p:txBody>
      </p:sp>
      <p:sp>
        <p:nvSpPr>
          <p:cNvPr id="77" name="Text 74">
            <a:extLst>
              <a:ext uri="{FF2B5EF4-FFF2-40B4-BE49-F238E27FC236}">
                <a16:creationId xmlns:a16="http://schemas.microsoft.com/office/drawing/2014/main" id="{33747A0D-AF99-CD1F-BF85-E91E1E1B0FC5}"/>
              </a:ext>
            </a:extLst>
          </p:cNvPr>
          <p:cNvSpPr/>
          <p:nvPr/>
        </p:nvSpPr>
        <p:spPr>
          <a:xfrm>
            <a:off x="3798693" y="8994891"/>
            <a:ext cx="2841772" cy="202984"/>
          </a:xfrm>
          <a:prstGeom prst="rect">
            <a:avLst/>
          </a:prstGeom>
          <a:noFill/>
          <a:ln/>
        </p:spPr>
        <p:txBody>
          <a:bodyPr wrap="square" lIns="0" tIns="0" rIns="0" bIns="0" rtlCol="0" anchor="ctr"/>
          <a:lstStyle/>
          <a:p>
            <a:r>
              <a:rPr lang="en-US" sz="1200" b="1" dirty="0">
                <a:latin typeface="Calibri" pitchFamily="34" charset="0"/>
                <a:ea typeface="Calibri" pitchFamily="34" charset="-122"/>
                <a:cs typeface="Calibri" pitchFamily="34" charset="-120"/>
              </a:rPr>
              <a:t>Key Takeaways</a:t>
            </a:r>
            <a:endParaRPr lang="en-US" sz="1200" dirty="0"/>
          </a:p>
        </p:txBody>
      </p:sp>
      <p:sp>
        <p:nvSpPr>
          <p:cNvPr id="78" name="Shape 75">
            <a:extLst>
              <a:ext uri="{FF2B5EF4-FFF2-40B4-BE49-F238E27FC236}">
                <a16:creationId xmlns:a16="http://schemas.microsoft.com/office/drawing/2014/main" id="{1B6FB78A-D728-4076-2E3A-CE2CA1D90A18}"/>
              </a:ext>
            </a:extLst>
          </p:cNvPr>
          <p:cNvSpPr/>
          <p:nvPr/>
        </p:nvSpPr>
        <p:spPr>
          <a:xfrm>
            <a:off x="3559462" y="9205125"/>
            <a:ext cx="3088252" cy="0"/>
          </a:xfrm>
          <a:prstGeom prst="line">
            <a:avLst/>
          </a:prstGeom>
          <a:noFill/>
          <a:ln w="6350">
            <a:solidFill>
              <a:srgbClr val="E08080"/>
            </a:solidFill>
            <a:prstDash val="solid"/>
          </a:ln>
        </p:spPr>
        <p:txBody>
          <a:bodyPr/>
          <a:lstStyle/>
          <a:p>
            <a:endParaRPr lang="fr-FR" sz="2400"/>
          </a:p>
        </p:txBody>
      </p:sp>
      <p:sp>
        <p:nvSpPr>
          <p:cNvPr id="79" name="Text 76">
            <a:extLst>
              <a:ext uri="{FF2B5EF4-FFF2-40B4-BE49-F238E27FC236}">
                <a16:creationId xmlns:a16="http://schemas.microsoft.com/office/drawing/2014/main" id="{29892352-1C89-375A-DD40-FB23DB579289}"/>
              </a:ext>
            </a:extLst>
          </p:cNvPr>
          <p:cNvSpPr/>
          <p:nvPr/>
        </p:nvSpPr>
        <p:spPr>
          <a:xfrm>
            <a:off x="3559462" y="9281946"/>
            <a:ext cx="3081002" cy="608951"/>
          </a:xfrm>
          <a:prstGeom prst="rect">
            <a:avLst/>
          </a:prstGeom>
          <a:noFill/>
          <a:ln/>
        </p:spPr>
        <p:txBody>
          <a:bodyPr wrap="square" lIns="0" tIns="0" rIns="0" bIns="0" rtlCol="0" anchor="t"/>
          <a:lstStyle/>
          <a:p>
            <a:pPr algn="just">
              <a:spcAft>
                <a:spcPts val="159"/>
              </a:spcAft>
            </a:pPr>
            <a:r>
              <a:rPr lang="en-US" sz="800" b="1" dirty="0">
                <a:latin typeface="Calibri" pitchFamily="34" charset="0"/>
                <a:ea typeface="Calibri" pitchFamily="34" charset="-122"/>
                <a:cs typeface="Calibri" pitchFamily="34" charset="-120"/>
              </a:rPr>
              <a:t>🔑 </a:t>
            </a:r>
            <a:r>
              <a:rPr lang="fr-FR" sz="800" b="1" dirty="0" err="1">
                <a:latin typeface="Calibri" panose="020F0502020204030204" pitchFamily="34" charset="0"/>
                <a:ea typeface="Calibri" panose="020F0502020204030204" pitchFamily="34" charset="0"/>
                <a:cs typeface="Calibri" panose="020F0502020204030204" pitchFamily="34" charset="0"/>
              </a:rPr>
              <a:t>EspriHub</a:t>
            </a:r>
            <a:r>
              <a:rPr lang="fr-FR" sz="800" b="1" dirty="0">
                <a:latin typeface="Calibri" panose="020F0502020204030204" pitchFamily="34" charset="0"/>
                <a:ea typeface="Calibri" panose="020F0502020204030204" pitchFamily="34" charset="0"/>
                <a:cs typeface="Calibri" panose="020F0502020204030204" pitchFamily="34" charset="0"/>
              </a:rPr>
              <a:t> shows how AI </a:t>
            </a:r>
            <a:r>
              <a:rPr lang="fr-FR" sz="800" b="1" dirty="0" err="1">
                <a:latin typeface="Calibri" panose="020F0502020204030204" pitchFamily="34" charset="0"/>
                <a:ea typeface="Calibri" panose="020F0502020204030204" pitchFamily="34" charset="0"/>
                <a:cs typeface="Calibri" panose="020F0502020204030204" pitchFamily="34" charset="0"/>
              </a:rPr>
              <a:t>may</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significantly</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improve</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academic</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assessment</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without</a:t>
            </a:r>
            <a:r>
              <a:rPr lang="fr-FR" sz="800" b="1" dirty="0">
                <a:latin typeface="Calibri" panose="020F0502020204030204" pitchFamily="34" charset="0"/>
                <a:ea typeface="Calibri" panose="020F0502020204030204" pitchFamily="34" charset="0"/>
                <a:cs typeface="Calibri" panose="020F0502020204030204" pitchFamily="34" charset="0"/>
              </a:rPr>
              <a:t> </a:t>
            </a:r>
            <a:r>
              <a:rPr lang="fr-FR" sz="800" b="1" dirty="0" err="1">
                <a:latin typeface="Calibri" panose="020F0502020204030204" pitchFamily="34" charset="0"/>
                <a:ea typeface="Calibri" panose="020F0502020204030204" pitchFamily="34" charset="0"/>
                <a:cs typeface="Calibri" panose="020F0502020204030204" pitchFamily="34" charset="0"/>
              </a:rPr>
              <a:t>taking</a:t>
            </a:r>
            <a:r>
              <a:rPr lang="fr-FR" sz="800" b="1" dirty="0">
                <a:latin typeface="Calibri" panose="020F0502020204030204" pitchFamily="34" charset="0"/>
                <a:ea typeface="Calibri" panose="020F0502020204030204" pitchFamily="34" charset="0"/>
                <a:cs typeface="Calibri" panose="020F0502020204030204" pitchFamily="34" charset="0"/>
              </a:rPr>
              <a:t> the place of </a:t>
            </a:r>
            <a:r>
              <a:rPr lang="fr-FR" sz="800" b="1" dirty="0" err="1">
                <a:latin typeface="Calibri" panose="020F0502020204030204" pitchFamily="34" charset="0"/>
                <a:ea typeface="Calibri" panose="020F0502020204030204" pitchFamily="34" charset="0"/>
                <a:cs typeface="Calibri" panose="020F0502020204030204" pitchFamily="34" charset="0"/>
              </a:rPr>
              <a:t>teachers</a:t>
            </a:r>
            <a:endParaRPr lang="fr-FR" sz="800" b="1" dirty="0">
              <a:latin typeface="Calibri" panose="020F0502020204030204" pitchFamily="34" charset="0"/>
              <a:ea typeface="Calibri" panose="020F0502020204030204" pitchFamily="34" charset="0"/>
              <a:cs typeface="Calibri" panose="020F0502020204030204" pitchFamily="34" charset="0"/>
            </a:endParaRPr>
          </a:p>
          <a:p>
            <a:pPr algn="just">
              <a:spcAft>
                <a:spcPts val="159"/>
              </a:spcAft>
            </a:pPr>
            <a:endParaRPr lang="fr-FR" sz="800" b="1" dirty="0">
              <a:latin typeface="Calibri" panose="020F0502020204030204" pitchFamily="34" charset="0"/>
              <a:ea typeface="Calibri" panose="020F0502020204030204" pitchFamily="34" charset="0"/>
              <a:cs typeface="Calibri" panose="020F0502020204030204" pitchFamily="34" charset="0"/>
            </a:endParaRPr>
          </a:p>
          <a:p>
            <a:pPr algn="just">
              <a:spcAft>
                <a:spcPts val="159"/>
              </a:spcAft>
            </a:pPr>
            <a:r>
              <a:rPr lang="fr-FR" sz="900" dirty="0"/>
              <a:t>🎯 </a:t>
            </a:r>
            <a:r>
              <a:rPr lang="fr-FR" sz="900" dirty="0" err="1">
                <a:latin typeface="Calibri" panose="020F0502020204030204" pitchFamily="34" charset="0"/>
                <a:ea typeface="Calibri" panose="020F0502020204030204" pitchFamily="34" charset="0"/>
                <a:cs typeface="Calibri" panose="020F0502020204030204" pitchFamily="34" charset="0"/>
              </a:rPr>
              <a:t>Reduces</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faculty</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workload</a:t>
            </a:r>
            <a:r>
              <a:rPr lang="fr-FR" sz="900" dirty="0">
                <a:latin typeface="Calibri" panose="020F0502020204030204" pitchFamily="34" charset="0"/>
                <a:ea typeface="Calibri" panose="020F0502020204030204" pitchFamily="34" charset="0"/>
                <a:cs typeface="Calibri" panose="020F0502020204030204" pitchFamily="34" charset="0"/>
              </a:rPr>
              <a:t> in large </a:t>
            </a:r>
            <a:r>
              <a:rPr lang="fr-FR" sz="900" dirty="0" err="1">
                <a:latin typeface="Calibri" panose="020F0502020204030204" pitchFamily="34" charset="0"/>
                <a:ea typeface="Calibri" panose="020F0502020204030204" pitchFamily="34" charset="0"/>
                <a:cs typeface="Calibri" panose="020F0502020204030204" pitchFamily="34" charset="0"/>
              </a:rPr>
              <a:t>project-based</a:t>
            </a:r>
            <a:r>
              <a:rPr lang="fr-FR" sz="900" dirty="0">
                <a:latin typeface="Calibri" panose="020F0502020204030204" pitchFamily="34" charset="0"/>
                <a:ea typeface="Calibri" panose="020F0502020204030204" pitchFamily="34" charset="0"/>
                <a:cs typeface="Calibri" panose="020F0502020204030204" pitchFamily="34" charset="0"/>
              </a:rPr>
              <a:t> course</a:t>
            </a:r>
            <a:br>
              <a:rPr lang="fr-FR" sz="900" dirty="0">
                <a:latin typeface="Calibri" panose="020F0502020204030204" pitchFamily="34" charset="0"/>
                <a:ea typeface="Calibri" panose="020F0502020204030204" pitchFamily="34" charset="0"/>
                <a:cs typeface="Calibri" panose="020F0502020204030204" pitchFamily="34" charset="0"/>
              </a:rPr>
            </a:b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Improves</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fairness</a:t>
            </a:r>
            <a:r>
              <a:rPr lang="fr-FR" sz="900" dirty="0">
                <a:latin typeface="Calibri" panose="020F0502020204030204" pitchFamily="34" charset="0"/>
                <a:ea typeface="Calibri" panose="020F0502020204030204" pitchFamily="34" charset="0"/>
                <a:cs typeface="Calibri" panose="020F0502020204030204" pitchFamily="34" charset="0"/>
              </a:rPr>
              <a:t> and </a:t>
            </a:r>
            <a:r>
              <a:rPr lang="fr-FR" sz="900" dirty="0" err="1">
                <a:latin typeface="Calibri" panose="020F0502020204030204" pitchFamily="34" charset="0"/>
                <a:ea typeface="Calibri" panose="020F0502020204030204" pitchFamily="34" charset="0"/>
                <a:cs typeface="Calibri" panose="020F0502020204030204" pitchFamily="34" charset="0"/>
              </a:rPr>
              <a:t>traceability</a:t>
            </a:r>
            <a:r>
              <a:rPr lang="fr-FR" sz="900" dirty="0">
                <a:latin typeface="Calibri" panose="020F0502020204030204" pitchFamily="34" charset="0"/>
                <a:ea typeface="Calibri" panose="020F0502020204030204" pitchFamily="34" charset="0"/>
                <a:cs typeface="Calibri" panose="020F0502020204030204" pitchFamily="34" charset="0"/>
              </a:rPr>
              <a:t> of </a:t>
            </a:r>
            <a:r>
              <a:rPr lang="fr-FR" sz="900" dirty="0" err="1">
                <a:latin typeface="Calibri" panose="020F0502020204030204" pitchFamily="34" charset="0"/>
                <a:ea typeface="Calibri" panose="020F0502020204030204" pitchFamily="34" charset="0"/>
                <a:cs typeface="Calibri" panose="020F0502020204030204" pitchFamily="34" charset="0"/>
              </a:rPr>
              <a:t>assessment</a:t>
            </a:r>
            <a:br>
              <a:rPr lang="fr-FR" sz="900" dirty="0">
                <a:latin typeface="Calibri" panose="020F0502020204030204" pitchFamily="34" charset="0"/>
                <a:ea typeface="Calibri" panose="020F0502020204030204" pitchFamily="34" charset="0"/>
                <a:cs typeface="Calibri" panose="020F0502020204030204" pitchFamily="34" charset="0"/>
              </a:rPr>
            </a:b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Transferable</a:t>
            </a:r>
            <a:r>
              <a:rPr lang="fr-FR" sz="900" dirty="0">
                <a:latin typeface="Calibri" panose="020F0502020204030204" pitchFamily="34" charset="0"/>
                <a:ea typeface="Calibri" panose="020F0502020204030204" pitchFamily="34" charset="0"/>
                <a:cs typeface="Calibri" panose="020F0502020204030204" pitchFamily="34" charset="0"/>
              </a:rPr>
              <a:t> to </a:t>
            </a:r>
            <a:r>
              <a:rPr lang="fr-FR" sz="900" dirty="0" err="1">
                <a:latin typeface="Calibri" panose="020F0502020204030204" pitchFamily="34" charset="0"/>
                <a:ea typeface="Calibri" panose="020F0502020204030204" pitchFamily="34" charset="0"/>
                <a:cs typeface="Calibri" panose="020F0502020204030204" pitchFamily="34" charset="0"/>
              </a:rPr>
              <a:t>other</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universities</a:t>
            </a:r>
            <a:r>
              <a:rPr lang="fr-FR" sz="900" dirty="0">
                <a:latin typeface="Calibri" panose="020F0502020204030204" pitchFamily="34" charset="0"/>
                <a:ea typeface="Calibri" panose="020F0502020204030204" pitchFamily="34" charset="0"/>
                <a:cs typeface="Calibri" panose="020F0502020204030204" pitchFamily="34" charset="0"/>
              </a:rPr>
              <a:t> and training </a:t>
            </a:r>
            <a:r>
              <a:rPr lang="fr-FR" sz="900" dirty="0" err="1">
                <a:latin typeface="Calibri" panose="020F0502020204030204" pitchFamily="34" charset="0"/>
                <a:ea typeface="Calibri" panose="020F0502020204030204" pitchFamily="34" charset="0"/>
                <a:cs typeface="Calibri" panose="020F0502020204030204" pitchFamily="34" charset="0"/>
              </a:rPr>
              <a:t>contexts</a:t>
            </a:r>
            <a:br>
              <a:rPr lang="fr-FR" sz="900" dirty="0">
                <a:latin typeface="Calibri" panose="020F0502020204030204" pitchFamily="34" charset="0"/>
                <a:ea typeface="Calibri" panose="020F0502020204030204" pitchFamily="34" charset="0"/>
                <a:cs typeface="Calibri" panose="020F0502020204030204" pitchFamily="34" charset="0"/>
              </a:rPr>
            </a:br>
            <a:r>
              <a:rPr lang="fr-FR" sz="900" dirty="0">
                <a:latin typeface="Calibri" panose="020F0502020204030204" pitchFamily="34" charset="0"/>
                <a:ea typeface="Calibri" panose="020F0502020204030204" pitchFamily="34" charset="0"/>
                <a:cs typeface="Calibri" panose="020F0502020204030204" pitchFamily="34" charset="0"/>
              </a:rPr>
              <a:t>🌱 Supports a </a:t>
            </a:r>
            <a:r>
              <a:rPr lang="fr-FR" sz="900" dirty="0" err="1">
                <a:latin typeface="Calibri" panose="020F0502020204030204" pitchFamily="34" charset="0"/>
                <a:ea typeface="Calibri" panose="020F0502020204030204" pitchFamily="34" charset="0"/>
                <a:cs typeface="Calibri" panose="020F0502020204030204" pitchFamily="34" charset="0"/>
              </a:rPr>
              <a:t>sustainable</a:t>
            </a:r>
            <a:r>
              <a:rPr lang="fr-FR" sz="900" dirty="0">
                <a:latin typeface="Calibri" panose="020F0502020204030204" pitchFamily="34" charset="0"/>
                <a:ea typeface="Calibri" panose="020F0502020204030204" pitchFamily="34" charset="0"/>
                <a:cs typeface="Calibri" panose="020F0502020204030204" pitchFamily="34" charset="0"/>
              </a:rPr>
              <a:t> vision of the AI-</a:t>
            </a:r>
            <a:r>
              <a:rPr lang="fr-FR" sz="900" dirty="0" err="1">
                <a:latin typeface="Calibri" panose="020F0502020204030204" pitchFamily="34" charset="0"/>
                <a:ea typeface="Calibri" panose="020F0502020204030204" pitchFamily="34" charset="0"/>
                <a:cs typeface="Calibri" panose="020F0502020204030204" pitchFamily="34" charset="0"/>
              </a:rPr>
              <a:t>enabled</a:t>
            </a:r>
            <a:r>
              <a:rPr lang="fr-FR" sz="900" dirty="0">
                <a:latin typeface="Calibri" panose="020F0502020204030204" pitchFamily="34" charset="0"/>
                <a:ea typeface="Calibri" panose="020F0502020204030204" pitchFamily="34" charset="0"/>
                <a:cs typeface="Calibri" panose="020F0502020204030204" pitchFamily="34" charset="0"/>
              </a:rPr>
              <a:t> </a:t>
            </a:r>
            <a:r>
              <a:rPr lang="fr-FR" sz="900" dirty="0" err="1">
                <a:latin typeface="Calibri" panose="020F0502020204030204" pitchFamily="34" charset="0"/>
                <a:ea typeface="Calibri" panose="020F0502020204030204" pitchFamily="34" charset="0"/>
                <a:cs typeface="Calibri" panose="020F0502020204030204" pitchFamily="34" charset="0"/>
              </a:rPr>
              <a:t>University</a:t>
            </a:r>
            <a:r>
              <a:rPr lang="fr-FR" sz="900" dirty="0">
                <a:latin typeface="Calibri" panose="020F0502020204030204" pitchFamily="34" charset="0"/>
                <a:ea typeface="Calibri" panose="020F0502020204030204" pitchFamily="34" charset="0"/>
                <a:cs typeface="Calibri" panose="020F0502020204030204" pitchFamily="34" charset="0"/>
              </a:rPr>
              <a:t> of the Future</a:t>
            </a:r>
            <a:endParaRPr lang="en-US" sz="900" dirty="0"/>
          </a:p>
        </p:txBody>
      </p:sp>
      <p:sp>
        <p:nvSpPr>
          <p:cNvPr id="80" name="Shape 77">
            <a:extLst>
              <a:ext uri="{FF2B5EF4-FFF2-40B4-BE49-F238E27FC236}">
                <a16:creationId xmlns:a16="http://schemas.microsoft.com/office/drawing/2014/main" id="{5110628D-02BF-4FD9-F100-0DFCF5315A5F}"/>
              </a:ext>
            </a:extLst>
          </p:cNvPr>
          <p:cNvSpPr/>
          <p:nvPr/>
        </p:nvSpPr>
        <p:spPr>
          <a:xfrm>
            <a:off x="130488" y="10602607"/>
            <a:ext cx="3247739" cy="1123827"/>
          </a:xfrm>
          <a:prstGeom prst="rect">
            <a:avLst/>
          </a:prstGeom>
          <a:solidFill>
            <a:srgbClr val="FFFFFF"/>
          </a:solidFill>
          <a:ln w="7620">
            <a:solidFill>
              <a:srgbClr val="E8E8E8"/>
            </a:solidFill>
            <a:prstDash val="solid"/>
          </a:ln>
          <a:effectLst>
            <a:outerShdw blurRad="63500" dist="12700" dir="8100000" algn="bl" rotWithShape="0">
              <a:srgbClr val="000000">
                <a:alpha val="6000"/>
              </a:srgbClr>
            </a:outerShdw>
          </a:effectLst>
        </p:spPr>
        <p:txBody>
          <a:bodyPr/>
          <a:lstStyle/>
          <a:p>
            <a:endParaRPr lang="fr-FR" sz="1427"/>
          </a:p>
        </p:txBody>
      </p:sp>
      <p:sp>
        <p:nvSpPr>
          <p:cNvPr id="81" name="Shape 78">
            <a:extLst>
              <a:ext uri="{FF2B5EF4-FFF2-40B4-BE49-F238E27FC236}">
                <a16:creationId xmlns:a16="http://schemas.microsoft.com/office/drawing/2014/main" id="{9DB42895-693D-B3AA-9624-A4492E0C67F6}"/>
              </a:ext>
            </a:extLst>
          </p:cNvPr>
          <p:cNvSpPr/>
          <p:nvPr/>
        </p:nvSpPr>
        <p:spPr>
          <a:xfrm>
            <a:off x="130488" y="1060260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82" name="Shape 79">
            <a:extLst>
              <a:ext uri="{FF2B5EF4-FFF2-40B4-BE49-F238E27FC236}">
                <a16:creationId xmlns:a16="http://schemas.microsoft.com/office/drawing/2014/main" id="{A1DB9DCF-72E2-8AF8-C806-AF22C66F1E75}"/>
              </a:ext>
            </a:extLst>
          </p:cNvPr>
          <p:cNvSpPr/>
          <p:nvPr/>
        </p:nvSpPr>
        <p:spPr>
          <a:xfrm>
            <a:off x="210231" y="10667852"/>
            <a:ext cx="195734" cy="195734"/>
          </a:xfrm>
          <a:prstGeom prst="ellipse">
            <a:avLst/>
          </a:prstGeom>
          <a:solidFill>
            <a:srgbClr val="46B6AE"/>
          </a:solidFill>
          <a:ln w="12700">
            <a:solidFill>
              <a:srgbClr val="8C8C8C"/>
            </a:solidFill>
            <a:prstDash val="solid"/>
          </a:ln>
        </p:spPr>
        <p:txBody>
          <a:bodyPr/>
          <a:lstStyle/>
          <a:p>
            <a:endParaRPr lang="fr-FR" sz="1427"/>
          </a:p>
        </p:txBody>
      </p:sp>
      <p:sp>
        <p:nvSpPr>
          <p:cNvPr id="83" name="Text 80">
            <a:extLst>
              <a:ext uri="{FF2B5EF4-FFF2-40B4-BE49-F238E27FC236}">
                <a16:creationId xmlns:a16="http://schemas.microsoft.com/office/drawing/2014/main" id="{3EC49549-CA6A-9825-B625-EBAA88F79167}"/>
              </a:ext>
            </a:extLst>
          </p:cNvPr>
          <p:cNvSpPr/>
          <p:nvPr/>
        </p:nvSpPr>
        <p:spPr>
          <a:xfrm>
            <a:off x="210231" y="10667852"/>
            <a:ext cx="195734" cy="195734"/>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84" name="Text 81">
            <a:extLst>
              <a:ext uri="{FF2B5EF4-FFF2-40B4-BE49-F238E27FC236}">
                <a16:creationId xmlns:a16="http://schemas.microsoft.com/office/drawing/2014/main" id="{DDF4EEA0-7786-D269-EB83-72B8F5F9F3AD}"/>
              </a:ext>
            </a:extLst>
          </p:cNvPr>
          <p:cNvSpPr/>
          <p:nvPr/>
        </p:nvSpPr>
        <p:spPr>
          <a:xfrm>
            <a:off x="449462" y="10667852"/>
            <a:ext cx="2841772" cy="202984"/>
          </a:xfrm>
          <a:prstGeom prst="rect">
            <a:avLst/>
          </a:prstGeom>
          <a:noFill/>
          <a:ln/>
        </p:spPr>
        <p:txBody>
          <a:bodyPr wrap="square" lIns="0" tIns="0" rIns="0" bIns="0" rtlCol="0" anchor="ctr"/>
          <a:lstStyle/>
          <a:p>
            <a:r>
              <a:rPr lang="en-US" sz="1200" b="1" dirty="0">
                <a:solidFill>
                  <a:srgbClr val="2C2C2C"/>
                </a:solidFill>
                <a:latin typeface="Calibri" pitchFamily="34" charset="0"/>
                <a:ea typeface="Calibri" pitchFamily="34" charset="-122"/>
                <a:cs typeface="Calibri" pitchFamily="34" charset="-120"/>
              </a:rPr>
              <a:t>References</a:t>
            </a:r>
            <a:endParaRPr lang="en-US" sz="1200" dirty="0"/>
          </a:p>
        </p:txBody>
      </p:sp>
      <p:sp>
        <p:nvSpPr>
          <p:cNvPr id="85" name="Shape 82">
            <a:extLst>
              <a:ext uri="{FF2B5EF4-FFF2-40B4-BE49-F238E27FC236}">
                <a16:creationId xmlns:a16="http://schemas.microsoft.com/office/drawing/2014/main" id="{D35EB589-8645-BE2D-3CFA-CF647D1CDC7B}"/>
              </a:ext>
            </a:extLst>
          </p:cNvPr>
          <p:cNvSpPr/>
          <p:nvPr/>
        </p:nvSpPr>
        <p:spPr>
          <a:xfrm>
            <a:off x="210231" y="10878085"/>
            <a:ext cx="3088252" cy="0"/>
          </a:xfrm>
          <a:prstGeom prst="line">
            <a:avLst/>
          </a:prstGeom>
          <a:noFill/>
          <a:ln w="6350">
            <a:solidFill>
              <a:srgbClr val="E8E8E8"/>
            </a:solidFill>
            <a:prstDash val="solid"/>
          </a:ln>
        </p:spPr>
        <p:txBody>
          <a:bodyPr/>
          <a:lstStyle/>
          <a:p>
            <a:endParaRPr lang="fr-FR" sz="1427"/>
          </a:p>
        </p:txBody>
      </p:sp>
      <p:sp>
        <p:nvSpPr>
          <p:cNvPr id="86" name="Text 83">
            <a:extLst>
              <a:ext uri="{FF2B5EF4-FFF2-40B4-BE49-F238E27FC236}">
                <a16:creationId xmlns:a16="http://schemas.microsoft.com/office/drawing/2014/main" id="{73ED5327-3614-DF3A-57E2-1AB406E31D98}"/>
              </a:ext>
            </a:extLst>
          </p:cNvPr>
          <p:cNvSpPr/>
          <p:nvPr/>
        </p:nvSpPr>
        <p:spPr>
          <a:xfrm>
            <a:off x="228430" y="10905132"/>
            <a:ext cx="3149796" cy="699843"/>
          </a:xfrm>
          <a:prstGeom prst="rect">
            <a:avLst/>
          </a:prstGeom>
          <a:noFill/>
          <a:ln/>
        </p:spPr>
        <p:txBody>
          <a:bodyPr wrap="square" lIns="0" tIns="0" rIns="0" bIns="0" rtlCol="0" anchor="t"/>
          <a:lstStyle/>
          <a:p>
            <a:pPr>
              <a:spcAft>
                <a:spcPts val="159"/>
              </a:spcAft>
              <a:buSzPct val="100000"/>
            </a:pPr>
            <a:r>
              <a:rPr lang="en-US" sz="500" dirty="0">
                <a:solidFill>
                  <a:srgbClr val="5A5A5A"/>
                </a:solidFill>
                <a:latin typeface="Calibri" pitchFamily="34" charset="0"/>
                <a:ea typeface="Calibri" pitchFamily="34" charset="-122"/>
                <a:cs typeface="Calibri" pitchFamily="34" charset="-120"/>
              </a:rPr>
              <a:t>[1] </a:t>
            </a:r>
            <a:r>
              <a:rPr lang="fr-FR" sz="500" dirty="0" err="1">
                <a:solidFill>
                  <a:srgbClr val="5A5A5A"/>
                </a:solidFill>
                <a:latin typeface="Calibri" pitchFamily="34" charset="0"/>
                <a:ea typeface="Calibri" pitchFamily="34" charset="-122"/>
                <a:cs typeface="Calibri" pitchFamily="34" charset="-120"/>
              </a:rPr>
              <a:t>Dabbish</a:t>
            </a:r>
            <a:r>
              <a:rPr lang="fr-FR" sz="500" dirty="0">
                <a:solidFill>
                  <a:srgbClr val="5A5A5A"/>
                </a:solidFill>
                <a:latin typeface="Calibri" pitchFamily="34" charset="0"/>
                <a:ea typeface="Calibri" pitchFamily="34" charset="-122"/>
                <a:cs typeface="Calibri" pitchFamily="34" charset="-120"/>
              </a:rPr>
              <a:t>, L., Stuart, C., </a:t>
            </a:r>
            <a:r>
              <a:rPr lang="fr-FR" sz="500" dirty="0" err="1">
                <a:solidFill>
                  <a:srgbClr val="5A5A5A"/>
                </a:solidFill>
                <a:latin typeface="Calibri" pitchFamily="34" charset="0"/>
                <a:ea typeface="Calibri" pitchFamily="34" charset="-122"/>
                <a:cs typeface="Calibri" pitchFamily="34" charset="-120"/>
              </a:rPr>
              <a:t>Tsay</a:t>
            </a:r>
            <a:r>
              <a:rPr lang="fr-FR" sz="500" dirty="0">
                <a:solidFill>
                  <a:srgbClr val="5A5A5A"/>
                </a:solidFill>
                <a:latin typeface="Calibri" pitchFamily="34" charset="0"/>
                <a:ea typeface="Calibri" pitchFamily="34" charset="-122"/>
                <a:cs typeface="Calibri" pitchFamily="34" charset="-120"/>
              </a:rPr>
              <a:t>, J., &amp; </a:t>
            </a:r>
            <a:r>
              <a:rPr lang="fr-FR" sz="500" dirty="0" err="1">
                <a:solidFill>
                  <a:srgbClr val="5A5A5A"/>
                </a:solidFill>
                <a:latin typeface="Calibri" pitchFamily="34" charset="0"/>
                <a:ea typeface="Calibri" pitchFamily="34" charset="-122"/>
                <a:cs typeface="Calibri" pitchFamily="34" charset="-120"/>
              </a:rPr>
              <a:t>Herbsleb</a:t>
            </a:r>
            <a:r>
              <a:rPr lang="fr-FR" sz="500" dirty="0">
                <a:solidFill>
                  <a:srgbClr val="5A5A5A"/>
                </a:solidFill>
                <a:latin typeface="Calibri" pitchFamily="34" charset="0"/>
                <a:ea typeface="Calibri" pitchFamily="34" charset="-122"/>
                <a:cs typeface="Calibri" pitchFamily="34" charset="-120"/>
              </a:rPr>
              <a:t>, J. (2012). Social </a:t>
            </a:r>
            <a:r>
              <a:rPr lang="fr-FR" sz="500" dirty="0" err="1">
                <a:solidFill>
                  <a:srgbClr val="5A5A5A"/>
                </a:solidFill>
                <a:latin typeface="Calibri" pitchFamily="34" charset="0"/>
                <a:ea typeface="Calibri" pitchFamily="34" charset="-122"/>
                <a:cs typeface="Calibri" pitchFamily="34" charset="-120"/>
              </a:rPr>
              <a:t>coding</a:t>
            </a:r>
            <a:r>
              <a:rPr lang="fr-FR" sz="500" dirty="0">
                <a:solidFill>
                  <a:srgbClr val="5A5A5A"/>
                </a:solidFill>
                <a:latin typeface="Calibri" pitchFamily="34" charset="0"/>
                <a:ea typeface="Calibri" pitchFamily="34" charset="-122"/>
                <a:cs typeface="Calibri" pitchFamily="34" charset="-120"/>
              </a:rPr>
              <a:t> in GitHub: </a:t>
            </a:r>
            <a:r>
              <a:rPr lang="fr-FR" sz="500" dirty="0" err="1">
                <a:solidFill>
                  <a:srgbClr val="5A5A5A"/>
                </a:solidFill>
                <a:latin typeface="Calibri" pitchFamily="34" charset="0"/>
                <a:ea typeface="Calibri" pitchFamily="34" charset="-122"/>
                <a:cs typeface="Calibri" pitchFamily="34" charset="-120"/>
              </a:rPr>
              <a:t>Transparency</a:t>
            </a:r>
            <a:r>
              <a:rPr lang="fr-FR" sz="500" dirty="0">
                <a:solidFill>
                  <a:srgbClr val="5A5A5A"/>
                </a:solidFill>
                <a:latin typeface="Calibri" pitchFamily="34" charset="0"/>
                <a:ea typeface="Calibri" pitchFamily="34" charset="-122"/>
                <a:cs typeface="Calibri" pitchFamily="34" charset="-120"/>
              </a:rPr>
              <a:t> and collaboration in an open software repository</a:t>
            </a:r>
          </a:p>
          <a:p>
            <a:pPr>
              <a:spcAft>
                <a:spcPts val="159"/>
              </a:spcAft>
              <a:buSzPct val="100000"/>
            </a:pPr>
            <a:r>
              <a:rPr lang="en-US" sz="500" dirty="0">
                <a:solidFill>
                  <a:srgbClr val="5A5A5A"/>
                </a:solidFill>
                <a:latin typeface="Calibri" pitchFamily="34" charset="0"/>
                <a:ea typeface="Calibri" pitchFamily="34" charset="-122"/>
                <a:cs typeface="Calibri" pitchFamily="34" charset="-120"/>
              </a:rPr>
              <a:t>[2] H</a:t>
            </a:r>
            <a:r>
              <a:rPr lang="fr-FR" sz="500" dirty="0" err="1">
                <a:solidFill>
                  <a:srgbClr val="5A5A5A"/>
                </a:solidFill>
                <a:latin typeface="Calibri" pitchFamily="34" charset="0"/>
                <a:ea typeface="Calibri" pitchFamily="34" charset="-122"/>
                <a:cs typeface="Calibri" pitchFamily="34" charset="-120"/>
              </a:rPr>
              <a:t>olmes</a:t>
            </a:r>
            <a:r>
              <a:rPr lang="fr-FR" sz="500" dirty="0">
                <a:solidFill>
                  <a:srgbClr val="5A5A5A"/>
                </a:solidFill>
                <a:latin typeface="Calibri" pitchFamily="34" charset="0"/>
                <a:ea typeface="Calibri" pitchFamily="34" charset="-122"/>
                <a:cs typeface="Calibri" pitchFamily="34" charset="-120"/>
              </a:rPr>
              <a:t>, W., Bialik, M., &amp; Fadel, C. (2019). </a:t>
            </a:r>
            <a:r>
              <a:rPr lang="fr-FR" sz="500" dirty="0" err="1">
                <a:solidFill>
                  <a:srgbClr val="5A5A5A"/>
                </a:solidFill>
                <a:latin typeface="Calibri" pitchFamily="34" charset="0"/>
                <a:ea typeface="Calibri" pitchFamily="34" charset="-122"/>
                <a:cs typeface="Calibri" pitchFamily="34" charset="-120"/>
              </a:rPr>
              <a:t>Artificial</a:t>
            </a:r>
            <a:r>
              <a:rPr lang="fr-FR" sz="500" dirty="0">
                <a:solidFill>
                  <a:srgbClr val="5A5A5A"/>
                </a:solidFill>
                <a:latin typeface="Calibri" pitchFamily="34" charset="0"/>
                <a:ea typeface="Calibri" pitchFamily="34" charset="-122"/>
                <a:cs typeface="Calibri" pitchFamily="34" charset="-120"/>
              </a:rPr>
              <a:t> Intelligence in Education: Promises and Implications for </a:t>
            </a:r>
            <a:r>
              <a:rPr lang="fr-FR" sz="500" dirty="0" err="1">
                <a:solidFill>
                  <a:srgbClr val="5A5A5A"/>
                </a:solidFill>
                <a:latin typeface="Calibri" pitchFamily="34" charset="0"/>
                <a:ea typeface="Calibri" pitchFamily="34" charset="-122"/>
                <a:cs typeface="Calibri" pitchFamily="34" charset="-120"/>
              </a:rPr>
              <a:t>Teaching</a:t>
            </a:r>
            <a:r>
              <a:rPr lang="fr-FR" sz="500" dirty="0">
                <a:solidFill>
                  <a:srgbClr val="5A5A5A"/>
                </a:solidFill>
                <a:latin typeface="Calibri" pitchFamily="34" charset="0"/>
                <a:ea typeface="Calibri" pitchFamily="34" charset="-122"/>
                <a:cs typeface="Calibri" pitchFamily="34" charset="-120"/>
              </a:rPr>
              <a:t> and Learning. Center for Curriculum </a:t>
            </a:r>
            <a:r>
              <a:rPr lang="fr-FR" sz="500" dirty="0" err="1">
                <a:solidFill>
                  <a:srgbClr val="5A5A5A"/>
                </a:solidFill>
                <a:latin typeface="Calibri" pitchFamily="34" charset="0"/>
                <a:ea typeface="Calibri" pitchFamily="34" charset="-122"/>
                <a:cs typeface="Calibri" pitchFamily="34" charset="-120"/>
              </a:rPr>
              <a:t>Redesign</a:t>
            </a:r>
            <a:endParaRPr lang="fr-FR" sz="500" dirty="0">
              <a:solidFill>
                <a:srgbClr val="5A5A5A"/>
              </a:solidFill>
              <a:latin typeface="Calibri" pitchFamily="34" charset="0"/>
              <a:ea typeface="Calibri" pitchFamily="34" charset="-122"/>
              <a:cs typeface="Calibri" pitchFamily="34" charset="-120"/>
            </a:endParaRPr>
          </a:p>
          <a:p>
            <a:pPr>
              <a:spcAft>
                <a:spcPts val="159"/>
              </a:spcAft>
              <a:buSzPct val="100000"/>
            </a:pPr>
            <a:r>
              <a:rPr lang="en-US" sz="500" dirty="0">
                <a:solidFill>
                  <a:srgbClr val="5A5A5A"/>
                </a:solidFill>
                <a:latin typeface="Calibri" pitchFamily="34" charset="0"/>
                <a:ea typeface="Calibri" pitchFamily="34" charset="-122"/>
                <a:cs typeface="Calibri" pitchFamily="34" charset="-120"/>
              </a:rPr>
              <a:t>[3] </a:t>
            </a:r>
            <a:r>
              <a:rPr lang="fr-FR" sz="500" dirty="0" err="1">
                <a:solidFill>
                  <a:srgbClr val="5A5A5A"/>
                </a:solidFill>
                <a:latin typeface="Calibri" pitchFamily="34" charset="0"/>
                <a:ea typeface="Calibri" pitchFamily="34" charset="-122"/>
                <a:cs typeface="Calibri" pitchFamily="34" charset="-120"/>
              </a:rPr>
              <a:t>Luckin</a:t>
            </a:r>
            <a:r>
              <a:rPr lang="fr-FR" sz="500" dirty="0">
                <a:solidFill>
                  <a:srgbClr val="5A5A5A"/>
                </a:solidFill>
                <a:latin typeface="Calibri" pitchFamily="34" charset="0"/>
                <a:ea typeface="Calibri" pitchFamily="34" charset="-122"/>
                <a:cs typeface="Calibri" pitchFamily="34" charset="-120"/>
              </a:rPr>
              <a:t>, R., Holmes, W., Griffiths, M., &amp; </a:t>
            </a:r>
            <a:r>
              <a:rPr lang="fr-FR" sz="500" dirty="0" err="1">
                <a:solidFill>
                  <a:srgbClr val="5A5A5A"/>
                </a:solidFill>
                <a:latin typeface="Calibri" pitchFamily="34" charset="0"/>
                <a:ea typeface="Calibri" pitchFamily="34" charset="-122"/>
                <a:cs typeface="Calibri" pitchFamily="34" charset="-120"/>
              </a:rPr>
              <a:t>Forcier</a:t>
            </a:r>
            <a:r>
              <a:rPr lang="fr-FR" sz="500" dirty="0">
                <a:solidFill>
                  <a:srgbClr val="5A5A5A"/>
                </a:solidFill>
                <a:latin typeface="Calibri" pitchFamily="34" charset="0"/>
                <a:ea typeface="Calibri" pitchFamily="34" charset="-122"/>
                <a:cs typeface="Calibri" pitchFamily="34" charset="-120"/>
              </a:rPr>
              <a:t>, L. B. (2016). Intelligence </a:t>
            </a:r>
            <a:r>
              <a:rPr lang="fr-FR" sz="500" dirty="0" err="1">
                <a:solidFill>
                  <a:srgbClr val="5A5A5A"/>
                </a:solidFill>
                <a:latin typeface="Calibri" pitchFamily="34" charset="0"/>
                <a:ea typeface="Calibri" pitchFamily="34" charset="-122"/>
                <a:cs typeface="Calibri" pitchFamily="34" charset="-120"/>
              </a:rPr>
              <a:t>Unleashed</a:t>
            </a:r>
            <a:r>
              <a:rPr lang="fr-FR" sz="500" dirty="0">
                <a:solidFill>
                  <a:srgbClr val="5A5A5A"/>
                </a:solidFill>
                <a:latin typeface="Calibri" pitchFamily="34" charset="0"/>
                <a:ea typeface="Calibri" pitchFamily="34" charset="-122"/>
                <a:cs typeface="Calibri" pitchFamily="34" charset="-120"/>
              </a:rPr>
              <a:t>: An argument for AI in Education. Pearson.</a:t>
            </a:r>
          </a:p>
          <a:p>
            <a:pPr>
              <a:spcAft>
                <a:spcPts val="159"/>
              </a:spcAft>
              <a:buSzPct val="100000"/>
            </a:pPr>
            <a:r>
              <a:rPr lang="fr-FR" sz="500" dirty="0">
                <a:solidFill>
                  <a:srgbClr val="5A5A5A"/>
                </a:solidFill>
                <a:latin typeface="Calibri" pitchFamily="34" charset="0"/>
                <a:ea typeface="Calibri" pitchFamily="34" charset="-122"/>
                <a:cs typeface="Calibri" pitchFamily="34" charset="-120"/>
              </a:rPr>
              <a:t> </a:t>
            </a:r>
            <a:r>
              <a:rPr lang="en-US" sz="500" dirty="0">
                <a:solidFill>
                  <a:srgbClr val="5A5A5A"/>
                </a:solidFill>
                <a:latin typeface="Calibri" pitchFamily="34" charset="0"/>
                <a:ea typeface="Calibri" pitchFamily="34" charset="-122"/>
                <a:cs typeface="Calibri" pitchFamily="34" charset="-120"/>
              </a:rPr>
              <a:t>[4] </a:t>
            </a:r>
            <a:r>
              <a:rPr lang="fr-FR" sz="500" dirty="0" err="1">
                <a:solidFill>
                  <a:srgbClr val="5A5A5A"/>
                </a:solidFill>
                <a:latin typeface="Calibri" pitchFamily="34" charset="0"/>
                <a:ea typeface="Calibri" pitchFamily="34" charset="-122"/>
                <a:cs typeface="Calibri" pitchFamily="34" charset="-120"/>
              </a:rPr>
              <a:t>Zawacki</a:t>
            </a:r>
            <a:r>
              <a:rPr lang="fr-FR" sz="500" dirty="0">
                <a:solidFill>
                  <a:srgbClr val="5A5A5A"/>
                </a:solidFill>
                <a:latin typeface="Calibri" pitchFamily="34" charset="0"/>
                <a:ea typeface="Calibri" pitchFamily="34" charset="-122"/>
                <a:cs typeface="Calibri" pitchFamily="34" charset="-120"/>
              </a:rPr>
              <a:t>-Richter, O., </a:t>
            </a:r>
            <a:r>
              <a:rPr lang="fr-FR" sz="500" dirty="0" err="1">
                <a:solidFill>
                  <a:srgbClr val="5A5A5A"/>
                </a:solidFill>
                <a:latin typeface="Calibri" pitchFamily="34" charset="0"/>
                <a:ea typeface="Calibri" pitchFamily="34" charset="-122"/>
                <a:cs typeface="Calibri" pitchFamily="34" charset="-120"/>
              </a:rPr>
              <a:t>Marín</a:t>
            </a:r>
            <a:r>
              <a:rPr lang="fr-FR" sz="500" dirty="0">
                <a:solidFill>
                  <a:srgbClr val="5A5A5A"/>
                </a:solidFill>
                <a:latin typeface="Calibri" pitchFamily="34" charset="0"/>
                <a:ea typeface="Calibri" pitchFamily="34" charset="-122"/>
                <a:cs typeface="Calibri" pitchFamily="34" charset="-120"/>
              </a:rPr>
              <a:t>, V. I., Bond, M., &amp; Gouverneur, F. (2019). </a:t>
            </a:r>
            <a:r>
              <a:rPr lang="fr-FR" sz="500" dirty="0" err="1">
                <a:solidFill>
                  <a:srgbClr val="5A5A5A"/>
                </a:solidFill>
                <a:latin typeface="Calibri" pitchFamily="34" charset="0"/>
                <a:ea typeface="Calibri" pitchFamily="34" charset="-122"/>
                <a:cs typeface="Calibri" pitchFamily="34" charset="-120"/>
              </a:rPr>
              <a:t>Systematic</a:t>
            </a:r>
            <a:r>
              <a:rPr lang="fr-FR" sz="500" dirty="0">
                <a:solidFill>
                  <a:srgbClr val="5A5A5A"/>
                </a:solidFill>
                <a:latin typeface="Calibri" pitchFamily="34" charset="0"/>
                <a:ea typeface="Calibri" pitchFamily="34" charset="-122"/>
                <a:cs typeface="Calibri" pitchFamily="34" charset="-120"/>
              </a:rPr>
              <a:t> </a:t>
            </a:r>
            <a:r>
              <a:rPr lang="fr-FR" sz="500" dirty="0" err="1">
                <a:solidFill>
                  <a:srgbClr val="5A5A5A"/>
                </a:solidFill>
                <a:latin typeface="Calibri" pitchFamily="34" charset="0"/>
                <a:ea typeface="Calibri" pitchFamily="34" charset="-122"/>
                <a:cs typeface="Calibri" pitchFamily="34" charset="-120"/>
              </a:rPr>
              <a:t>review</a:t>
            </a:r>
            <a:r>
              <a:rPr lang="fr-FR" sz="500" dirty="0">
                <a:solidFill>
                  <a:srgbClr val="5A5A5A"/>
                </a:solidFill>
                <a:latin typeface="Calibri" pitchFamily="34" charset="0"/>
                <a:ea typeface="Calibri" pitchFamily="34" charset="-122"/>
                <a:cs typeface="Calibri" pitchFamily="34" charset="-120"/>
              </a:rPr>
              <a:t> of </a:t>
            </a:r>
            <a:r>
              <a:rPr lang="fr-FR" sz="500" dirty="0" err="1">
                <a:solidFill>
                  <a:srgbClr val="5A5A5A"/>
                </a:solidFill>
                <a:latin typeface="Calibri" pitchFamily="34" charset="0"/>
                <a:ea typeface="Calibri" pitchFamily="34" charset="-122"/>
                <a:cs typeface="Calibri" pitchFamily="34" charset="-120"/>
              </a:rPr>
              <a:t>research</a:t>
            </a:r>
            <a:r>
              <a:rPr lang="fr-FR" sz="500" dirty="0">
                <a:solidFill>
                  <a:srgbClr val="5A5A5A"/>
                </a:solidFill>
                <a:latin typeface="Calibri" pitchFamily="34" charset="0"/>
                <a:ea typeface="Calibri" pitchFamily="34" charset="-122"/>
                <a:cs typeface="Calibri" pitchFamily="34" charset="-120"/>
              </a:rPr>
              <a:t>   on </a:t>
            </a:r>
            <a:r>
              <a:rPr lang="fr-FR" sz="500" dirty="0" err="1">
                <a:solidFill>
                  <a:srgbClr val="5A5A5A"/>
                </a:solidFill>
                <a:latin typeface="Calibri" pitchFamily="34" charset="0"/>
                <a:ea typeface="Calibri" pitchFamily="34" charset="-122"/>
                <a:cs typeface="Calibri" pitchFamily="34" charset="-120"/>
              </a:rPr>
              <a:t>artificial</a:t>
            </a:r>
            <a:r>
              <a:rPr lang="fr-FR" sz="500" dirty="0">
                <a:solidFill>
                  <a:srgbClr val="5A5A5A"/>
                </a:solidFill>
                <a:latin typeface="Calibri" pitchFamily="34" charset="0"/>
                <a:ea typeface="Calibri" pitchFamily="34" charset="-122"/>
                <a:cs typeface="Calibri" pitchFamily="34" charset="-120"/>
              </a:rPr>
              <a:t> intelligence applications in </a:t>
            </a:r>
            <a:r>
              <a:rPr lang="fr-FR" sz="500" dirty="0" err="1">
                <a:solidFill>
                  <a:srgbClr val="5A5A5A"/>
                </a:solidFill>
                <a:latin typeface="Calibri" pitchFamily="34" charset="0"/>
                <a:ea typeface="Calibri" pitchFamily="34" charset="-122"/>
                <a:cs typeface="Calibri" pitchFamily="34" charset="-120"/>
              </a:rPr>
              <a:t>higher</a:t>
            </a:r>
            <a:r>
              <a:rPr lang="fr-FR" sz="500" dirty="0">
                <a:solidFill>
                  <a:srgbClr val="5A5A5A"/>
                </a:solidFill>
                <a:latin typeface="Calibri" pitchFamily="34" charset="0"/>
                <a:ea typeface="Calibri" pitchFamily="34" charset="-122"/>
                <a:cs typeface="Calibri" pitchFamily="34" charset="-120"/>
              </a:rPr>
              <a:t> </a:t>
            </a:r>
            <a:r>
              <a:rPr lang="fr-FR" sz="500" dirty="0" err="1">
                <a:solidFill>
                  <a:srgbClr val="5A5A5A"/>
                </a:solidFill>
                <a:latin typeface="Calibri" pitchFamily="34" charset="0"/>
                <a:ea typeface="Calibri" pitchFamily="34" charset="-122"/>
                <a:cs typeface="Calibri" pitchFamily="34" charset="-120"/>
              </a:rPr>
              <a:t>education</a:t>
            </a:r>
            <a:r>
              <a:rPr lang="fr-FR" sz="555" dirty="0">
                <a:solidFill>
                  <a:srgbClr val="5A5A5A"/>
                </a:solidFill>
                <a:latin typeface="Calibri" pitchFamily="34" charset="0"/>
                <a:ea typeface="Calibri" pitchFamily="34" charset="-122"/>
                <a:cs typeface="Calibri" pitchFamily="34" charset="-120"/>
              </a:rPr>
              <a:t>.</a:t>
            </a:r>
            <a:endParaRPr lang="en-US" sz="555" dirty="0">
              <a:solidFill>
                <a:srgbClr val="5A5A5A"/>
              </a:solidFill>
              <a:latin typeface="Calibri" pitchFamily="34" charset="0"/>
              <a:ea typeface="Calibri" pitchFamily="34" charset="-122"/>
              <a:cs typeface="Calibri" pitchFamily="34" charset="-120"/>
            </a:endParaRPr>
          </a:p>
          <a:p>
            <a:pPr>
              <a:spcAft>
                <a:spcPts val="159"/>
              </a:spcAft>
              <a:buSzPct val="100000"/>
            </a:pPr>
            <a:endParaRPr lang="fr-FR" sz="555" dirty="0">
              <a:solidFill>
                <a:srgbClr val="5A5A5A"/>
              </a:solidFill>
              <a:latin typeface="Calibri" pitchFamily="34" charset="0"/>
              <a:ea typeface="Calibri" pitchFamily="34" charset="-122"/>
              <a:cs typeface="Calibri" pitchFamily="34" charset="-120"/>
            </a:endParaRPr>
          </a:p>
          <a:p>
            <a:pPr>
              <a:spcAft>
                <a:spcPts val="159"/>
              </a:spcAft>
              <a:buSzPct val="100000"/>
            </a:pPr>
            <a:r>
              <a:rPr lang="fr-FR" sz="555" dirty="0">
                <a:solidFill>
                  <a:srgbClr val="5A5A5A"/>
                </a:solidFill>
                <a:latin typeface="Calibri" pitchFamily="34" charset="0"/>
                <a:ea typeface="Calibri" pitchFamily="34" charset="-122"/>
                <a:cs typeface="Calibri" pitchFamily="34" charset="-120"/>
              </a:rPr>
              <a:t>               </a:t>
            </a:r>
            <a:endParaRPr lang="en-US" sz="555" dirty="0">
              <a:solidFill>
                <a:srgbClr val="5A5A5A"/>
              </a:solidFill>
              <a:latin typeface="Calibri" pitchFamily="34" charset="0"/>
              <a:ea typeface="Calibri" pitchFamily="34" charset="-122"/>
              <a:cs typeface="Calibri" pitchFamily="34" charset="-120"/>
            </a:endParaRPr>
          </a:p>
        </p:txBody>
      </p:sp>
      <p:sp>
        <p:nvSpPr>
          <p:cNvPr id="87" name="Shape 84">
            <a:extLst>
              <a:ext uri="{FF2B5EF4-FFF2-40B4-BE49-F238E27FC236}">
                <a16:creationId xmlns:a16="http://schemas.microsoft.com/office/drawing/2014/main" id="{ED13A47E-E28D-923E-0AB5-5C4A75711EB8}"/>
              </a:ext>
            </a:extLst>
          </p:cNvPr>
          <p:cNvSpPr/>
          <p:nvPr/>
        </p:nvSpPr>
        <p:spPr>
          <a:xfrm>
            <a:off x="3479719" y="10602607"/>
            <a:ext cx="3247739" cy="1123827"/>
          </a:xfrm>
          <a:prstGeom prst="rect">
            <a:avLst/>
          </a:prstGeom>
          <a:solidFill>
            <a:schemeClr val="bg1"/>
          </a:solidFill>
          <a:ln w="12700">
            <a:solidFill>
              <a:schemeClr val="bg1"/>
            </a:solidFill>
            <a:prstDash val="solid"/>
          </a:ln>
          <a:effectLst>
            <a:outerShdw blurRad="63500" dist="12700" dir="8100000" algn="bl" rotWithShape="0">
              <a:srgbClr val="000000">
                <a:alpha val="6000"/>
              </a:srgbClr>
            </a:outerShdw>
          </a:effectLst>
        </p:spPr>
        <p:txBody>
          <a:bodyPr/>
          <a:lstStyle/>
          <a:p>
            <a:endParaRPr lang="fr-FR" sz="1427"/>
          </a:p>
        </p:txBody>
      </p:sp>
      <p:sp>
        <p:nvSpPr>
          <p:cNvPr id="88" name="Shape 85">
            <a:extLst>
              <a:ext uri="{FF2B5EF4-FFF2-40B4-BE49-F238E27FC236}">
                <a16:creationId xmlns:a16="http://schemas.microsoft.com/office/drawing/2014/main" id="{F0BB909E-9B7C-7224-05AC-C357E439360B}"/>
              </a:ext>
            </a:extLst>
          </p:cNvPr>
          <p:cNvSpPr/>
          <p:nvPr/>
        </p:nvSpPr>
        <p:spPr>
          <a:xfrm>
            <a:off x="3479719" y="10602607"/>
            <a:ext cx="3247739" cy="50746"/>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p>
        </p:txBody>
      </p:sp>
      <p:sp>
        <p:nvSpPr>
          <p:cNvPr id="89" name="Shape 86">
            <a:extLst>
              <a:ext uri="{FF2B5EF4-FFF2-40B4-BE49-F238E27FC236}">
                <a16:creationId xmlns:a16="http://schemas.microsoft.com/office/drawing/2014/main" id="{AFD218D3-E3ED-BFA2-B35B-9D2CF6CCABD1}"/>
              </a:ext>
            </a:extLst>
          </p:cNvPr>
          <p:cNvSpPr/>
          <p:nvPr/>
        </p:nvSpPr>
        <p:spPr>
          <a:xfrm>
            <a:off x="3559462" y="10667852"/>
            <a:ext cx="195734" cy="195734"/>
          </a:xfrm>
          <a:prstGeom prst="ellipse">
            <a:avLst/>
          </a:prstGeom>
          <a:solidFill>
            <a:schemeClr val="bg1"/>
          </a:solidFill>
          <a:ln w="12700">
            <a:solidFill>
              <a:schemeClr val="bg1"/>
            </a:solidFill>
            <a:prstDash val="solid"/>
          </a:ln>
        </p:spPr>
        <p:txBody>
          <a:bodyPr/>
          <a:lstStyle/>
          <a:p>
            <a:endParaRPr lang="fr-FR" sz="1427"/>
          </a:p>
        </p:txBody>
      </p:sp>
      <p:sp>
        <p:nvSpPr>
          <p:cNvPr id="90" name="Text 87">
            <a:extLst>
              <a:ext uri="{FF2B5EF4-FFF2-40B4-BE49-F238E27FC236}">
                <a16:creationId xmlns:a16="http://schemas.microsoft.com/office/drawing/2014/main" id="{D7093FF2-46EF-1504-2B42-FE018A7A8207}"/>
              </a:ext>
            </a:extLst>
          </p:cNvPr>
          <p:cNvSpPr/>
          <p:nvPr/>
        </p:nvSpPr>
        <p:spPr>
          <a:xfrm>
            <a:off x="3559462" y="10667852"/>
            <a:ext cx="195734" cy="195734"/>
          </a:xfrm>
          <a:prstGeom prst="rect">
            <a:avLst/>
          </a:prstGeom>
          <a:solidFill>
            <a:srgbClr val="46B6AE"/>
          </a:solidFill>
          <a:ln>
            <a:solidFill>
              <a:srgbClr val="46B6AE"/>
            </a:solidFill>
          </a:ln>
        </p:spPr>
        <p:txBody>
          <a:bodyPr wrap="square" lIns="0" tIns="0" rIns="0" bIns="0" rtlCol="0" anchor="ctr"/>
          <a:lstStyle/>
          <a:p>
            <a:pPr algn="ctr"/>
            <a:r>
              <a:rPr lang="en-US" sz="1000" b="1" dirty="0">
                <a:solidFill>
                  <a:schemeClr val="bg1"/>
                </a:solidFill>
                <a:latin typeface="Calibri" pitchFamily="34" charset="0"/>
                <a:ea typeface="Calibri" pitchFamily="34" charset="-122"/>
                <a:cs typeface="Calibri" pitchFamily="34" charset="-120"/>
              </a:rPr>
              <a:t>10</a:t>
            </a:r>
            <a:endParaRPr lang="en-US" sz="1000" dirty="0">
              <a:solidFill>
                <a:schemeClr val="bg1"/>
              </a:solidFill>
            </a:endParaRPr>
          </a:p>
        </p:txBody>
      </p:sp>
      <p:sp>
        <p:nvSpPr>
          <p:cNvPr id="91" name="Text 88">
            <a:extLst>
              <a:ext uri="{FF2B5EF4-FFF2-40B4-BE49-F238E27FC236}">
                <a16:creationId xmlns:a16="http://schemas.microsoft.com/office/drawing/2014/main" id="{01934C22-D5C8-C571-962D-34A94845A71F}"/>
              </a:ext>
            </a:extLst>
          </p:cNvPr>
          <p:cNvSpPr/>
          <p:nvPr/>
        </p:nvSpPr>
        <p:spPr>
          <a:xfrm>
            <a:off x="3798693" y="10667852"/>
            <a:ext cx="2841772" cy="202984"/>
          </a:xfrm>
          <a:prstGeom prst="rect">
            <a:avLst/>
          </a:prstGeom>
          <a:noFill/>
          <a:ln/>
        </p:spPr>
        <p:txBody>
          <a:bodyPr wrap="square" lIns="0" tIns="0" rIns="0" bIns="0" rtlCol="0" anchor="ctr"/>
          <a:lstStyle/>
          <a:p>
            <a:r>
              <a:rPr lang="en-US" sz="1200" b="1" dirty="0">
                <a:solidFill>
                  <a:srgbClr val="AAAAAA"/>
                </a:solidFill>
                <a:latin typeface="Calibri" pitchFamily="34" charset="0"/>
                <a:ea typeface="Calibri" pitchFamily="34" charset="-122"/>
                <a:cs typeface="Calibri" pitchFamily="34" charset="-120"/>
              </a:rPr>
              <a:t>Scan for More</a:t>
            </a:r>
            <a:endParaRPr lang="en-US" sz="1200" dirty="0"/>
          </a:p>
        </p:txBody>
      </p:sp>
      <p:sp>
        <p:nvSpPr>
          <p:cNvPr id="92" name="Shape 89">
            <a:extLst>
              <a:ext uri="{FF2B5EF4-FFF2-40B4-BE49-F238E27FC236}">
                <a16:creationId xmlns:a16="http://schemas.microsoft.com/office/drawing/2014/main" id="{49DE6A7D-4131-8F4E-B0A3-B9918768F0B3}"/>
              </a:ext>
            </a:extLst>
          </p:cNvPr>
          <p:cNvSpPr/>
          <p:nvPr/>
        </p:nvSpPr>
        <p:spPr>
          <a:xfrm>
            <a:off x="3559462" y="10878085"/>
            <a:ext cx="3088252" cy="0"/>
          </a:xfrm>
          <a:prstGeom prst="line">
            <a:avLst/>
          </a:prstGeom>
          <a:noFill/>
          <a:ln w="6350">
            <a:solidFill>
              <a:srgbClr val="444444"/>
            </a:solidFill>
            <a:prstDash val="solid"/>
          </a:ln>
        </p:spPr>
        <p:txBody>
          <a:bodyPr/>
          <a:lstStyle/>
          <a:p>
            <a:endParaRPr lang="fr-FR" sz="1427"/>
          </a:p>
        </p:txBody>
      </p:sp>
      <p:sp>
        <p:nvSpPr>
          <p:cNvPr id="93" name="Shape 90">
            <a:extLst>
              <a:ext uri="{FF2B5EF4-FFF2-40B4-BE49-F238E27FC236}">
                <a16:creationId xmlns:a16="http://schemas.microsoft.com/office/drawing/2014/main" id="{DA86DA69-4C9F-E34C-283A-033A08EB0BB3}"/>
              </a:ext>
            </a:extLst>
          </p:cNvPr>
          <p:cNvSpPr/>
          <p:nvPr/>
        </p:nvSpPr>
        <p:spPr>
          <a:xfrm>
            <a:off x="4161164" y="10965078"/>
            <a:ext cx="579953" cy="579953"/>
          </a:xfrm>
          <a:prstGeom prst="rect">
            <a:avLst/>
          </a:prstGeom>
          <a:solidFill>
            <a:srgbClr val="FFFFFF"/>
          </a:solidFill>
          <a:ln w="12700">
            <a:solidFill>
              <a:srgbClr val="C8102E"/>
            </a:solidFill>
            <a:prstDash val="solid"/>
          </a:ln>
        </p:spPr>
        <p:txBody>
          <a:bodyPr/>
          <a:lstStyle/>
          <a:p>
            <a:endParaRPr lang="fr-FR" sz="1427"/>
          </a:p>
        </p:txBody>
      </p:sp>
      <p:sp>
        <p:nvSpPr>
          <p:cNvPr id="94" name="Text 91">
            <a:extLst>
              <a:ext uri="{FF2B5EF4-FFF2-40B4-BE49-F238E27FC236}">
                <a16:creationId xmlns:a16="http://schemas.microsoft.com/office/drawing/2014/main" id="{634FE325-024E-13CC-CE12-3DBD514CF982}"/>
              </a:ext>
            </a:extLst>
          </p:cNvPr>
          <p:cNvSpPr/>
          <p:nvPr/>
        </p:nvSpPr>
        <p:spPr>
          <a:xfrm>
            <a:off x="4161164" y="10965078"/>
            <a:ext cx="579953" cy="579953"/>
          </a:xfrm>
          <a:prstGeom prst="rect">
            <a:avLst/>
          </a:prstGeom>
          <a:noFill/>
          <a:ln/>
        </p:spPr>
        <p:txBody>
          <a:bodyPr wrap="square" lIns="0" tIns="0" rIns="0" bIns="0" rtlCol="0" anchor="ctr"/>
          <a:lstStyle/>
          <a:p>
            <a:pPr algn="ctr"/>
            <a:r>
              <a:rPr lang="en-US" sz="714" b="1" dirty="0">
                <a:solidFill>
                  <a:srgbClr val="8C8C8C"/>
                </a:solidFill>
                <a:latin typeface="Calibri" pitchFamily="34" charset="0"/>
                <a:ea typeface="Calibri" pitchFamily="34" charset="-122"/>
                <a:cs typeface="Calibri" pitchFamily="34" charset="-120"/>
              </a:rPr>
              <a:t>QR</a:t>
            </a:r>
            <a:endParaRPr lang="en-US" sz="714" dirty="0"/>
          </a:p>
        </p:txBody>
      </p:sp>
      <p:sp>
        <p:nvSpPr>
          <p:cNvPr id="95" name="Text 92">
            <a:extLst>
              <a:ext uri="{FF2B5EF4-FFF2-40B4-BE49-F238E27FC236}">
                <a16:creationId xmlns:a16="http://schemas.microsoft.com/office/drawing/2014/main" id="{7F29265F-A9F7-A70F-50CA-E4B1893A1502}"/>
              </a:ext>
            </a:extLst>
          </p:cNvPr>
          <p:cNvSpPr/>
          <p:nvPr/>
        </p:nvSpPr>
        <p:spPr>
          <a:xfrm>
            <a:off x="3949025" y="11580628"/>
            <a:ext cx="652448" cy="217483"/>
          </a:xfrm>
          <a:prstGeom prst="rect">
            <a:avLst/>
          </a:prstGeom>
          <a:noFill/>
          <a:ln/>
        </p:spPr>
        <p:txBody>
          <a:bodyPr wrap="square" lIns="0" tIns="0" rIns="0" bIns="0" rtlCol="0" anchor="t"/>
          <a:lstStyle/>
          <a:p>
            <a:pPr algn="ctr"/>
            <a:r>
              <a:rPr lang="en-US" sz="515" dirty="0">
                <a:solidFill>
                  <a:srgbClr val="AAAAAA"/>
                </a:solidFill>
                <a:latin typeface="Calibri" pitchFamily="34" charset="0"/>
                <a:ea typeface="Calibri" pitchFamily="34" charset="-122"/>
                <a:cs typeface="Calibri" pitchFamily="34" charset="-120"/>
              </a:rPr>
              <a:t>Extended</a:t>
            </a:r>
            <a:endParaRPr lang="en-US" sz="515" dirty="0"/>
          </a:p>
          <a:p>
            <a:pPr algn="ctr"/>
            <a:r>
              <a:rPr lang="en-US" sz="515" dirty="0">
                <a:solidFill>
                  <a:srgbClr val="AAAAAA"/>
                </a:solidFill>
                <a:latin typeface="Calibri" pitchFamily="34" charset="0"/>
                <a:ea typeface="Calibri" pitchFamily="34" charset="-122"/>
                <a:cs typeface="Calibri" pitchFamily="34" charset="-120"/>
              </a:rPr>
              <a:t>Abstract</a:t>
            </a:r>
            <a:endParaRPr lang="en-US" sz="515" dirty="0"/>
          </a:p>
        </p:txBody>
      </p:sp>
      <p:sp>
        <p:nvSpPr>
          <p:cNvPr id="96" name="Shape 93">
            <a:extLst>
              <a:ext uri="{FF2B5EF4-FFF2-40B4-BE49-F238E27FC236}">
                <a16:creationId xmlns:a16="http://schemas.microsoft.com/office/drawing/2014/main" id="{40CAAD5F-27E4-8699-904E-AD94558571A1}"/>
              </a:ext>
            </a:extLst>
          </p:cNvPr>
          <p:cNvSpPr/>
          <p:nvPr/>
        </p:nvSpPr>
        <p:spPr>
          <a:xfrm>
            <a:off x="4813612" y="10965078"/>
            <a:ext cx="579953" cy="579953"/>
          </a:xfrm>
          <a:prstGeom prst="rect">
            <a:avLst/>
          </a:prstGeom>
          <a:solidFill>
            <a:srgbClr val="FFFFFF"/>
          </a:solidFill>
          <a:ln w="12700">
            <a:solidFill>
              <a:srgbClr val="C8102E"/>
            </a:solidFill>
            <a:prstDash val="solid"/>
          </a:ln>
        </p:spPr>
        <p:txBody>
          <a:bodyPr/>
          <a:lstStyle/>
          <a:p>
            <a:endParaRPr lang="fr-FR" sz="1427"/>
          </a:p>
        </p:txBody>
      </p:sp>
      <p:sp>
        <p:nvSpPr>
          <p:cNvPr id="97" name="Text 94">
            <a:extLst>
              <a:ext uri="{FF2B5EF4-FFF2-40B4-BE49-F238E27FC236}">
                <a16:creationId xmlns:a16="http://schemas.microsoft.com/office/drawing/2014/main" id="{BE4E5798-94BB-B2D2-7522-364C6BCD5205}"/>
              </a:ext>
            </a:extLst>
          </p:cNvPr>
          <p:cNvSpPr/>
          <p:nvPr/>
        </p:nvSpPr>
        <p:spPr>
          <a:xfrm>
            <a:off x="4813612" y="10965078"/>
            <a:ext cx="579953" cy="579953"/>
          </a:xfrm>
          <a:prstGeom prst="rect">
            <a:avLst/>
          </a:prstGeom>
          <a:noFill/>
          <a:ln/>
        </p:spPr>
        <p:txBody>
          <a:bodyPr wrap="square" lIns="0" tIns="0" rIns="0" bIns="0" rtlCol="0" anchor="ctr"/>
          <a:lstStyle/>
          <a:p>
            <a:pPr algn="ctr"/>
            <a:r>
              <a:rPr lang="en-US" sz="714" b="1" dirty="0">
                <a:solidFill>
                  <a:srgbClr val="8C8C8C"/>
                </a:solidFill>
                <a:latin typeface="Calibri" pitchFamily="34" charset="0"/>
                <a:ea typeface="Calibri" pitchFamily="34" charset="-122"/>
                <a:cs typeface="Calibri" pitchFamily="34" charset="-120"/>
              </a:rPr>
              <a:t>QR</a:t>
            </a:r>
            <a:endParaRPr lang="en-US" sz="714" dirty="0"/>
          </a:p>
        </p:txBody>
      </p:sp>
      <p:sp>
        <p:nvSpPr>
          <p:cNvPr id="98" name="Text 95">
            <a:extLst>
              <a:ext uri="{FF2B5EF4-FFF2-40B4-BE49-F238E27FC236}">
                <a16:creationId xmlns:a16="http://schemas.microsoft.com/office/drawing/2014/main" id="{015938E0-BDEC-A71A-CE8B-C6CC3B0C03B3}"/>
              </a:ext>
            </a:extLst>
          </p:cNvPr>
          <p:cNvSpPr/>
          <p:nvPr/>
        </p:nvSpPr>
        <p:spPr>
          <a:xfrm>
            <a:off x="4601472" y="11580628"/>
            <a:ext cx="652448" cy="217483"/>
          </a:xfrm>
          <a:prstGeom prst="rect">
            <a:avLst/>
          </a:prstGeom>
          <a:noFill/>
          <a:ln/>
        </p:spPr>
        <p:txBody>
          <a:bodyPr wrap="square" lIns="0" tIns="0" rIns="0" bIns="0" rtlCol="0" anchor="t"/>
          <a:lstStyle/>
          <a:p>
            <a:pPr algn="ctr"/>
            <a:r>
              <a:rPr lang="en-US" sz="515" dirty="0">
                <a:solidFill>
                  <a:srgbClr val="AAAAAA"/>
                </a:solidFill>
                <a:latin typeface="Calibri" pitchFamily="34" charset="0"/>
                <a:ea typeface="Calibri" pitchFamily="34" charset="-122"/>
                <a:cs typeface="Calibri" pitchFamily="34" charset="-120"/>
              </a:rPr>
              <a:t>Slides /</a:t>
            </a:r>
            <a:endParaRPr lang="en-US" sz="515" dirty="0"/>
          </a:p>
          <a:p>
            <a:pPr algn="ctr"/>
            <a:r>
              <a:rPr lang="en-US" sz="515" dirty="0">
                <a:solidFill>
                  <a:srgbClr val="AAAAAA"/>
                </a:solidFill>
                <a:latin typeface="Calibri" pitchFamily="34" charset="0"/>
                <a:ea typeface="Calibri" pitchFamily="34" charset="-122"/>
                <a:cs typeface="Calibri" pitchFamily="34" charset="-120"/>
              </a:rPr>
              <a:t>Demo</a:t>
            </a:r>
            <a:endParaRPr lang="en-US" sz="515" dirty="0"/>
          </a:p>
        </p:txBody>
      </p:sp>
      <p:sp>
        <p:nvSpPr>
          <p:cNvPr id="99" name="Shape 96">
            <a:extLst>
              <a:ext uri="{FF2B5EF4-FFF2-40B4-BE49-F238E27FC236}">
                <a16:creationId xmlns:a16="http://schemas.microsoft.com/office/drawing/2014/main" id="{0F83CF16-B130-205D-22FA-464EE3A20F6B}"/>
              </a:ext>
            </a:extLst>
          </p:cNvPr>
          <p:cNvSpPr/>
          <p:nvPr/>
        </p:nvSpPr>
        <p:spPr>
          <a:xfrm>
            <a:off x="5466059" y="10965078"/>
            <a:ext cx="579953" cy="579953"/>
          </a:xfrm>
          <a:prstGeom prst="rect">
            <a:avLst/>
          </a:prstGeom>
          <a:solidFill>
            <a:srgbClr val="FFFFFF"/>
          </a:solidFill>
          <a:ln w="12700">
            <a:solidFill>
              <a:srgbClr val="C8102E"/>
            </a:solidFill>
            <a:prstDash val="solid"/>
          </a:ln>
        </p:spPr>
        <p:txBody>
          <a:bodyPr/>
          <a:lstStyle/>
          <a:p>
            <a:endParaRPr lang="fr-FR" sz="1427"/>
          </a:p>
        </p:txBody>
      </p:sp>
      <p:sp>
        <p:nvSpPr>
          <p:cNvPr id="100" name="Text 97">
            <a:extLst>
              <a:ext uri="{FF2B5EF4-FFF2-40B4-BE49-F238E27FC236}">
                <a16:creationId xmlns:a16="http://schemas.microsoft.com/office/drawing/2014/main" id="{EFD99F86-B220-4F28-8556-D7B1706CC8CE}"/>
              </a:ext>
            </a:extLst>
          </p:cNvPr>
          <p:cNvSpPr/>
          <p:nvPr/>
        </p:nvSpPr>
        <p:spPr>
          <a:xfrm>
            <a:off x="5466059" y="10965078"/>
            <a:ext cx="579953" cy="579953"/>
          </a:xfrm>
          <a:prstGeom prst="rect">
            <a:avLst/>
          </a:prstGeom>
          <a:noFill/>
          <a:ln/>
        </p:spPr>
        <p:txBody>
          <a:bodyPr wrap="square" lIns="0" tIns="0" rIns="0" bIns="0" rtlCol="0" anchor="ctr"/>
          <a:lstStyle/>
          <a:p>
            <a:pPr algn="ctr"/>
            <a:r>
              <a:rPr lang="en-US" sz="714" b="1" dirty="0">
                <a:solidFill>
                  <a:srgbClr val="8C8C8C"/>
                </a:solidFill>
                <a:latin typeface="Calibri" pitchFamily="34" charset="0"/>
                <a:ea typeface="Calibri" pitchFamily="34" charset="-122"/>
                <a:cs typeface="Calibri" pitchFamily="34" charset="-120"/>
              </a:rPr>
              <a:t>QR</a:t>
            </a:r>
            <a:endParaRPr lang="en-US" sz="714" dirty="0"/>
          </a:p>
        </p:txBody>
      </p:sp>
      <p:sp>
        <p:nvSpPr>
          <p:cNvPr id="101" name="Text 98">
            <a:extLst>
              <a:ext uri="{FF2B5EF4-FFF2-40B4-BE49-F238E27FC236}">
                <a16:creationId xmlns:a16="http://schemas.microsoft.com/office/drawing/2014/main" id="{3FBB3B5C-CA89-835C-E0EA-65D5426D6EAA}"/>
              </a:ext>
            </a:extLst>
          </p:cNvPr>
          <p:cNvSpPr/>
          <p:nvPr/>
        </p:nvSpPr>
        <p:spPr>
          <a:xfrm>
            <a:off x="5253920" y="11580628"/>
            <a:ext cx="652448" cy="217483"/>
          </a:xfrm>
          <a:prstGeom prst="rect">
            <a:avLst/>
          </a:prstGeom>
          <a:noFill/>
          <a:ln/>
        </p:spPr>
        <p:txBody>
          <a:bodyPr wrap="square" lIns="0" tIns="0" rIns="0" bIns="0" rtlCol="0" anchor="t"/>
          <a:lstStyle/>
          <a:p>
            <a:pPr algn="ctr"/>
            <a:r>
              <a:rPr lang="en-US" sz="515" dirty="0">
                <a:solidFill>
                  <a:srgbClr val="AAAAAA"/>
                </a:solidFill>
                <a:latin typeface="Calibri" pitchFamily="34" charset="0"/>
                <a:ea typeface="Calibri" pitchFamily="34" charset="-122"/>
                <a:cs typeface="Calibri" pitchFamily="34" charset="-120"/>
              </a:rPr>
              <a:t>Full Paper</a:t>
            </a:r>
            <a:endParaRPr lang="en-US" sz="515" dirty="0"/>
          </a:p>
          <a:p>
            <a:pPr algn="ctr"/>
            <a:r>
              <a:rPr lang="en-US" sz="515" dirty="0">
                <a:solidFill>
                  <a:srgbClr val="AAAAAA"/>
                </a:solidFill>
                <a:latin typeface="Calibri" pitchFamily="34" charset="0"/>
                <a:ea typeface="Calibri" pitchFamily="34" charset="-122"/>
                <a:cs typeface="Calibri" pitchFamily="34" charset="-120"/>
              </a:rPr>
              <a:t>or Dataset</a:t>
            </a:r>
            <a:endParaRPr lang="en-US" sz="515" dirty="0"/>
          </a:p>
        </p:txBody>
      </p:sp>
      <p:grpSp>
        <p:nvGrpSpPr>
          <p:cNvPr id="8" name="Group 7">
            <a:extLst>
              <a:ext uri="{FF2B5EF4-FFF2-40B4-BE49-F238E27FC236}">
                <a16:creationId xmlns:a16="http://schemas.microsoft.com/office/drawing/2014/main" id="{FDC35D52-1CCA-7923-5B97-E0614916BB0D}"/>
              </a:ext>
            </a:extLst>
          </p:cNvPr>
          <p:cNvGrpSpPr/>
          <p:nvPr/>
        </p:nvGrpSpPr>
        <p:grpSpPr>
          <a:xfrm>
            <a:off x="-49445" y="2725171"/>
            <a:ext cx="715085" cy="196513"/>
            <a:chOff x="-1473875" y="2739642"/>
            <a:chExt cx="715085" cy="196513"/>
          </a:xfrm>
        </p:grpSpPr>
        <p:sp>
          <p:nvSpPr>
            <p:cNvPr id="6" name="Shape 12">
              <a:extLst>
                <a:ext uri="{FF2B5EF4-FFF2-40B4-BE49-F238E27FC236}">
                  <a16:creationId xmlns:a16="http://schemas.microsoft.com/office/drawing/2014/main" id="{55CCCA21-CCB1-BFAD-2485-3967200BA1D6}"/>
                </a:ext>
              </a:extLst>
            </p:cNvPr>
            <p:cNvSpPr/>
            <p:nvPr/>
          </p:nvSpPr>
          <p:spPr>
            <a:xfrm>
              <a:off x="-1208566" y="2740421"/>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7" name="Text 13">
              <a:extLst>
                <a:ext uri="{FF2B5EF4-FFF2-40B4-BE49-F238E27FC236}">
                  <a16:creationId xmlns:a16="http://schemas.microsoft.com/office/drawing/2014/main" id="{D704436B-9C43-011D-2818-3E9652A40964}"/>
                </a:ext>
              </a:extLst>
            </p:cNvPr>
            <p:cNvSpPr/>
            <p:nvPr/>
          </p:nvSpPr>
          <p:spPr>
            <a:xfrm>
              <a:off x="-1473875" y="2739642"/>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2</a:t>
              </a:r>
              <a:endParaRPr lang="en-US" sz="1000" dirty="0"/>
            </a:p>
          </p:txBody>
        </p:sp>
      </p:grpSp>
      <p:grpSp>
        <p:nvGrpSpPr>
          <p:cNvPr id="9" name="Group 8">
            <a:extLst>
              <a:ext uri="{FF2B5EF4-FFF2-40B4-BE49-F238E27FC236}">
                <a16:creationId xmlns:a16="http://schemas.microsoft.com/office/drawing/2014/main" id="{A6298043-5D06-7A5B-FF08-E1178DCE88B9}"/>
              </a:ext>
            </a:extLst>
          </p:cNvPr>
          <p:cNvGrpSpPr/>
          <p:nvPr/>
        </p:nvGrpSpPr>
        <p:grpSpPr>
          <a:xfrm>
            <a:off x="3285674" y="2717854"/>
            <a:ext cx="715085" cy="195734"/>
            <a:chOff x="-1473463" y="2740421"/>
            <a:chExt cx="715085" cy="195734"/>
          </a:xfrm>
        </p:grpSpPr>
        <p:sp>
          <p:nvSpPr>
            <p:cNvPr id="22" name="Shape 12">
              <a:extLst>
                <a:ext uri="{FF2B5EF4-FFF2-40B4-BE49-F238E27FC236}">
                  <a16:creationId xmlns:a16="http://schemas.microsoft.com/office/drawing/2014/main" id="{D619F015-6200-9B37-DC76-C5DC6419A21F}"/>
                </a:ext>
              </a:extLst>
            </p:cNvPr>
            <p:cNvSpPr/>
            <p:nvPr/>
          </p:nvSpPr>
          <p:spPr>
            <a:xfrm>
              <a:off x="-1208566" y="2740421"/>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29" name="Text 13">
              <a:extLst>
                <a:ext uri="{FF2B5EF4-FFF2-40B4-BE49-F238E27FC236}">
                  <a16:creationId xmlns:a16="http://schemas.microsoft.com/office/drawing/2014/main" id="{4CDD6289-25A3-D6D2-BF7B-CFBACA0AC928}"/>
                </a:ext>
              </a:extLst>
            </p:cNvPr>
            <p:cNvSpPr/>
            <p:nvPr/>
          </p:nvSpPr>
          <p:spPr>
            <a:xfrm>
              <a:off x="-1473463" y="2746312"/>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3</a:t>
              </a:r>
              <a:endParaRPr lang="en-US" sz="1000" dirty="0"/>
            </a:p>
          </p:txBody>
        </p:sp>
      </p:grpSp>
      <p:grpSp>
        <p:nvGrpSpPr>
          <p:cNvPr id="52" name="Group 51">
            <a:extLst>
              <a:ext uri="{FF2B5EF4-FFF2-40B4-BE49-F238E27FC236}">
                <a16:creationId xmlns:a16="http://schemas.microsoft.com/office/drawing/2014/main" id="{7822E718-BEB9-9918-F69A-FC7D3748AEB9}"/>
              </a:ext>
            </a:extLst>
          </p:cNvPr>
          <p:cNvGrpSpPr/>
          <p:nvPr/>
        </p:nvGrpSpPr>
        <p:grpSpPr>
          <a:xfrm>
            <a:off x="-49445" y="6231206"/>
            <a:ext cx="715085" cy="207246"/>
            <a:chOff x="-1473463" y="2740421"/>
            <a:chExt cx="715085" cy="207246"/>
          </a:xfrm>
        </p:grpSpPr>
        <p:sp>
          <p:nvSpPr>
            <p:cNvPr id="107" name="Shape 12">
              <a:extLst>
                <a:ext uri="{FF2B5EF4-FFF2-40B4-BE49-F238E27FC236}">
                  <a16:creationId xmlns:a16="http://schemas.microsoft.com/office/drawing/2014/main" id="{9F084AC8-43FC-5DCE-2992-7E773A154B09}"/>
                </a:ext>
              </a:extLst>
            </p:cNvPr>
            <p:cNvSpPr/>
            <p:nvPr/>
          </p:nvSpPr>
          <p:spPr>
            <a:xfrm>
              <a:off x="-1208566" y="2740421"/>
              <a:ext cx="195734" cy="195734"/>
            </a:xfrm>
            <a:prstGeom prst="ellipse">
              <a:avLst/>
            </a:prstGeom>
            <a:solidFill>
              <a:srgbClr val="46B6AE"/>
            </a:solidFill>
            <a:ln w="12700">
              <a:solidFill>
                <a:srgbClr val="46B6AE"/>
              </a:solidFill>
              <a:prstDash val="solid"/>
            </a:ln>
          </p:spPr>
          <p:txBody>
            <a:bodyPr/>
            <a:lstStyle/>
            <a:p>
              <a:endParaRPr lang="fr-FR" sz="1427"/>
            </a:p>
          </p:txBody>
        </p:sp>
        <p:sp>
          <p:nvSpPr>
            <p:cNvPr id="108" name="Text 13">
              <a:extLst>
                <a:ext uri="{FF2B5EF4-FFF2-40B4-BE49-F238E27FC236}">
                  <a16:creationId xmlns:a16="http://schemas.microsoft.com/office/drawing/2014/main" id="{401E4D97-0CB0-B96E-B312-738A9EB9686C}"/>
                </a:ext>
              </a:extLst>
            </p:cNvPr>
            <p:cNvSpPr/>
            <p:nvPr/>
          </p:nvSpPr>
          <p:spPr>
            <a:xfrm>
              <a:off x="-1473463" y="2759185"/>
              <a:ext cx="715085" cy="188482"/>
            </a:xfrm>
            <a:prstGeom prst="rect">
              <a:avLst/>
            </a:prstGeom>
            <a:noFill/>
            <a:ln/>
          </p:spPr>
          <p:txBody>
            <a:bodyPr wrap="square" lIns="0" tIns="0" rIns="0" bIns="0" rtlCol="0" anchor="ctr"/>
            <a:lstStyle/>
            <a:p>
              <a:pPr algn="ctr"/>
              <a:r>
                <a:rPr lang="en-US" sz="1000" b="1" dirty="0">
                  <a:solidFill>
                    <a:srgbClr val="FFFFFF"/>
                  </a:solidFill>
                  <a:latin typeface="Calibri" pitchFamily="34" charset="0"/>
                  <a:ea typeface="Calibri" pitchFamily="34" charset="-122"/>
                  <a:cs typeface="Calibri" pitchFamily="34" charset="-120"/>
                </a:rPr>
                <a:t>5</a:t>
              </a:r>
              <a:endParaRPr lang="en-US" sz="1000" dirty="0"/>
            </a:p>
          </p:txBody>
        </p:sp>
      </p:grpSp>
      <p:sp>
        <p:nvSpPr>
          <p:cNvPr id="5" name="TextBox 4">
            <a:extLst>
              <a:ext uri="{FF2B5EF4-FFF2-40B4-BE49-F238E27FC236}">
                <a16:creationId xmlns:a16="http://schemas.microsoft.com/office/drawing/2014/main" id="{8B8029D1-3DBF-DF33-C5DC-3A72C37B5A25}"/>
              </a:ext>
            </a:extLst>
          </p:cNvPr>
          <p:cNvSpPr txBox="1"/>
          <p:nvPr/>
        </p:nvSpPr>
        <p:spPr>
          <a:xfrm>
            <a:off x="5727247" y="474772"/>
            <a:ext cx="3455504" cy="307777"/>
          </a:xfrm>
          <a:prstGeom prst="rect">
            <a:avLst/>
          </a:prstGeom>
          <a:noFill/>
        </p:spPr>
        <p:txBody>
          <a:bodyPr wrap="square">
            <a:spAutoFit/>
          </a:bodyPr>
          <a:lstStyle/>
          <a:p>
            <a:r>
              <a:rPr lang="en-US" sz="1400" b="1" dirty="0">
                <a:solidFill>
                  <a:srgbClr val="2C2C2C"/>
                </a:solidFill>
                <a:latin typeface="Calibri" pitchFamily="34" charset="0"/>
                <a:cs typeface="Calibri" pitchFamily="34" charset="-120"/>
              </a:rPr>
              <a:t>POSTER</a:t>
            </a:r>
            <a:r>
              <a:rPr lang="en-US" sz="1400" b="1" i="0" dirty="0">
                <a:solidFill>
                  <a:srgbClr val="242424"/>
                </a:solidFill>
                <a:effectLst/>
                <a:latin typeface="Calibri" panose="020F0502020204030204" pitchFamily="34" charset="0"/>
              </a:rPr>
              <a:t> </a:t>
            </a:r>
            <a:r>
              <a:rPr lang="en-US" sz="1400" b="1" dirty="0">
                <a:solidFill>
                  <a:srgbClr val="2C2C2C"/>
                </a:solidFill>
                <a:latin typeface="Calibri" pitchFamily="34" charset="0"/>
                <a:cs typeface="Calibri" pitchFamily="34" charset="-120"/>
              </a:rPr>
              <a:t>ID27</a:t>
            </a:r>
            <a:endParaRPr lang="fr-FR" sz="1400" b="1" dirty="0">
              <a:solidFill>
                <a:srgbClr val="2C2C2C"/>
              </a:solidFill>
              <a:latin typeface="Calibri" pitchFamily="34" charset="0"/>
              <a:cs typeface="Calibri" pitchFamily="34" charset="-120"/>
            </a:endParaRPr>
          </a:p>
        </p:txBody>
      </p:sp>
      <p:grpSp>
        <p:nvGrpSpPr>
          <p:cNvPr id="4" name="Group 3">
            <a:extLst>
              <a:ext uri="{FF2B5EF4-FFF2-40B4-BE49-F238E27FC236}">
                <a16:creationId xmlns:a16="http://schemas.microsoft.com/office/drawing/2014/main" id="{D77136FD-3A95-4507-974A-B904AACA9B26}"/>
              </a:ext>
            </a:extLst>
          </p:cNvPr>
          <p:cNvGrpSpPr/>
          <p:nvPr/>
        </p:nvGrpSpPr>
        <p:grpSpPr>
          <a:xfrm>
            <a:off x="932" y="11809868"/>
            <a:ext cx="6871047" cy="362471"/>
            <a:chOff x="-9470" y="-3874"/>
            <a:chExt cx="6871047" cy="362471"/>
          </a:xfrm>
        </p:grpSpPr>
        <p:sp>
          <p:nvSpPr>
            <p:cNvPr id="112" name="Shape 99">
              <a:extLst>
                <a:ext uri="{FF2B5EF4-FFF2-40B4-BE49-F238E27FC236}">
                  <a16:creationId xmlns:a16="http://schemas.microsoft.com/office/drawing/2014/main" id="{7C22BE2C-BCB3-FB3B-3B3A-D09E59A15290}"/>
                </a:ext>
              </a:extLst>
            </p:cNvPr>
            <p:cNvSpPr/>
            <p:nvPr/>
          </p:nvSpPr>
          <p:spPr>
            <a:xfrm>
              <a:off x="3627" y="-3874"/>
              <a:ext cx="6857950" cy="362471"/>
            </a:xfrm>
            <a:prstGeom prst="rect">
              <a:avLst/>
            </a:prstGeom>
            <a:solidFill>
              <a:srgbClr val="2C2C2C"/>
            </a:solidFill>
            <a:ln w="12700">
              <a:solidFill>
                <a:srgbClr val="2C2C2C"/>
              </a:solidFill>
              <a:prstDash val="solid"/>
            </a:ln>
          </p:spPr>
          <p:txBody>
            <a:bodyPr/>
            <a:lstStyle/>
            <a:p>
              <a:endParaRPr lang="fr-FR" sz="1427"/>
            </a:p>
          </p:txBody>
        </p:sp>
        <p:sp>
          <p:nvSpPr>
            <p:cNvPr id="113" name="Shape 100">
              <a:extLst>
                <a:ext uri="{FF2B5EF4-FFF2-40B4-BE49-F238E27FC236}">
                  <a16:creationId xmlns:a16="http://schemas.microsoft.com/office/drawing/2014/main" id="{F1786591-11E4-6891-05F0-A582EC848D38}"/>
                </a:ext>
              </a:extLst>
            </p:cNvPr>
            <p:cNvSpPr/>
            <p:nvPr/>
          </p:nvSpPr>
          <p:spPr>
            <a:xfrm>
              <a:off x="-9470" y="199116"/>
              <a:ext cx="6857950" cy="28998"/>
            </a:xfrm>
            <a:prstGeom prst="rect">
              <a:avLst/>
            </a:prstGeom>
            <a:solidFill>
              <a:schemeClr val="tx2">
                <a:lumMod val="75000"/>
                <a:lumOff val="25000"/>
              </a:schemeClr>
            </a:solidFill>
            <a:ln w="12700">
              <a:solidFill>
                <a:schemeClr val="tx2">
                  <a:lumMod val="75000"/>
                  <a:lumOff val="25000"/>
                </a:schemeClr>
              </a:solidFill>
              <a:prstDash val="solid"/>
            </a:ln>
          </p:spPr>
          <p:txBody>
            <a:bodyPr/>
            <a:lstStyle/>
            <a:p>
              <a:endParaRPr lang="fr-FR" sz="1427">
                <a:solidFill>
                  <a:schemeClr val="tx2">
                    <a:lumMod val="75000"/>
                    <a:lumOff val="25000"/>
                  </a:schemeClr>
                </a:solidFill>
              </a:endParaRPr>
            </a:p>
          </p:txBody>
        </p:sp>
        <p:sp>
          <p:nvSpPr>
            <p:cNvPr id="114" name="Text 101">
              <a:extLst>
                <a:ext uri="{FF2B5EF4-FFF2-40B4-BE49-F238E27FC236}">
                  <a16:creationId xmlns:a16="http://schemas.microsoft.com/office/drawing/2014/main" id="{A4DF7C50-BE57-06DE-A951-8B02286090AC}"/>
                </a:ext>
              </a:extLst>
            </p:cNvPr>
            <p:cNvSpPr/>
            <p:nvPr/>
          </p:nvSpPr>
          <p:spPr>
            <a:xfrm>
              <a:off x="181412" y="26025"/>
              <a:ext cx="6430166" cy="192110"/>
            </a:xfrm>
            <a:prstGeom prst="rect">
              <a:avLst/>
            </a:prstGeom>
            <a:noFill/>
            <a:ln/>
          </p:spPr>
          <p:txBody>
            <a:bodyPr wrap="square" lIns="0" tIns="0" rIns="0" bIns="0" rtlCol="0" anchor="ctr"/>
            <a:lstStyle/>
            <a:p>
              <a:pPr algn="ctr"/>
              <a:r>
                <a:rPr lang="en-US" sz="900" dirty="0">
                  <a:solidFill>
                    <a:srgbClr val="AAAAAA"/>
                  </a:solidFill>
                  <a:latin typeface="Calibri" pitchFamily="34" charset="0"/>
                  <a:ea typeface="Calibri" pitchFamily="34" charset="-122"/>
                  <a:cs typeface="Calibri" pitchFamily="34" charset="-120"/>
                </a:rPr>
                <a:t>WEITA 2026  •  April 17–18, 2026  •  Tunis, Tunisia</a:t>
              </a:r>
              <a:endParaRPr lang="en-US" sz="900" dirty="0"/>
            </a:p>
          </p:txBody>
        </p:sp>
        <p:sp>
          <p:nvSpPr>
            <p:cNvPr id="116" name="Text 102">
              <a:extLst>
                <a:ext uri="{FF2B5EF4-FFF2-40B4-BE49-F238E27FC236}">
                  <a16:creationId xmlns:a16="http://schemas.microsoft.com/office/drawing/2014/main" id="{B28F7E7C-7997-6EA9-F781-207F0D95F1EA}"/>
                </a:ext>
              </a:extLst>
            </p:cNvPr>
            <p:cNvSpPr/>
            <p:nvPr/>
          </p:nvSpPr>
          <p:spPr>
            <a:xfrm>
              <a:off x="1731903" y="242606"/>
              <a:ext cx="3595711" cy="115991"/>
            </a:xfrm>
            <a:prstGeom prst="rect">
              <a:avLst/>
            </a:prstGeom>
            <a:noFill/>
            <a:ln/>
          </p:spPr>
          <p:txBody>
            <a:bodyPr wrap="square" lIns="0" tIns="0" rIns="0" bIns="0" rtlCol="0" anchor="ctr"/>
            <a:lstStyle/>
            <a:p>
              <a:pPr algn="ctr"/>
              <a:r>
                <a:rPr lang="en-US" sz="900" i="1" dirty="0">
                  <a:solidFill>
                    <a:srgbClr val="46B6AE"/>
                  </a:solidFill>
                  <a:latin typeface="Calibri" pitchFamily="34" charset="0"/>
                  <a:ea typeface="Calibri" pitchFamily="34" charset="-122"/>
                  <a:cs typeface="Calibri" pitchFamily="34" charset="-120"/>
                </a:rPr>
                <a:t>AI and the University of the Future: Shaping Sustainable Impact</a:t>
              </a:r>
              <a:endParaRPr lang="en-US" sz="900" dirty="0">
                <a:solidFill>
                  <a:srgbClr val="46B6AE"/>
                </a:solidFill>
              </a:endParaRPr>
            </a:p>
          </p:txBody>
        </p:sp>
      </p:grpSp>
      <p:grpSp>
        <p:nvGrpSpPr>
          <p:cNvPr id="3" name="Group 2">
            <a:extLst>
              <a:ext uri="{FF2B5EF4-FFF2-40B4-BE49-F238E27FC236}">
                <a16:creationId xmlns:a16="http://schemas.microsoft.com/office/drawing/2014/main" id="{C70A3EB6-CAF9-093C-CAAF-C8782ED8E769}"/>
              </a:ext>
            </a:extLst>
          </p:cNvPr>
          <p:cNvGrpSpPr/>
          <p:nvPr/>
        </p:nvGrpSpPr>
        <p:grpSpPr>
          <a:xfrm>
            <a:off x="46545" y="-52577"/>
            <a:ext cx="6727513" cy="631996"/>
            <a:chOff x="130487" y="11654894"/>
            <a:chExt cx="6727513" cy="631996"/>
          </a:xfrm>
        </p:grpSpPr>
        <p:pic>
          <p:nvPicPr>
            <p:cNvPr id="115" name="Image 41" descr="Une image contenant texte, symbole, capture d’écran, Police&#10;&#10;Le contenu généré par l’IA peut être incorrect.">
              <a:extLst>
                <a:ext uri="{FF2B5EF4-FFF2-40B4-BE49-F238E27FC236}">
                  <a16:creationId xmlns:a16="http://schemas.microsoft.com/office/drawing/2014/main" id="{B0A7BD63-A919-F04B-AAA5-3369CEFB872A}"/>
                </a:ext>
              </a:extLst>
            </p:cNvPr>
            <p:cNvPicPr>
              <a:picLocks noChangeAspect="1"/>
            </p:cNvPicPr>
            <p:nvPr/>
          </p:nvPicPr>
          <p:blipFill>
            <a:blip r:embed="rId3"/>
            <a:stretch>
              <a:fillRect/>
            </a:stretch>
          </p:blipFill>
          <p:spPr>
            <a:xfrm>
              <a:off x="130487" y="11684878"/>
              <a:ext cx="943897" cy="572029"/>
            </a:xfrm>
            <a:prstGeom prst="rect">
              <a:avLst/>
            </a:prstGeom>
          </p:spPr>
        </p:pic>
        <p:pic>
          <p:nvPicPr>
            <p:cNvPr id="2" name="Picture 1">
              <a:extLst>
                <a:ext uri="{FF2B5EF4-FFF2-40B4-BE49-F238E27FC236}">
                  <a16:creationId xmlns:a16="http://schemas.microsoft.com/office/drawing/2014/main" id="{4BF972D3-39E1-1D99-B931-C9C06AD76A18}"/>
                </a:ext>
              </a:extLst>
            </p:cNvPr>
            <p:cNvPicPr>
              <a:picLocks noChangeAspect="1"/>
            </p:cNvPicPr>
            <p:nvPr/>
          </p:nvPicPr>
          <p:blipFill>
            <a:blip r:embed="rId4"/>
            <a:stretch>
              <a:fillRect/>
            </a:stretch>
          </p:blipFill>
          <p:spPr>
            <a:xfrm>
              <a:off x="5843747" y="11725615"/>
              <a:ext cx="1014253" cy="490554"/>
            </a:xfrm>
            <a:prstGeom prst="rect">
              <a:avLst/>
            </a:prstGeom>
          </p:spPr>
        </p:pic>
        <p:pic>
          <p:nvPicPr>
            <p:cNvPr id="110" name="Picture 6" descr="Une image contenant texte, capture d’écran, Police, Graphique&#10;&#10;Le contenu généré par l’IA peut être incorrect.">
              <a:extLst>
                <a:ext uri="{FF2B5EF4-FFF2-40B4-BE49-F238E27FC236}">
                  <a16:creationId xmlns:a16="http://schemas.microsoft.com/office/drawing/2014/main" id="{95F2A331-6B3B-BFBB-EB37-61DE3F03BD4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6556" y="11709892"/>
              <a:ext cx="956740" cy="522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ne image contenant texte, Police, symbole, capture d’écran&#10;&#10;Le contenu généré par l’IA peut être incorrect.">
              <a:extLst>
                <a:ext uri="{FF2B5EF4-FFF2-40B4-BE49-F238E27FC236}">
                  <a16:creationId xmlns:a16="http://schemas.microsoft.com/office/drawing/2014/main" id="{A5E603D7-11E8-F23F-1B01-F4E8A86E78B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75468" y="11654894"/>
              <a:ext cx="1123548" cy="631996"/>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117">
              <a:extLst>
                <a:ext uri="{FF2B5EF4-FFF2-40B4-BE49-F238E27FC236}">
                  <a16:creationId xmlns:a16="http://schemas.microsoft.com/office/drawing/2014/main" id="{9A47B8E5-901A-EFAB-FE2B-E0C4B0E7C0C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21188" y="11776870"/>
              <a:ext cx="1000388" cy="388044"/>
            </a:xfrm>
            <a:prstGeom prst="rect">
              <a:avLst/>
            </a:prstGeom>
          </p:spPr>
        </p:pic>
      </p:grpSp>
      <p:pic>
        <p:nvPicPr>
          <p:cNvPr id="30" name="Image 29">
            <a:extLst>
              <a:ext uri="{FF2B5EF4-FFF2-40B4-BE49-F238E27FC236}">
                <a16:creationId xmlns:a16="http://schemas.microsoft.com/office/drawing/2014/main" id="{FE9105DD-4EDC-3F89-BB9A-D9DFC88346C6}"/>
              </a:ext>
            </a:extLst>
          </p:cNvPr>
          <p:cNvPicPr>
            <a:picLocks noChangeAspect="1"/>
          </p:cNvPicPr>
          <p:nvPr/>
        </p:nvPicPr>
        <p:blipFill>
          <a:blip r:embed="rId8"/>
          <a:stretch>
            <a:fillRect/>
          </a:stretch>
        </p:blipFill>
        <p:spPr>
          <a:xfrm>
            <a:off x="896938" y="7373544"/>
            <a:ext cx="1603375" cy="1085355"/>
          </a:xfrm>
          <a:prstGeom prst="rect">
            <a:avLst/>
          </a:prstGeom>
        </p:spPr>
      </p:pic>
      <p:pic>
        <p:nvPicPr>
          <p:cNvPr id="102" name="Image 101">
            <a:extLst>
              <a:ext uri="{FF2B5EF4-FFF2-40B4-BE49-F238E27FC236}">
                <a16:creationId xmlns:a16="http://schemas.microsoft.com/office/drawing/2014/main" id="{485F7CFC-BD9A-C389-5EC3-FCB6A32C4A64}"/>
              </a:ext>
            </a:extLst>
          </p:cNvPr>
          <p:cNvPicPr>
            <a:picLocks noChangeAspect="1"/>
          </p:cNvPicPr>
          <p:nvPr/>
        </p:nvPicPr>
        <p:blipFill>
          <a:blip r:embed="rId9"/>
          <a:stretch>
            <a:fillRect/>
          </a:stretch>
        </p:blipFill>
        <p:spPr>
          <a:xfrm>
            <a:off x="4808600" y="10950019"/>
            <a:ext cx="616839" cy="624506"/>
          </a:xfrm>
          <a:prstGeom prst="rect">
            <a:avLst/>
          </a:prstGeom>
        </p:spPr>
      </p:pic>
      <p:pic>
        <p:nvPicPr>
          <p:cNvPr id="106" name="Image 105">
            <a:extLst>
              <a:ext uri="{FF2B5EF4-FFF2-40B4-BE49-F238E27FC236}">
                <a16:creationId xmlns:a16="http://schemas.microsoft.com/office/drawing/2014/main" id="{02AA5168-97FF-C88C-4FD4-B18D3EB36F9B}"/>
              </a:ext>
            </a:extLst>
          </p:cNvPr>
          <p:cNvPicPr>
            <a:picLocks noChangeAspect="1"/>
          </p:cNvPicPr>
          <p:nvPr/>
        </p:nvPicPr>
        <p:blipFill>
          <a:blip r:embed="rId10"/>
          <a:stretch>
            <a:fillRect/>
          </a:stretch>
        </p:blipFill>
        <p:spPr>
          <a:xfrm>
            <a:off x="5442698" y="10937239"/>
            <a:ext cx="643141" cy="646977"/>
          </a:xfrm>
          <a:prstGeom prst="rect">
            <a:avLst/>
          </a:prstGeom>
        </p:spPr>
      </p:pic>
      <p:pic>
        <p:nvPicPr>
          <p:cNvPr id="111" name="Image 110">
            <a:extLst>
              <a:ext uri="{FF2B5EF4-FFF2-40B4-BE49-F238E27FC236}">
                <a16:creationId xmlns:a16="http://schemas.microsoft.com/office/drawing/2014/main" id="{EAD9079A-E2C0-9380-5F09-08BD7D45FAE4}"/>
              </a:ext>
            </a:extLst>
          </p:cNvPr>
          <p:cNvPicPr>
            <a:picLocks noChangeAspect="1"/>
          </p:cNvPicPr>
          <p:nvPr/>
        </p:nvPicPr>
        <p:blipFill>
          <a:blip r:embed="rId11"/>
          <a:stretch>
            <a:fillRect/>
          </a:stretch>
        </p:blipFill>
        <p:spPr>
          <a:xfrm>
            <a:off x="4125298" y="10935053"/>
            <a:ext cx="644821" cy="642257"/>
          </a:xfrm>
          <a:prstGeom prst="rect">
            <a:avLst/>
          </a:prstGeom>
        </p:spPr>
      </p:pic>
    </p:spTree>
    <p:extLst>
      <p:ext uri="{BB962C8B-B14F-4D97-AF65-F5344CB8AC3E}">
        <p14:creationId xmlns:p14="http://schemas.microsoft.com/office/powerpoint/2010/main" val="23106769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7126</TotalTime>
  <Words>706</Words>
  <Application>Microsoft Office PowerPoint</Application>
  <PresentationFormat>Grand écran</PresentationFormat>
  <Paragraphs>74</Paragraphs>
  <Slides>1</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Aptos</vt:lpstr>
      <vt:lpstr>Aptos Display</vt:lpstr>
      <vt:lpstr>Arial</vt:lpstr>
      <vt:lpstr>Calibri</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sana</dc:creator>
  <cp:lastModifiedBy>sana BENFADHEL</cp:lastModifiedBy>
  <cp:revision>13</cp:revision>
  <dcterms:created xsi:type="dcterms:W3CDTF">2025-10-10T14:48:46Z</dcterms:created>
  <dcterms:modified xsi:type="dcterms:W3CDTF">2026-04-12T20:13:54Z</dcterms:modified>
</cp:coreProperties>
</file>